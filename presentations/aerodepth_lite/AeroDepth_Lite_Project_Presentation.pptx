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after replacing the title-slide placeholders. AeroDepth-Lite predicts dense Euclidean camera range in metres and evaluates causal inference scheduling. This deck follows the supplied 13-slide outline. It summarizes existing saved research; no experiment was rerun. Source: docs/FINAL_REPORT.md. Evidence current to 29 October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is the integration and evaluation question addressed by this project, not a claim that no previous work studied efficient depth. Practical motivation is limited compute on small UAV platforms. This project uses simulation and does not demonstrate flight safety, obstacle detection or battery savings. Source: docs/FINAL_REPORT.md, Problem and objectives; Limitations and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Objectives are not guarantees of improvement. The saved deliverables include original epoch-4 and supervised-A epoch-9 inference exports, manifest identities, comparison tables and a local Streamlit dashboard. The reserved independent final evaluation remains incomplete. Sources: README.md; docs/FINAL_REPORT.md.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verified against primary sources. Eigen, Puhrsch &amp; Fergus: Depth Map Prediction from a Single Image using a Multi-Scale Deep Network (2014), https://arxiv.org/abs/1406.2283 . Howard et al.: Searching for MobileNetV3 (2019), https://arxiv.org/abs/1905.02244 . He et al.: Deep Residual Learning for Image Recognition (CVPR 2016; preprint 2015), https://arxiv.org/abs/1512.03385 . Hinton, Vinyals &amp; Dean: Distilling the Knowledge in a Neural Network (2015 preprint), https://arxiv.org/abs/1503.02531 . Fonder &amp; Van Droogenbroeck: Mid-Air: A multi-modal dataset for extremely low altitude drone flights (CVPRW 2019), https://orbi.uliege.be/handle/2268/234665 . The right-hand column is our assessment of applicability, not verbatim claims by the authors. These studies motivate components; their reported benchmark scores are not directly compared with this custom subset. No field-wide novelty or state-of-the-art claim is made.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Project-specific contributions: implement a compact positive metric-range decoder, integrate a causal scheduler, perform controlled A/KD experiments, preserve rejected-teacher and negative-KD evidence, and publish reproducible inference/evaluation artifacts with a local dashboard. MobileNetV3, ResNet, MidAir and distillation are prior work. The scheduler risk cache is verified to preserve decisions and reduces scheduler overhead, but does not show a robust end-to-end gain. Individual team responsibilities were not supplied, so no personal contribution is invented. Source: docs/FINAL_REPORT.md.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Official full dataset: more than 420k video frames, 54 trajectories, https://orbi.uliege.be/handle/2268/234665 . Our custom subset is NOT the official benchmark. There are 20 training climate realizations across 12 paths and 2 validation realizations across 2 paths. Exact counts: train 44,098, validation 4,410, total available 48,508. New reserved expected 8,820 frames across 4 paths, not acquired/evaluated. Exact split counts are used instead of a random percentage split. Source: results/expanded_preparation_20261026/manifest_train_val.json.gz and reservations.json. Duplicate RGB path count was recomputed from that frozen manifest: zero; this is not a perceptual duplicate-image audit. Pixel masking handles out-of-range values; integrity checks cover filenames, pair matching and bounded decode checks, not a claim of zero invalid pixels. Near-pixel imbalance from docs/FINAL_REPORT.md. Dataset range is Euclidean distance to focal point: https://midair.ulg.ac.be/faq.html . Download: https://midair.ulg.ac.be/download.html . Attribution: Fonder &amp; Van Droogenbroeck, CVPRW 2019; see NOTICE.md for dataset terms.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Invalid depth values are replaced by zero only after creating the valid-pixel mask, then excluded from losses and metrics. Near field is valid ground-truth range &lt;10 m. No crop or learned scale correction; softplus+0.1 has no upper prediction clamp. Feature extraction is learned by the encoder; there is no separate handcrafted feature selection for the depth network. Weather-equivalent paths identified using position-stream hashes stay grouped. Different paths may share scenery, so geographic isolation is not established. Validation was used repeatedly for development and model selection. Current GT range and privileged true velocity do not enter V2 decisions. Sources: docs/FINAL_REPORT.md; docs/expanded_training.md; results/expanded_preparation_20261026/dataset_contract.json.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 consists of ordinary editable PowerPoint shapes and arrow connectors; no image-generation model was used. Runtime: resize current RGB; scheduler computes change versus last inferred RGB and combines causal simulated IMU/GPS, last predicted risk and age; infer updates cached prediction, otherwise reuse the prior map without warping. The model normalizes RGB internally exactly once (the preprocessing box denotes the full transform contract). State resets at path boundaries. Risk cache is refreshed only on fresh-source token/reset. Ground truth is used offline, never as a decision input. Source: docs/FINAL_REPORT.md and implementation. Teacher/KD is training-only, not on this inference path.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Python, PyTorch, torchvision, NumPy, Pillow, h5py, Matplotlib and Streamlit. Hardware recorded: GTX 1650 (4 GB) for training; CPU/CUDA timing was measured separately. Original student completed 50 epochs on 17,635 training frames and selected epoch 4 by recorded AMP validation AbsRel. A and exploratory KD independently start from identical original epoch-4 weights and BN buffers with fresh matched optimizer/scheduler/scaler/RNG state. Their common dataset is expanded 44,098 training frames; final comparisons use FP32 validation. A and KD selected epoch 9 by minimum pooled FP32 validation AbsRel. Teacher is ImageNet1K_V2 initialized ResNet-50 V1.5, selected epoch 3; it failed the near-field acceptance gate. During exploratory KD it is frozen, eval mode, FP32, no-grad, and sees the same augmented image as the student. Near loss weight is zero. KD adds 0.2 masked absolute log-range consistency on valid training pixels. No classification-logit temperature KD is used. Sources: docs/FINAL_REPORT.md; configs and frozen launch copies. Numerical AMP recovery preserves update accounting and retries rather than silently skipping steps.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actual saved per-epoch values, not synthetic curves and not a rerun. Both 10-epoch runs start independently from original epoch 4. Left: train objective; KD contains an extra term, so loss magnitude is not directly comparable across objectives. Right: same FP32 validation AbsRel, permitting comparison on the familiar development set. Original 50-epoch training overfits after its selected epoch 4; its recorded curve uses AMP validation and should not be merged as an identical FP32 series. Source: results/presentation_validation_20261029T155521Z/training_curves.json. Selected checkpoints were evaluated using matched masks and valid-pixel counts.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AbsRel = mean(|P−GT|/GT); RMSE = sqrt(sum((P−GT)^2)/valid-pixel count). Values are pooled by additive pixel sums, not averaged per-frame RMSE. Valid GT is finite in [0.1,1000] m; near GT &lt;10 m. All three models have 212,903,814 valid and 32,267,840 near pixels. A improves overall RMSE by 5.80% and AbsRel by 11.84% vs original, but near RMSE worsens 16.18%. Original and A differ in training data and budget, so this does not isolate an architecture effect. KD vs A is a matched one-seed comparison; KD pooled AbsRel is 1.59% worse and near RMSE 1.42% worse. Teacher B failed the gate: Kite foggy near RMSE 6.636090 m vs A 4.695176 m. The exploratory rejected-teacher run does not show that all distillation fails. No confidence interval, multi-seed statistical claim, independent new-test result or cross-paper benchmark superiority is available. Source: comparison.csv and docs/FINAL_REPORT.md.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¹ Delay is in camera frames and refers to time until a prediction update after an offline-defined event, NOT obstacle-detection accuracy. Near RMSE V2 vs fixed budget: 9.14% lower pooled, but Kite near RMSE is slightly worse and PLE improves. V2 uses 905/1551 calls across Kite/PLE; budget fixed uses 1228/1228. Total calls coincide, not per-path calls. V2 overall AbsRel 0.268088 vs fixed 0.267810; max delay 2 vs 1. Visual ablation changes budget and state trajectory, so it is not an equal-compute causal estimate. Timing uses two fixed 128-frame windows, 3 repetitions/device, FP32 batch 1, CPU 2 threads, 10 excluded warmups. In these windows every-frame/fixed-budget/V2 each make 256/144/222 calls per run, unlike the full-path validation call budgets. CPU median [min,max] seconds: every 10.4203 [10.2725,14.3289], budget 8.6725 [8.3859,9.1672], cached V2 10.4290 [10.1152,10.6138]. CUDA: every 9.0176 [8.8663,9.4765], budget 7.8625 [7.7724,8.3073], cached V2 8.7650 [8.7047,9.3071]. Risk caching vs uncached improves scheduler median 13.43% CPU /15.81% GPU; end-to-end CPU is 3.07% worse and GPU 0.37% better with overlapping repetition ranges. Model-only latency is not complete throughput. No energy or battery benefit was measured.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Reserved independent final study: NOT RUN because 8 image/depth streams are unavailable; sensor metadata alone is insufficient. The older 4,436-frame test belongs to the historical original-model study and is quarantined, not evidence for new-model generalization. Future work is proposed, not completed: acquisition and integrity checks, a frozen independent protocol, multi-seed replication, near-field loss/coverage experiments, real drone sensor latency and power measurements. Teacher-regression mechanisms are hypotheses; the separate gradient probe did not justify repair. No measured energy saving, battery gain, flight safety or guaranteed obstacle detection is claimed. Finish with supported findings and invite questions. Sources: docs/FINAL_REPORT.md and acquisition inventory.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idair.ulg.ac.be/download.html"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638"/>
        </a:solidFill>
        <a:effectLst/>
      </p:bgPr>
    </p:bg>
    <p:spTree>
      <p:nvGrpSpPr>
        <p:cNvPr id="1" name=""/>
        <p:cNvGrpSpPr/>
        <p:nvPr/>
      </p:nvGrpSpPr>
      <p:grpSpPr/>
      <p:sp>
        <p:nvSpPr>
          <p:cNvPr id="2" name="Rectangle 1"/>
          <p:cNvSpPr/>
          <p:nvPr/>
        </p:nvSpPr>
        <p:spPr>
          <a:xfrm>
            <a:off x="640080" y="594360"/>
            <a:ext cx="640080" cy="73152"/>
          </a:xfrm>
          <a:prstGeom prst="rect">
            <a:avLst/>
          </a:prstGeom>
          <a:solidFill>
            <a:srgbClr val="3C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77824"/>
            <a:ext cx="10058400" cy="365760"/>
          </a:xfrm>
          <a:prstGeom prst="rect">
            <a:avLst/>
          </a:prstGeom>
          <a:noFill/>
        </p:spPr>
        <p:txBody>
          <a:bodyPr wrap="none" lIns="0" rIns="0" tIns="0" bIns="0">
            <a:noAutofit/>
          </a:bodyPr>
          <a:lstStyle/>
          <a:p>
            <a:pPr algn="l">
              <a:lnSpc>
                <a:spcPts val="1547"/>
              </a:lnSpc>
              <a:spcBef>
                <a:spcPts val="0"/>
              </a:spcBef>
              <a:spcAft>
                <a:spcPts val="0"/>
              </a:spcAft>
              <a:defRPr sz="1300" b="1">
                <a:solidFill>
                  <a:srgbClr val="76DAC9"/>
                </a:solidFill>
                <a:latin typeface="Noto Sans"/>
              </a:defRPr>
            </a:pPr>
            <a:r>
              <a:t>DEEP LEARNING PROJECT PRESENTATION</a:t>
            </a:r>
          </a:p>
        </p:txBody>
      </p:sp>
      <p:sp>
        <p:nvSpPr>
          <p:cNvPr id="4" name="TextBox 3"/>
          <p:cNvSpPr txBox="1"/>
          <p:nvPr/>
        </p:nvSpPr>
        <p:spPr>
          <a:xfrm>
            <a:off x="640080" y="1600200"/>
            <a:ext cx="9966960" cy="1005840"/>
          </a:xfrm>
          <a:prstGeom prst="rect">
            <a:avLst/>
          </a:prstGeom>
          <a:noFill/>
        </p:spPr>
        <p:txBody>
          <a:bodyPr wrap="none" lIns="0" rIns="0" tIns="0" bIns="0">
            <a:noAutofit/>
          </a:bodyPr>
          <a:lstStyle/>
          <a:p>
            <a:pPr algn="l">
              <a:lnSpc>
                <a:spcPts val="5830"/>
              </a:lnSpc>
              <a:spcBef>
                <a:spcPts val="0"/>
              </a:spcBef>
              <a:spcAft>
                <a:spcPts val="0"/>
              </a:spcAft>
              <a:defRPr sz="4900" b="1">
                <a:solidFill>
                  <a:srgbClr val="FFFFFF"/>
                </a:solidFill>
                <a:latin typeface="Noto Sans"/>
              </a:defRPr>
            </a:pPr>
            <a:r>
              <a:t>AeroDepth-Lite</a:t>
            </a:r>
          </a:p>
        </p:txBody>
      </p:sp>
      <p:sp>
        <p:nvSpPr>
          <p:cNvPr id="5" name="TextBox 4"/>
          <p:cNvSpPr txBox="1"/>
          <p:nvPr/>
        </p:nvSpPr>
        <p:spPr>
          <a:xfrm>
            <a:off x="685800" y="2779776"/>
            <a:ext cx="9509760" cy="1234440"/>
          </a:xfrm>
          <a:prstGeom prst="rect">
            <a:avLst/>
          </a:prstGeom>
          <a:noFill/>
        </p:spPr>
        <p:txBody>
          <a:bodyPr wrap="none" lIns="0" rIns="0" tIns="0" bIns="0">
            <a:noAutofit/>
          </a:bodyPr>
          <a:lstStyle/>
          <a:p>
            <a:pPr algn="l">
              <a:lnSpc>
                <a:spcPts val="2975"/>
              </a:lnSpc>
              <a:spcBef>
                <a:spcPts val="0"/>
              </a:spcBef>
              <a:spcAft>
                <a:spcPts val="0"/>
              </a:spcAft>
              <a:defRPr sz="2500" b="0">
                <a:solidFill>
                  <a:srgbClr val="DCEAF0"/>
                </a:solidFill>
                <a:latin typeface="Noto Sans"/>
              </a:defRPr>
            </a:pPr>
            <a:r>
              <a:t>Monocular Drone-Camera Range Prediction</a:t>
            </a:r>
          </a:p>
          <a:p>
            <a:pPr algn="l">
              <a:lnSpc>
                <a:spcPts val="2975"/>
              </a:lnSpc>
              <a:spcBef>
                <a:spcPts val="0"/>
              </a:spcBef>
              <a:spcAft>
                <a:spcPts val="0"/>
              </a:spcAft>
              <a:defRPr sz="2500" b="0">
                <a:solidFill>
                  <a:srgbClr val="DCEAF0"/>
                </a:solidFill>
                <a:latin typeface="Noto Sans"/>
              </a:defRPr>
            </a:pPr>
            <a:r>
              <a:t>and Adaptive Inference Scheduling</a:t>
            </a:r>
          </a:p>
        </p:txBody>
      </p:sp>
      <p:sp>
        <p:nvSpPr>
          <p:cNvPr id="6" name="TextBox 5"/>
          <p:cNvSpPr txBox="1"/>
          <p:nvPr/>
        </p:nvSpPr>
        <p:spPr>
          <a:xfrm>
            <a:off x="685800" y="4315968"/>
            <a:ext cx="8961120" cy="594360"/>
          </a:xfrm>
          <a:prstGeom prst="rect">
            <a:avLst/>
          </a:prstGeom>
          <a:noFill/>
        </p:spPr>
        <p:txBody>
          <a:bodyPr wrap="none" lIns="0" rIns="0" tIns="0" bIns="0">
            <a:noAutofit/>
          </a:bodyPr>
          <a:lstStyle/>
          <a:p>
            <a:pPr algn="l">
              <a:lnSpc>
                <a:spcPts val="2023"/>
              </a:lnSpc>
              <a:spcBef>
                <a:spcPts val="0"/>
              </a:spcBef>
              <a:spcAft>
                <a:spcPts val="0"/>
              </a:spcAft>
              <a:defRPr sz="1700" b="0">
                <a:solidFill>
                  <a:srgbClr val="A6BFCE"/>
                </a:solidFill>
                <a:latin typeface="Noto Sans"/>
              </a:defRPr>
            </a:pPr>
            <a:r>
              <a:t>A compact depth model. A causal update policy.</a:t>
            </a:r>
          </a:p>
          <a:p>
            <a:pPr algn="l">
              <a:lnSpc>
                <a:spcPts val="2023"/>
              </a:lnSpc>
              <a:spcBef>
                <a:spcPts val="0"/>
              </a:spcBef>
              <a:spcAft>
                <a:spcPts val="0"/>
              </a:spcAft>
              <a:defRPr sz="1700" b="0">
                <a:solidFill>
                  <a:srgbClr val="A6BFCE"/>
                </a:solidFill>
                <a:latin typeface="Noto Sans"/>
              </a:defRPr>
            </a:pPr>
            <a:r>
              <a:t>An evidence-based study of accuracy and compute.</a:t>
            </a:r>
          </a:p>
        </p:txBody>
      </p:sp>
      <p:sp>
        <p:nvSpPr>
          <p:cNvPr id="7" name="Rectangle 6"/>
          <p:cNvSpPr/>
          <p:nvPr/>
        </p:nvSpPr>
        <p:spPr>
          <a:xfrm>
            <a:off x="685800" y="5486400"/>
            <a:ext cx="9144000" cy="2075688"/>
          </a:xfrm>
          <a:prstGeom prst="rect">
            <a:avLst/>
          </a:prstGeom>
          <a:solidFill>
            <a:srgbClr val="1A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669280"/>
            <a:ext cx="8595360" cy="365760"/>
          </a:xfrm>
          <a:prstGeom prst="rect">
            <a:avLst/>
          </a:prstGeom>
          <a:noFill/>
        </p:spPr>
        <p:txBody>
          <a:bodyPr wrap="none" lIns="0" rIns="0" tIns="0" bIns="0">
            <a:noAutofit/>
          </a:bodyPr>
          <a:lstStyle/>
          <a:p>
            <a:pPr algn="l">
              <a:lnSpc>
                <a:spcPts val="1309"/>
              </a:lnSpc>
              <a:spcBef>
                <a:spcPts val="0"/>
              </a:spcBef>
              <a:spcAft>
                <a:spcPts val="0"/>
              </a:spcAft>
              <a:defRPr sz="1100" b="1">
                <a:solidFill>
                  <a:srgbClr val="76DAC9"/>
                </a:solidFill>
                <a:latin typeface="Noto Sans"/>
              </a:defRPr>
            </a:pPr>
            <a:r>
              <a:t>TEAM MEMBERS • EDIT THESE FIELDS</a:t>
            </a:r>
          </a:p>
        </p:txBody>
      </p:sp>
      <p:sp>
        <p:nvSpPr>
          <p:cNvPr id="9" name="TextBox 8"/>
          <p:cNvSpPr txBox="1"/>
          <p:nvPr/>
        </p:nvSpPr>
        <p:spPr>
          <a:xfrm>
            <a:off x="914400" y="6126480"/>
            <a:ext cx="8503920" cy="457200"/>
          </a:xfrm>
          <a:prstGeom prst="rect">
            <a:avLst/>
          </a:prstGeom>
          <a:noFill/>
        </p:spPr>
        <p:txBody>
          <a:bodyPr wrap="none" lIns="0" rIns="0" tIns="0" bIns="0">
            <a:noAutofit/>
          </a:bodyPr>
          <a:lstStyle/>
          <a:p>
            <a:pPr algn="l">
              <a:lnSpc>
                <a:spcPts val="1904"/>
              </a:lnSpc>
              <a:spcBef>
                <a:spcPts val="0"/>
              </a:spcBef>
              <a:spcAft>
                <a:spcPts val="0"/>
              </a:spcAft>
              <a:defRPr sz="1600" b="0">
                <a:solidFill>
                  <a:srgbClr val="FFFFFF"/>
                </a:solidFill>
                <a:latin typeface="Noto Sans"/>
              </a:defRPr>
            </a:pPr>
            <a:r>
              <a:t>[Member name — Roll no.] | [Member name — Roll no.]</a:t>
            </a:r>
          </a:p>
        </p:txBody>
      </p:sp>
      <p:sp>
        <p:nvSpPr>
          <p:cNvPr id="10" name="TextBox 9"/>
          <p:cNvSpPr txBox="1"/>
          <p:nvPr/>
        </p:nvSpPr>
        <p:spPr>
          <a:xfrm>
            <a:off x="914400" y="6675120"/>
            <a:ext cx="8503920" cy="640080"/>
          </a:xfrm>
          <a:prstGeom prst="rect">
            <a:avLst/>
          </a:prstGeom>
          <a:noFill/>
        </p:spPr>
        <p:txBody>
          <a:bodyPr wrap="none" lIns="0" rIns="0" tIns="0" bIns="0">
            <a:noAutofit/>
          </a:bodyPr>
          <a:lstStyle/>
          <a:p>
            <a:pPr algn="l">
              <a:lnSpc>
                <a:spcPts val="1784"/>
              </a:lnSpc>
              <a:spcBef>
                <a:spcPts val="0"/>
              </a:spcBef>
              <a:spcAft>
                <a:spcPts val="0"/>
              </a:spcAft>
              <a:defRPr sz="1500" b="0">
                <a:solidFill>
                  <a:srgbClr val="DCEAF0"/>
                </a:solidFill>
                <a:latin typeface="Noto Sans"/>
              </a:defRPr>
            </a:pPr>
            <a:r>
              <a:t>[Department] • [College / University]</a:t>
            </a:r>
          </a:p>
          <a:p>
            <a:pPr algn="l">
              <a:lnSpc>
                <a:spcPts val="1784"/>
              </a:lnSpc>
              <a:spcBef>
                <a:spcPts val="0"/>
              </a:spcBef>
              <a:spcAft>
                <a:spcPts val="0"/>
              </a:spcAft>
              <a:defRPr sz="1500" b="0">
                <a:solidFill>
                  <a:srgbClr val="DCEAF0"/>
                </a:solidFill>
                <a:latin typeface="Noto Sans"/>
              </a:defRPr>
            </a:pPr>
            <a:r>
              <a:t>Guide: [Name and designation]</a:t>
            </a:r>
          </a:p>
        </p:txBody>
      </p:sp>
      <p:sp>
        <p:nvSpPr>
          <p:cNvPr id="11" name="Rectangle 10"/>
          <p:cNvSpPr/>
          <p:nvPr/>
        </p:nvSpPr>
        <p:spPr>
          <a:xfrm>
            <a:off x="10607040" y="1737360"/>
            <a:ext cx="3246120" cy="1143000"/>
          </a:xfrm>
          <a:prstGeom prst="rect">
            <a:avLst/>
          </a:prstGeom>
          <a:solidFill>
            <a:srgbClr val="1A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35640" y="1901952"/>
            <a:ext cx="2788920" cy="320040"/>
          </a:xfrm>
          <a:prstGeom prst="rect">
            <a:avLst/>
          </a:prstGeom>
          <a:noFill/>
        </p:spPr>
        <p:txBody>
          <a:bodyPr wrap="none" lIns="0" rIns="0" tIns="0" bIns="0">
            <a:noAutofit/>
          </a:bodyPr>
          <a:lstStyle/>
          <a:p>
            <a:pPr algn="l">
              <a:lnSpc>
                <a:spcPts val="2379"/>
              </a:lnSpc>
              <a:spcBef>
                <a:spcPts val="0"/>
              </a:spcBef>
              <a:spcAft>
                <a:spcPts val="0"/>
              </a:spcAft>
              <a:defRPr sz="2000" b="1">
                <a:solidFill>
                  <a:srgbClr val="76DAC9"/>
                </a:solidFill>
                <a:latin typeface="Noto Sans"/>
              </a:defRPr>
            </a:pPr>
            <a:r>
              <a:t>RGB</a:t>
            </a:r>
          </a:p>
        </p:txBody>
      </p:sp>
      <p:sp>
        <p:nvSpPr>
          <p:cNvPr id="13" name="TextBox 12"/>
          <p:cNvSpPr txBox="1"/>
          <p:nvPr/>
        </p:nvSpPr>
        <p:spPr>
          <a:xfrm>
            <a:off x="10835640" y="2359152"/>
            <a:ext cx="2788920" cy="274320"/>
          </a:xfrm>
          <a:prstGeom prst="rect">
            <a:avLst/>
          </a:prstGeom>
          <a:noFill/>
        </p:spPr>
        <p:txBody>
          <a:bodyPr wrap="none" lIns="0" rIns="0" tIns="0" bIns="0">
            <a:noAutofit/>
          </a:bodyPr>
          <a:lstStyle/>
          <a:p>
            <a:pPr algn="l">
              <a:lnSpc>
                <a:spcPts val="1547"/>
              </a:lnSpc>
              <a:spcBef>
                <a:spcPts val="0"/>
              </a:spcBef>
              <a:spcAft>
                <a:spcPts val="0"/>
              </a:spcAft>
              <a:defRPr sz="1300" b="0">
                <a:solidFill>
                  <a:srgbClr val="DCEAF0"/>
                </a:solidFill>
                <a:latin typeface="Noto Sans"/>
              </a:defRPr>
            </a:pPr>
            <a:r>
              <a:t>Single frame</a:t>
            </a:r>
          </a:p>
        </p:txBody>
      </p:sp>
      <p:cxnSp>
        <p:nvCxnSpPr>
          <p:cNvPr id="14" name="Connector 13"/>
          <p:cNvCxnSpPr/>
          <p:nvPr/>
        </p:nvCxnSpPr>
        <p:spPr>
          <a:xfrm>
            <a:off x="12234672" y="2916936"/>
            <a:ext cx="0" cy="365760"/>
          </a:xfrm>
          <a:prstGeom prst="line">
            <a:avLst/>
          </a:prstGeom>
          <a:ln w="25400">
            <a:solidFill>
              <a:srgbClr val="76DA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0607040" y="3383280"/>
            <a:ext cx="3246120" cy="1143000"/>
          </a:xfrm>
          <a:prstGeom prst="rect">
            <a:avLst/>
          </a:prstGeom>
          <a:solidFill>
            <a:srgbClr val="1A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835640" y="3547872"/>
            <a:ext cx="2788920" cy="320040"/>
          </a:xfrm>
          <a:prstGeom prst="rect">
            <a:avLst/>
          </a:prstGeom>
          <a:noFill/>
        </p:spPr>
        <p:txBody>
          <a:bodyPr wrap="none" lIns="0" rIns="0" tIns="0" bIns="0">
            <a:noAutofit/>
          </a:bodyPr>
          <a:lstStyle/>
          <a:p>
            <a:pPr algn="l">
              <a:lnSpc>
                <a:spcPts val="2379"/>
              </a:lnSpc>
              <a:spcBef>
                <a:spcPts val="0"/>
              </a:spcBef>
              <a:spcAft>
                <a:spcPts val="0"/>
              </a:spcAft>
              <a:defRPr sz="2000" b="1">
                <a:solidFill>
                  <a:srgbClr val="FFFFFF"/>
                </a:solidFill>
                <a:latin typeface="Noto Sans"/>
              </a:defRPr>
            </a:pPr>
            <a:r>
              <a:t>RANGE</a:t>
            </a:r>
          </a:p>
        </p:txBody>
      </p:sp>
      <p:sp>
        <p:nvSpPr>
          <p:cNvPr id="17" name="TextBox 16"/>
          <p:cNvSpPr txBox="1"/>
          <p:nvPr/>
        </p:nvSpPr>
        <p:spPr>
          <a:xfrm>
            <a:off x="10835640" y="4005072"/>
            <a:ext cx="2788920" cy="274320"/>
          </a:xfrm>
          <a:prstGeom prst="rect">
            <a:avLst/>
          </a:prstGeom>
          <a:noFill/>
        </p:spPr>
        <p:txBody>
          <a:bodyPr wrap="none" lIns="0" rIns="0" tIns="0" bIns="0">
            <a:noAutofit/>
          </a:bodyPr>
          <a:lstStyle/>
          <a:p>
            <a:pPr algn="l">
              <a:lnSpc>
                <a:spcPts val="1547"/>
              </a:lnSpc>
              <a:spcBef>
                <a:spcPts val="0"/>
              </a:spcBef>
              <a:spcAft>
                <a:spcPts val="0"/>
              </a:spcAft>
              <a:defRPr sz="1300" b="0">
                <a:solidFill>
                  <a:srgbClr val="DCEAF0"/>
                </a:solidFill>
                <a:latin typeface="Noto Sans"/>
              </a:defRPr>
            </a:pPr>
            <a:r>
              <a:t>Range map · metres</a:t>
            </a:r>
          </a:p>
        </p:txBody>
      </p:sp>
      <p:cxnSp>
        <p:nvCxnSpPr>
          <p:cNvPr id="18" name="Connector 17"/>
          <p:cNvCxnSpPr/>
          <p:nvPr/>
        </p:nvCxnSpPr>
        <p:spPr>
          <a:xfrm>
            <a:off x="12234672" y="4562856"/>
            <a:ext cx="0" cy="365760"/>
          </a:xfrm>
          <a:prstGeom prst="line">
            <a:avLst/>
          </a:prstGeom>
          <a:ln w="25400">
            <a:solidFill>
              <a:srgbClr val="76DA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0607040" y="5029200"/>
            <a:ext cx="3246120" cy="1143000"/>
          </a:xfrm>
          <a:prstGeom prst="rect">
            <a:avLst/>
          </a:prstGeom>
          <a:solidFill>
            <a:srgbClr val="1A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35640" y="5193792"/>
            <a:ext cx="2788920" cy="320040"/>
          </a:xfrm>
          <a:prstGeom prst="rect">
            <a:avLst/>
          </a:prstGeom>
          <a:noFill/>
        </p:spPr>
        <p:txBody>
          <a:bodyPr wrap="none" lIns="0" rIns="0" tIns="0" bIns="0">
            <a:noAutofit/>
          </a:bodyPr>
          <a:lstStyle/>
          <a:p>
            <a:pPr algn="l">
              <a:lnSpc>
                <a:spcPts val="2379"/>
              </a:lnSpc>
              <a:spcBef>
                <a:spcPts val="0"/>
              </a:spcBef>
              <a:spcAft>
                <a:spcPts val="0"/>
              </a:spcAft>
              <a:defRPr sz="2000" b="1">
                <a:solidFill>
                  <a:srgbClr val="F3B979"/>
                </a:solidFill>
                <a:latin typeface="Noto Sans"/>
              </a:defRPr>
            </a:pPr>
            <a:r>
              <a:t>UPDATE</a:t>
            </a:r>
          </a:p>
        </p:txBody>
      </p:sp>
      <p:sp>
        <p:nvSpPr>
          <p:cNvPr id="21" name="TextBox 20"/>
          <p:cNvSpPr txBox="1"/>
          <p:nvPr/>
        </p:nvSpPr>
        <p:spPr>
          <a:xfrm>
            <a:off x="10835640" y="5650992"/>
            <a:ext cx="2788920" cy="274320"/>
          </a:xfrm>
          <a:prstGeom prst="rect">
            <a:avLst/>
          </a:prstGeom>
          <a:noFill/>
        </p:spPr>
        <p:txBody>
          <a:bodyPr wrap="none" lIns="0" rIns="0" tIns="0" bIns="0">
            <a:noAutofit/>
          </a:bodyPr>
          <a:lstStyle/>
          <a:p>
            <a:pPr algn="l">
              <a:lnSpc>
                <a:spcPts val="1547"/>
              </a:lnSpc>
              <a:spcBef>
                <a:spcPts val="0"/>
              </a:spcBef>
              <a:spcAft>
                <a:spcPts val="0"/>
              </a:spcAft>
              <a:defRPr sz="1300" b="0">
                <a:solidFill>
                  <a:srgbClr val="DCEAF0"/>
                </a:solidFill>
                <a:latin typeface="Noto Sans"/>
              </a:defRPr>
            </a:pPr>
            <a:r>
              <a:t>Infer or reuse</a:t>
            </a:r>
          </a:p>
        </p:txBody>
      </p:sp>
      <p:sp>
        <p:nvSpPr>
          <p:cNvPr id="22" name="TextBox 21"/>
          <p:cNvSpPr txBox="1"/>
          <p:nvPr/>
        </p:nvSpPr>
        <p:spPr>
          <a:xfrm>
            <a:off x="10607040" y="7040880"/>
            <a:ext cx="3200400" cy="365760"/>
          </a:xfrm>
          <a:prstGeom prst="rect">
            <a:avLst/>
          </a:prstGeom>
          <a:noFill/>
        </p:spPr>
        <p:txBody>
          <a:bodyPr wrap="none" lIns="0" rIns="0" tIns="0" bIns="0">
            <a:noAutofit/>
          </a:bodyPr>
          <a:lstStyle/>
          <a:p>
            <a:pPr algn="l">
              <a:lnSpc>
                <a:spcPts val="1309"/>
              </a:lnSpc>
              <a:spcBef>
                <a:spcPts val="0"/>
              </a:spcBef>
              <a:spcAft>
                <a:spcPts val="0"/>
              </a:spcAft>
              <a:defRPr sz="1100" b="0">
                <a:solidFill>
                  <a:srgbClr val="A6BFCE"/>
                </a:solidFill>
                <a:latin typeface="Noto Sans"/>
              </a:defRPr>
            </a:pPr>
            <a:r>
              <a:t>PROJECT REVIEW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292608"/>
            <a:ext cx="11887200" cy="228600"/>
          </a:xfrm>
          <a:prstGeom prst="rect">
            <a:avLst/>
          </a:prstGeom>
          <a:noFill/>
        </p:spPr>
        <p:txBody>
          <a:bodyPr wrap="none" lIns="0" rIns="0" tIns="0" bIns="0">
            <a:noAutofit/>
          </a:bodyPr>
          <a:lstStyle/>
          <a:p>
            <a:pPr algn="l">
              <a:lnSpc>
                <a:spcPts val="1189"/>
              </a:lnSpc>
              <a:spcBef>
                <a:spcPts val="0"/>
              </a:spcBef>
              <a:spcAft>
                <a:spcPts val="0"/>
              </a:spcAft>
              <a:defRPr sz="1000" b="1">
                <a:solidFill>
                  <a:srgbClr val="008C83"/>
                </a:solidFill>
                <a:latin typeface="Noto Sans"/>
              </a:defRPr>
            </a:pPr>
            <a:r>
              <a:t>AERODEPTH-LITE / DEEP LEARNING PROJECT</a:t>
            </a:r>
          </a:p>
        </p:txBody>
      </p:sp>
      <p:sp>
        <p:nvSpPr>
          <p:cNvPr id="3" name="TextBox 2"/>
          <p:cNvSpPr txBox="1"/>
          <p:nvPr/>
        </p:nvSpPr>
        <p:spPr>
          <a:xfrm>
            <a:off x="594360" y="777240"/>
            <a:ext cx="13441680" cy="621792"/>
          </a:xfrm>
          <a:prstGeom prst="rect">
            <a:avLst/>
          </a:prstGeom>
          <a:noFill/>
        </p:spPr>
        <p:txBody>
          <a:bodyPr wrap="none" lIns="0" rIns="0" tIns="0" bIns="0">
            <a:noAutofit/>
          </a:bodyPr>
          <a:lstStyle/>
          <a:p>
            <a:pPr algn="l">
              <a:lnSpc>
                <a:spcPts val="3569"/>
              </a:lnSpc>
              <a:spcBef>
                <a:spcPts val="0"/>
              </a:spcBef>
              <a:spcAft>
                <a:spcPts val="0"/>
              </a:spcAft>
              <a:defRPr sz="3000" b="1">
                <a:solidFill>
                  <a:srgbClr val="193447"/>
                </a:solidFill>
                <a:latin typeface="Noto Sans"/>
              </a:defRPr>
            </a:pPr>
            <a:r>
              <a:t>Problem statement and motivation</a:t>
            </a:r>
          </a:p>
        </p:txBody>
      </p:sp>
      <p:sp>
        <p:nvSpPr>
          <p:cNvPr id="4" name="TextBox 3"/>
          <p:cNvSpPr txBox="1"/>
          <p:nvPr/>
        </p:nvSpPr>
        <p:spPr>
          <a:xfrm>
            <a:off x="594360" y="1444752"/>
            <a:ext cx="13350240" cy="548640"/>
          </a:xfrm>
          <a:prstGeom prst="rect">
            <a:avLst/>
          </a:prstGeom>
          <a:noFill/>
        </p:spPr>
        <p:txBody>
          <a:bodyPr wrap="none" lIns="0" rIns="0" tIns="0" bIns="0">
            <a:noAutofit/>
          </a:bodyPr>
          <a:lstStyle/>
          <a:p>
            <a:pPr algn="l">
              <a:lnSpc>
                <a:spcPts val="1784"/>
              </a:lnSpc>
              <a:spcBef>
                <a:spcPts val="0"/>
              </a:spcBef>
              <a:spcAft>
                <a:spcPts val="0"/>
              </a:spcAft>
              <a:defRPr sz="1500" b="0">
                <a:solidFill>
                  <a:srgbClr val="526575"/>
                </a:solidFill>
                <a:latin typeface="Noto Sans"/>
              </a:defRPr>
            </a:pPr>
            <a:r>
              <a:t>How can a small drone estimate scene range while limiting repeated inference?</a:t>
            </a:r>
          </a:p>
        </p:txBody>
      </p:sp>
      <p:sp>
        <p:nvSpPr>
          <p:cNvPr id="5" name="Rectangle 4"/>
          <p:cNvSpPr/>
          <p:nvPr/>
        </p:nvSpPr>
        <p:spPr>
          <a:xfrm>
            <a:off x="594360" y="7571231"/>
            <a:ext cx="13441680" cy="11887"/>
          </a:xfrm>
          <a:prstGeom prst="rect">
            <a:avLst/>
          </a:prstGeom>
          <a:solidFill>
            <a:srgbClr val="DC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7708392"/>
            <a:ext cx="12618720" cy="283464"/>
          </a:xfrm>
          <a:prstGeom prst="rect">
            <a:avLst/>
          </a:prstGeom>
          <a:noFill/>
        </p:spPr>
        <p:txBody>
          <a:bodyPr wrap="none" lIns="0" rIns="0" tIns="0" bIns="0">
            <a:noAutofit/>
          </a:bodyPr>
          <a:lstStyle/>
          <a:p>
            <a:pPr algn="l">
              <a:lnSpc>
                <a:spcPts val="1071"/>
              </a:lnSpc>
              <a:spcBef>
                <a:spcPts val="0"/>
              </a:spcBef>
              <a:spcAft>
                <a:spcPts val="0"/>
              </a:spcAft>
              <a:defRPr sz="900" b="0">
                <a:solidFill>
                  <a:srgbClr val="526575"/>
                </a:solidFill>
                <a:latin typeface="Noto Sans"/>
              </a:defRPr>
            </a:pPr>
            <a:r>
              <a:t>Source: docs/FINAL_REPORT.md · README.md</a:t>
            </a:r>
          </a:p>
        </p:txBody>
      </p:sp>
      <p:sp>
        <p:nvSpPr>
          <p:cNvPr id="7" name="TextBox 6"/>
          <p:cNvSpPr txBox="1"/>
          <p:nvPr/>
        </p:nvSpPr>
        <p:spPr>
          <a:xfrm>
            <a:off x="13258800" y="7662672"/>
            <a:ext cx="777240" cy="320040"/>
          </a:xfrm>
          <a:prstGeom prst="rect">
            <a:avLst/>
          </a:prstGeom>
          <a:noFill/>
        </p:spPr>
        <p:txBody>
          <a:bodyPr wrap="none" lIns="0" rIns="0" tIns="0" bIns="0">
            <a:noAutofit/>
          </a:bodyPr>
          <a:lstStyle/>
          <a:p>
            <a:pPr algn="r">
              <a:lnSpc>
                <a:spcPts val="1189"/>
              </a:lnSpc>
              <a:spcBef>
                <a:spcPts val="0"/>
              </a:spcBef>
              <a:spcAft>
                <a:spcPts val="0"/>
              </a:spcAft>
              <a:defRPr sz="1000" b="0">
                <a:solidFill>
                  <a:srgbClr val="526575"/>
                </a:solidFill>
                <a:latin typeface="Noto Sans"/>
              </a:defRPr>
            </a:pPr>
            <a:r>
              <a:t>02 / 13</a:t>
            </a:r>
          </a:p>
        </p:txBody>
      </p:sp>
      <p:sp>
        <p:nvSpPr>
          <p:cNvPr id="8" name="Rectangle 7"/>
          <p:cNvSpPr/>
          <p:nvPr/>
        </p:nvSpPr>
        <p:spPr>
          <a:xfrm>
            <a:off x="594360" y="2286000"/>
            <a:ext cx="4297680" cy="3337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286000"/>
            <a:ext cx="50292" cy="3337560"/>
          </a:xfrm>
          <a:prstGeom prst="rect">
            <a:avLst/>
          </a:prstGeom>
          <a:solidFill>
            <a:srgbClr val="008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468880"/>
            <a:ext cx="3840480" cy="256032"/>
          </a:xfrm>
          <a:prstGeom prst="rect">
            <a:avLst/>
          </a:prstGeom>
          <a:noFill/>
        </p:spPr>
        <p:txBody>
          <a:bodyPr wrap="none" lIns="0" rIns="0" tIns="0" bIns="0">
            <a:noAutofit/>
          </a:bodyPr>
          <a:lstStyle/>
          <a:p>
            <a:pPr algn="l">
              <a:lnSpc>
                <a:spcPts val="1309"/>
              </a:lnSpc>
              <a:spcBef>
                <a:spcPts val="0"/>
              </a:spcBef>
              <a:spcAft>
                <a:spcPts val="0"/>
              </a:spcAft>
              <a:defRPr sz="1100" b="1">
                <a:solidFill>
                  <a:srgbClr val="008C83"/>
                </a:solidFill>
                <a:latin typeface="Noto Sans"/>
              </a:defRPr>
            </a:pPr>
            <a:r>
              <a:t>01 / PERCEPTION</a:t>
            </a:r>
          </a:p>
        </p:txBody>
      </p:sp>
      <p:sp>
        <p:nvSpPr>
          <p:cNvPr id="11" name="TextBox 10"/>
          <p:cNvSpPr txBox="1"/>
          <p:nvPr/>
        </p:nvSpPr>
        <p:spPr>
          <a:xfrm>
            <a:off x="822960" y="2907792"/>
            <a:ext cx="3840480" cy="777240"/>
          </a:xfrm>
          <a:prstGeom prst="rect">
            <a:avLst/>
          </a:prstGeom>
          <a:noFill/>
        </p:spPr>
        <p:txBody>
          <a:bodyPr wrap="none" lIns="0" rIns="0" tIns="0" bIns="0">
            <a:noAutofit/>
          </a:bodyPr>
          <a:lstStyle/>
          <a:p>
            <a:pPr algn="l">
              <a:lnSpc>
                <a:spcPts val="2618"/>
              </a:lnSpc>
              <a:spcBef>
                <a:spcPts val="0"/>
              </a:spcBef>
              <a:spcAft>
                <a:spcPts val="0"/>
              </a:spcAft>
              <a:defRPr sz="2200" b="1">
                <a:solidFill>
                  <a:srgbClr val="193447"/>
                </a:solidFill>
                <a:latin typeface="Noto Sans"/>
              </a:defRPr>
            </a:pPr>
            <a:r>
              <a:t>One image,</a:t>
            </a:r>
          </a:p>
          <a:p>
            <a:pPr algn="l">
              <a:lnSpc>
                <a:spcPts val="2618"/>
              </a:lnSpc>
              <a:spcBef>
                <a:spcPts val="0"/>
              </a:spcBef>
              <a:spcAft>
                <a:spcPts val="0"/>
              </a:spcAft>
              <a:defRPr sz="2200" b="1">
                <a:solidFill>
                  <a:srgbClr val="193447"/>
                </a:solidFill>
                <a:latin typeface="Noto Sans"/>
              </a:defRPr>
            </a:pPr>
            <a:r>
              <a:t>uncertain range</a:t>
            </a:r>
          </a:p>
        </p:txBody>
      </p:sp>
      <p:sp>
        <p:nvSpPr>
          <p:cNvPr id="12" name="TextBox 11"/>
          <p:cNvSpPr txBox="1"/>
          <p:nvPr/>
        </p:nvSpPr>
        <p:spPr>
          <a:xfrm>
            <a:off x="822960" y="3794760"/>
            <a:ext cx="3840480" cy="1691639"/>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Recover dense metric range from</a:t>
            </a:r>
          </a:p>
          <a:p>
            <a:pPr algn="l">
              <a:lnSpc>
                <a:spcPts val="2023"/>
              </a:lnSpc>
              <a:spcBef>
                <a:spcPts val="0"/>
              </a:spcBef>
              <a:spcAft>
                <a:spcPts val="0"/>
              </a:spcAft>
              <a:defRPr sz="1700" b="0">
                <a:solidFill>
                  <a:srgbClr val="526575"/>
                </a:solidFill>
                <a:latin typeface="Noto Sans"/>
              </a:defRPr>
            </a:pPr>
            <a:r>
              <a:t>monocular RGB under changing</a:t>
            </a:r>
          </a:p>
          <a:p>
            <a:pPr algn="l">
              <a:lnSpc>
                <a:spcPts val="2023"/>
              </a:lnSpc>
              <a:spcBef>
                <a:spcPts val="0"/>
              </a:spcBef>
              <a:spcAft>
                <a:spcPts val="0"/>
              </a:spcAft>
              <a:defRPr sz="1700" b="0">
                <a:solidFill>
                  <a:srgbClr val="526575"/>
                </a:solidFill>
                <a:latin typeface="Noto Sans"/>
              </a:defRPr>
            </a:pPr>
            <a:r>
              <a:t>terrain, weather and visibility.</a:t>
            </a:r>
          </a:p>
        </p:txBody>
      </p:sp>
      <p:sp>
        <p:nvSpPr>
          <p:cNvPr id="13" name="Rectangle 12"/>
          <p:cNvSpPr/>
          <p:nvPr/>
        </p:nvSpPr>
        <p:spPr>
          <a:xfrm>
            <a:off x="5166360" y="2286000"/>
            <a:ext cx="4297680" cy="3337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66360" y="2286000"/>
            <a:ext cx="50292" cy="3337560"/>
          </a:xfrm>
          <a:prstGeom prst="rect">
            <a:avLst/>
          </a:prstGeom>
          <a:solidFill>
            <a:srgbClr val="008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0" y="2468880"/>
            <a:ext cx="3840480" cy="256032"/>
          </a:xfrm>
          <a:prstGeom prst="rect">
            <a:avLst/>
          </a:prstGeom>
          <a:noFill/>
        </p:spPr>
        <p:txBody>
          <a:bodyPr wrap="none" lIns="0" rIns="0" tIns="0" bIns="0">
            <a:noAutofit/>
          </a:bodyPr>
          <a:lstStyle/>
          <a:p>
            <a:pPr algn="l">
              <a:lnSpc>
                <a:spcPts val="1309"/>
              </a:lnSpc>
              <a:spcBef>
                <a:spcPts val="0"/>
              </a:spcBef>
              <a:spcAft>
                <a:spcPts val="0"/>
              </a:spcAft>
              <a:defRPr sz="1100" b="1">
                <a:solidFill>
                  <a:srgbClr val="008C83"/>
                </a:solidFill>
                <a:latin typeface="Noto Sans"/>
              </a:defRPr>
            </a:pPr>
            <a:r>
              <a:t>02 / COMPUTE</a:t>
            </a:r>
          </a:p>
        </p:txBody>
      </p:sp>
      <p:sp>
        <p:nvSpPr>
          <p:cNvPr id="16" name="TextBox 15"/>
          <p:cNvSpPr txBox="1"/>
          <p:nvPr/>
        </p:nvSpPr>
        <p:spPr>
          <a:xfrm>
            <a:off x="5394960" y="2907792"/>
            <a:ext cx="3840480" cy="777240"/>
          </a:xfrm>
          <a:prstGeom prst="rect">
            <a:avLst/>
          </a:prstGeom>
          <a:noFill/>
        </p:spPr>
        <p:txBody>
          <a:bodyPr wrap="none" lIns="0" rIns="0" tIns="0" bIns="0">
            <a:noAutofit/>
          </a:bodyPr>
          <a:lstStyle/>
          <a:p>
            <a:pPr algn="l">
              <a:lnSpc>
                <a:spcPts val="2618"/>
              </a:lnSpc>
              <a:spcBef>
                <a:spcPts val="0"/>
              </a:spcBef>
              <a:spcAft>
                <a:spcPts val="0"/>
              </a:spcAft>
              <a:defRPr sz="2200" b="1">
                <a:solidFill>
                  <a:srgbClr val="193447"/>
                </a:solidFill>
                <a:latin typeface="Noto Sans"/>
              </a:defRPr>
            </a:pPr>
            <a:r>
              <a:t>Repeated inference</a:t>
            </a:r>
          </a:p>
          <a:p>
            <a:pPr algn="l">
              <a:lnSpc>
                <a:spcPts val="2618"/>
              </a:lnSpc>
              <a:spcBef>
                <a:spcPts val="0"/>
              </a:spcBef>
              <a:spcAft>
                <a:spcPts val="0"/>
              </a:spcAft>
              <a:defRPr sz="2200" b="1">
                <a:solidFill>
                  <a:srgbClr val="193447"/>
                </a:solidFill>
                <a:latin typeface="Noto Sans"/>
              </a:defRPr>
            </a:pPr>
            <a:r>
              <a:t>has a cost</a:t>
            </a:r>
          </a:p>
        </p:txBody>
      </p:sp>
      <p:sp>
        <p:nvSpPr>
          <p:cNvPr id="17" name="TextBox 16"/>
          <p:cNvSpPr txBox="1"/>
          <p:nvPr/>
        </p:nvSpPr>
        <p:spPr>
          <a:xfrm>
            <a:off x="5394960" y="3794760"/>
            <a:ext cx="3840480" cy="1691639"/>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A fresh model call for every frame</a:t>
            </a:r>
          </a:p>
          <a:p>
            <a:pPr algn="l">
              <a:lnSpc>
                <a:spcPts val="2023"/>
              </a:lnSpc>
              <a:spcBef>
                <a:spcPts val="0"/>
              </a:spcBef>
              <a:spcAft>
                <a:spcPts val="0"/>
              </a:spcAft>
              <a:defRPr sz="1700" b="0">
                <a:solidFill>
                  <a:srgbClr val="526575"/>
                </a:solidFill>
                <a:latin typeface="Noto Sans"/>
              </a:defRPr>
            </a:pPr>
            <a:r>
              <a:t>adds work. Reusing an old map can</a:t>
            </a:r>
          </a:p>
          <a:p>
            <a:pPr algn="l">
              <a:lnSpc>
                <a:spcPts val="2023"/>
              </a:lnSpc>
              <a:spcBef>
                <a:spcPts val="0"/>
              </a:spcBef>
              <a:spcAft>
                <a:spcPts val="0"/>
              </a:spcAft>
              <a:defRPr sz="1700" b="0">
                <a:solidFill>
                  <a:srgbClr val="526575"/>
                </a:solidFill>
                <a:latin typeface="Noto Sans"/>
              </a:defRPr>
            </a:pPr>
            <a:r>
              <a:t>increase staleness and miss scene</a:t>
            </a:r>
          </a:p>
          <a:p>
            <a:pPr algn="l">
              <a:lnSpc>
                <a:spcPts val="2023"/>
              </a:lnSpc>
              <a:spcBef>
                <a:spcPts val="0"/>
              </a:spcBef>
              <a:spcAft>
                <a:spcPts val="0"/>
              </a:spcAft>
              <a:defRPr sz="1700" b="0">
                <a:solidFill>
                  <a:srgbClr val="526575"/>
                </a:solidFill>
                <a:latin typeface="Noto Sans"/>
              </a:defRPr>
            </a:pPr>
            <a:r>
              <a:t>changes.</a:t>
            </a:r>
          </a:p>
        </p:txBody>
      </p:sp>
      <p:sp>
        <p:nvSpPr>
          <p:cNvPr id="18" name="Rectangle 17"/>
          <p:cNvSpPr/>
          <p:nvPr/>
        </p:nvSpPr>
        <p:spPr>
          <a:xfrm>
            <a:off x="9738360" y="2286000"/>
            <a:ext cx="4297680" cy="3337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738360" y="2286000"/>
            <a:ext cx="50292" cy="3337560"/>
          </a:xfrm>
          <a:prstGeom prst="rect">
            <a:avLst/>
          </a:prstGeom>
          <a:solidFill>
            <a:srgbClr val="B35B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60" y="2468880"/>
            <a:ext cx="3840480" cy="256032"/>
          </a:xfrm>
          <a:prstGeom prst="rect">
            <a:avLst/>
          </a:prstGeom>
          <a:noFill/>
        </p:spPr>
        <p:txBody>
          <a:bodyPr wrap="none" lIns="0" rIns="0" tIns="0" bIns="0">
            <a:noAutofit/>
          </a:bodyPr>
          <a:lstStyle/>
          <a:p>
            <a:pPr algn="l">
              <a:lnSpc>
                <a:spcPts val="1309"/>
              </a:lnSpc>
              <a:spcBef>
                <a:spcPts val="0"/>
              </a:spcBef>
              <a:spcAft>
                <a:spcPts val="0"/>
              </a:spcAft>
              <a:defRPr sz="1100" b="1">
                <a:solidFill>
                  <a:srgbClr val="B35B15"/>
                </a:solidFill>
                <a:latin typeface="Noto Sans"/>
              </a:defRPr>
            </a:pPr>
            <a:r>
              <a:t>03 / EVALUATION</a:t>
            </a:r>
          </a:p>
        </p:txBody>
      </p:sp>
      <p:sp>
        <p:nvSpPr>
          <p:cNvPr id="21" name="TextBox 20"/>
          <p:cNvSpPr txBox="1"/>
          <p:nvPr/>
        </p:nvSpPr>
        <p:spPr>
          <a:xfrm>
            <a:off x="9966960" y="2907792"/>
            <a:ext cx="3840480" cy="777240"/>
          </a:xfrm>
          <a:prstGeom prst="rect">
            <a:avLst/>
          </a:prstGeom>
          <a:noFill/>
        </p:spPr>
        <p:txBody>
          <a:bodyPr wrap="none" lIns="0" rIns="0" tIns="0" bIns="0">
            <a:noAutofit/>
          </a:bodyPr>
          <a:lstStyle/>
          <a:p>
            <a:pPr algn="l">
              <a:lnSpc>
                <a:spcPts val="2618"/>
              </a:lnSpc>
              <a:spcBef>
                <a:spcPts val="0"/>
              </a:spcBef>
              <a:spcAft>
                <a:spcPts val="0"/>
              </a:spcAft>
              <a:defRPr sz="2200" b="1">
                <a:solidFill>
                  <a:srgbClr val="193447"/>
                </a:solidFill>
                <a:latin typeface="Noto Sans"/>
              </a:defRPr>
            </a:pPr>
            <a:r>
              <a:t>Average error can</a:t>
            </a:r>
          </a:p>
          <a:p>
            <a:pPr algn="l">
              <a:lnSpc>
                <a:spcPts val="2618"/>
              </a:lnSpc>
              <a:spcBef>
                <a:spcPts val="0"/>
              </a:spcBef>
              <a:spcAft>
                <a:spcPts val="0"/>
              </a:spcAft>
              <a:defRPr sz="2200" b="1">
                <a:solidFill>
                  <a:srgbClr val="193447"/>
                </a:solidFill>
                <a:latin typeface="Noto Sans"/>
              </a:defRPr>
            </a:pPr>
            <a:r>
              <a:t>hide near errors</a:t>
            </a:r>
          </a:p>
        </p:txBody>
      </p:sp>
      <p:sp>
        <p:nvSpPr>
          <p:cNvPr id="22" name="TextBox 21"/>
          <p:cNvSpPr txBox="1"/>
          <p:nvPr/>
        </p:nvSpPr>
        <p:spPr>
          <a:xfrm>
            <a:off x="9966960" y="3794760"/>
            <a:ext cx="3840480" cy="1691639"/>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Overall gains may coexist with worse</a:t>
            </a:r>
          </a:p>
          <a:p>
            <a:pPr algn="l">
              <a:lnSpc>
                <a:spcPts val="2023"/>
              </a:lnSpc>
              <a:spcBef>
                <a:spcPts val="0"/>
              </a:spcBef>
              <a:spcAft>
                <a:spcPts val="0"/>
              </a:spcAft>
              <a:defRPr sz="1700" b="0">
                <a:solidFill>
                  <a:srgbClr val="526575"/>
                </a:solidFill>
                <a:latin typeface="Noto Sans"/>
              </a:defRPr>
            </a:pPr>
            <a:r>
              <a:t>errors below 10 m. Model calls,</a:t>
            </a:r>
          </a:p>
          <a:p>
            <a:pPr algn="l">
              <a:lnSpc>
                <a:spcPts val="2023"/>
              </a:lnSpc>
              <a:spcBef>
                <a:spcPts val="0"/>
              </a:spcBef>
              <a:spcAft>
                <a:spcPts val="0"/>
              </a:spcAft>
              <a:defRPr sz="1700" b="0">
                <a:solidFill>
                  <a:srgbClr val="526575"/>
                </a:solidFill>
                <a:latin typeface="Noto Sans"/>
              </a:defRPr>
            </a:pPr>
            <a:r>
              <a:t>update delay and measured time all</a:t>
            </a:r>
          </a:p>
          <a:p>
            <a:pPr algn="l">
              <a:lnSpc>
                <a:spcPts val="2023"/>
              </a:lnSpc>
              <a:spcBef>
                <a:spcPts val="0"/>
              </a:spcBef>
              <a:spcAft>
                <a:spcPts val="0"/>
              </a:spcAft>
              <a:defRPr sz="1700" b="0">
                <a:solidFill>
                  <a:srgbClr val="526575"/>
                </a:solidFill>
                <a:latin typeface="Noto Sans"/>
              </a:defRPr>
            </a:pPr>
            <a:r>
              <a:t>matter.</a:t>
            </a:r>
          </a:p>
        </p:txBody>
      </p:sp>
      <p:sp>
        <p:nvSpPr>
          <p:cNvPr id="23" name="Rectangle 22"/>
          <p:cNvSpPr/>
          <p:nvPr/>
        </p:nvSpPr>
        <p:spPr>
          <a:xfrm>
            <a:off x="594360" y="6126480"/>
            <a:ext cx="13441680" cy="804672"/>
          </a:xfrm>
          <a:prstGeom prst="rect">
            <a:avLst/>
          </a:prstGeom>
          <a:solidFill>
            <a:srgbClr val="DF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6236208"/>
            <a:ext cx="12984480" cy="274320"/>
          </a:xfrm>
          <a:prstGeom prst="rect">
            <a:avLst/>
          </a:prstGeom>
          <a:noFill/>
        </p:spPr>
        <p:txBody>
          <a:bodyPr wrap="none" lIns="0" rIns="0" tIns="0" bIns="0">
            <a:noAutofit/>
          </a:bodyPr>
          <a:lstStyle/>
          <a:p>
            <a:pPr algn="l">
              <a:lnSpc>
                <a:spcPts val="1904"/>
              </a:lnSpc>
              <a:spcBef>
                <a:spcPts val="0"/>
              </a:spcBef>
              <a:spcAft>
                <a:spcPts val="0"/>
              </a:spcAft>
              <a:defRPr sz="1600" b="1">
                <a:solidFill>
                  <a:srgbClr val="008C83"/>
                </a:solidFill>
                <a:latin typeface="Noto Sans"/>
              </a:defRPr>
            </a:pPr>
            <a:r>
              <a:t>Project gap</a:t>
            </a:r>
          </a:p>
        </p:txBody>
      </p:sp>
      <p:sp>
        <p:nvSpPr>
          <p:cNvPr id="25" name="TextBox 24"/>
          <p:cNvSpPr txBox="1"/>
          <p:nvPr/>
        </p:nvSpPr>
        <p:spPr>
          <a:xfrm>
            <a:off x="822960" y="6574536"/>
            <a:ext cx="12984480" cy="274320"/>
          </a:xfrm>
          <a:prstGeom prst="rect">
            <a:avLst/>
          </a:prstGeom>
          <a:noFill/>
        </p:spPr>
        <p:txBody>
          <a:bodyPr wrap="none" lIns="0" rIns="0" tIns="0" bIns="0">
            <a:noAutofit/>
          </a:bodyPr>
          <a:lstStyle/>
          <a:p>
            <a:pPr algn="l">
              <a:lnSpc>
                <a:spcPts val="1547"/>
              </a:lnSpc>
              <a:spcBef>
                <a:spcPts val="0"/>
              </a:spcBef>
              <a:spcAft>
                <a:spcPts val="0"/>
              </a:spcAft>
              <a:defRPr sz="1300" b="0">
                <a:solidFill>
                  <a:srgbClr val="193447"/>
                </a:solidFill>
                <a:latin typeface="Noto Sans"/>
              </a:defRPr>
            </a:pPr>
            <a:r>
              <a:t>Evaluate compact range prediction and causal scheduling together, including near-field regressions and real timing.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292608"/>
            <a:ext cx="11887200" cy="228600"/>
          </a:xfrm>
          <a:prstGeom prst="rect">
            <a:avLst/>
          </a:prstGeom>
          <a:noFill/>
        </p:spPr>
        <p:txBody>
          <a:bodyPr wrap="none" lIns="0" rIns="0" tIns="0" bIns="0">
            <a:noAutofit/>
          </a:bodyPr>
          <a:lstStyle/>
          <a:p>
            <a:pPr algn="l">
              <a:lnSpc>
                <a:spcPts val="1189"/>
              </a:lnSpc>
              <a:spcBef>
                <a:spcPts val="0"/>
              </a:spcBef>
              <a:spcAft>
                <a:spcPts val="0"/>
              </a:spcAft>
              <a:defRPr sz="1000" b="1">
                <a:solidFill>
                  <a:srgbClr val="008C83"/>
                </a:solidFill>
                <a:latin typeface="Noto Sans"/>
              </a:defRPr>
            </a:pPr>
            <a:r>
              <a:t>AERODEPTH-LITE / DEEP LEARNING PROJECT</a:t>
            </a:r>
          </a:p>
        </p:txBody>
      </p:sp>
      <p:sp>
        <p:nvSpPr>
          <p:cNvPr id="3" name="TextBox 2"/>
          <p:cNvSpPr txBox="1"/>
          <p:nvPr/>
        </p:nvSpPr>
        <p:spPr>
          <a:xfrm>
            <a:off x="594360" y="777240"/>
            <a:ext cx="13441680" cy="621792"/>
          </a:xfrm>
          <a:prstGeom prst="rect">
            <a:avLst/>
          </a:prstGeom>
          <a:noFill/>
        </p:spPr>
        <p:txBody>
          <a:bodyPr wrap="none" lIns="0" rIns="0" tIns="0" bIns="0">
            <a:noAutofit/>
          </a:bodyPr>
          <a:lstStyle/>
          <a:p>
            <a:pPr algn="l">
              <a:lnSpc>
                <a:spcPts val="3569"/>
              </a:lnSpc>
              <a:spcBef>
                <a:spcPts val="0"/>
              </a:spcBef>
              <a:spcAft>
                <a:spcPts val="0"/>
              </a:spcAft>
              <a:defRPr sz="3000" b="1">
                <a:solidFill>
                  <a:srgbClr val="193447"/>
                </a:solidFill>
                <a:latin typeface="Noto Sans"/>
              </a:defRPr>
            </a:pPr>
            <a:r>
              <a:t>Objectives</a:t>
            </a:r>
          </a:p>
        </p:txBody>
      </p:sp>
      <p:sp>
        <p:nvSpPr>
          <p:cNvPr id="4" name="TextBox 3"/>
          <p:cNvSpPr txBox="1"/>
          <p:nvPr/>
        </p:nvSpPr>
        <p:spPr>
          <a:xfrm>
            <a:off x="594360" y="1444752"/>
            <a:ext cx="13350240" cy="548640"/>
          </a:xfrm>
          <a:prstGeom prst="rect">
            <a:avLst/>
          </a:prstGeom>
          <a:noFill/>
        </p:spPr>
        <p:txBody>
          <a:bodyPr wrap="none" lIns="0" rIns="0" tIns="0" bIns="0">
            <a:noAutofit/>
          </a:bodyPr>
          <a:lstStyle/>
          <a:p>
            <a:pPr algn="l">
              <a:lnSpc>
                <a:spcPts val="1784"/>
              </a:lnSpc>
              <a:spcBef>
                <a:spcPts val="0"/>
              </a:spcBef>
              <a:spcAft>
                <a:spcPts val="0"/>
              </a:spcAft>
              <a:defRPr sz="1500" b="0">
                <a:solidFill>
                  <a:srgbClr val="526575"/>
                </a:solidFill>
                <a:latin typeface="Noto Sans"/>
              </a:defRPr>
            </a:pPr>
            <a:r>
              <a:t>Measure prediction quality, update behaviour and actual execution cost.</a:t>
            </a:r>
          </a:p>
        </p:txBody>
      </p:sp>
      <p:sp>
        <p:nvSpPr>
          <p:cNvPr id="5" name="Rectangle 4"/>
          <p:cNvSpPr/>
          <p:nvPr/>
        </p:nvSpPr>
        <p:spPr>
          <a:xfrm>
            <a:off x="594360" y="7571231"/>
            <a:ext cx="13441680" cy="11887"/>
          </a:xfrm>
          <a:prstGeom prst="rect">
            <a:avLst/>
          </a:prstGeom>
          <a:solidFill>
            <a:srgbClr val="DC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7708392"/>
            <a:ext cx="12618720" cy="283464"/>
          </a:xfrm>
          <a:prstGeom prst="rect">
            <a:avLst/>
          </a:prstGeom>
          <a:noFill/>
        </p:spPr>
        <p:txBody>
          <a:bodyPr wrap="none" lIns="0" rIns="0" tIns="0" bIns="0">
            <a:noAutofit/>
          </a:bodyPr>
          <a:lstStyle/>
          <a:p>
            <a:pPr algn="l">
              <a:lnSpc>
                <a:spcPts val="1071"/>
              </a:lnSpc>
              <a:spcBef>
                <a:spcPts val="0"/>
              </a:spcBef>
              <a:spcAft>
                <a:spcPts val="0"/>
              </a:spcAft>
              <a:defRPr sz="900" b="0">
                <a:solidFill>
                  <a:srgbClr val="526575"/>
                </a:solidFill>
                <a:latin typeface="Noto Sans"/>
              </a:defRPr>
            </a:pPr>
            <a:r>
              <a:t>Source: docs/FINAL_REPORT.md · results/presentation_validation_20261029T155521Z/REPORT.md</a:t>
            </a:r>
          </a:p>
        </p:txBody>
      </p:sp>
      <p:sp>
        <p:nvSpPr>
          <p:cNvPr id="7" name="TextBox 6"/>
          <p:cNvSpPr txBox="1"/>
          <p:nvPr/>
        </p:nvSpPr>
        <p:spPr>
          <a:xfrm>
            <a:off x="13258800" y="7662672"/>
            <a:ext cx="777240" cy="320040"/>
          </a:xfrm>
          <a:prstGeom prst="rect">
            <a:avLst/>
          </a:prstGeom>
          <a:noFill/>
        </p:spPr>
        <p:txBody>
          <a:bodyPr wrap="none" lIns="0" rIns="0" tIns="0" bIns="0">
            <a:noAutofit/>
          </a:bodyPr>
          <a:lstStyle/>
          <a:p>
            <a:pPr algn="r">
              <a:lnSpc>
                <a:spcPts val="1189"/>
              </a:lnSpc>
              <a:spcBef>
                <a:spcPts val="0"/>
              </a:spcBef>
              <a:spcAft>
                <a:spcPts val="0"/>
              </a:spcAft>
              <a:defRPr sz="1000" b="0">
                <a:solidFill>
                  <a:srgbClr val="526575"/>
                </a:solidFill>
                <a:latin typeface="Noto Sans"/>
              </a:defRPr>
            </a:pPr>
            <a:r>
              <a:t>03 / 13</a:t>
            </a:r>
          </a:p>
        </p:txBody>
      </p:sp>
      <p:sp>
        <p:nvSpPr>
          <p:cNvPr id="8" name="Rectangle 7"/>
          <p:cNvSpPr/>
          <p:nvPr/>
        </p:nvSpPr>
        <p:spPr>
          <a:xfrm>
            <a:off x="594360" y="2212848"/>
            <a:ext cx="640080" cy="640080"/>
          </a:xfrm>
          <a:prstGeom prst="rect">
            <a:avLst/>
          </a:prstGeom>
          <a:solidFill>
            <a:srgbClr val="008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359152"/>
            <a:ext cx="640080" cy="365760"/>
          </a:xfrm>
          <a:prstGeom prst="rect">
            <a:avLst/>
          </a:prstGeom>
          <a:noFill/>
        </p:spPr>
        <p:txBody>
          <a:bodyPr wrap="none" lIns="0" rIns="0" tIns="0" bIns="0">
            <a:noAutofit/>
          </a:bodyPr>
          <a:lstStyle/>
          <a:p>
            <a:pPr algn="ctr">
              <a:lnSpc>
                <a:spcPts val="2261"/>
              </a:lnSpc>
              <a:spcBef>
                <a:spcPts val="0"/>
              </a:spcBef>
              <a:spcAft>
                <a:spcPts val="0"/>
              </a:spcAft>
              <a:defRPr sz="1900" b="1">
                <a:solidFill>
                  <a:srgbClr val="FFFFFF"/>
                </a:solidFill>
                <a:latin typeface="Noto Sans"/>
              </a:defRPr>
            </a:pPr>
            <a:r>
              <a:t>01</a:t>
            </a:r>
          </a:p>
        </p:txBody>
      </p:sp>
      <p:sp>
        <p:nvSpPr>
          <p:cNvPr id="10" name="TextBox 9"/>
          <p:cNvSpPr txBox="1"/>
          <p:nvPr/>
        </p:nvSpPr>
        <p:spPr>
          <a:xfrm>
            <a:off x="1508760" y="2212848"/>
            <a:ext cx="3749039" cy="457200"/>
          </a:xfrm>
          <a:prstGeom prst="rect">
            <a:avLst/>
          </a:prstGeom>
          <a:noFill/>
        </p:spPr>
        <p:txBody>
          <a:bodyPr wrap="none" lIns="0" rIns="0" tIns="0" bIns="0">
            <a:noAutofit/>
          </a:bodyPr>
          <a:lstStyle/>
          <a:p>
            <a:pPr algn="l">
              <a:lnSpc>
                <a:spcPts val="2379"/>
              </a:lnSpc>
              <a:spcBef>
                <a:spcPts val="0"/>
              </a:spcBef>
              <a:spcAft>
                <a:spcPts val="0"/>
              </a:spcAft>
              <a:defRPr sz="2000" b="1">
                <a:solidFill>
                  <a:srgbClr val="193447"/>
                </a:solidFill>
                <a:latin typeface="Noto Sans"/>
              </a:defRPr>
            </a:pPr>
            <a:r>
              <a:t>Predict dense range</a:t>
            </a:r>
          </a:p>
        </p:txBody>
      </p:sp>
      <p:sp>
        <p:nvSpPr>
          <p:cNvPr id="11" name="TextBox 10"/>
          <p:cNvSpPr txBox="1"/>
          <p:nvPr/>
        </p:nvSpPr>
        <p:spPr>
          <a:xfrm>
            <a:off x="5303520" y="2212848"/>
            <a:ext cx="8503920" cy="777240"/>
          </a:xfrm>
          <a:prstGeom prst="rect">
            <a:avLst/>
          </a:prstGeom>
          <a:noFill/>
        </p:spPr>
        <p:txBody>
          <a:bodyPr wrap="none" lIns="0" rIns="0" tIns="0" bIns="0">
            <a:noAutofit/>
          </a:bodyPr>
          <a:lstStyle/>
          <a:p>
            <a:pPr algn="l">
              <a:lnSpc>
                <a:spcPts val="2142"/>
              </a:lnSpc>
              <a:spcBef>
                <a:spcPts val="0"/>
              </a:spcBef>
              <a:spcAft>
                <a:spcPts val="0"/>
              </a:spcAft>
              <a:defRPr sz="1800" b="0">
                <a:solidFill>
                  <a:srgbClr val="526575"/>
                </a:solidFill>
                <a:latin typeface="Noto Sans"/>
              </a:defRPr>
            </a:pPr>
            <a:r>
              <a:t>Use a compact MobileNetV3-Small encoder and skip decoder to produce a 192</a:t>
            </a:r>
          </a:p>
          <a:p>
            <a:pPr algn="l">
              <a:lnSpc>
                <a:spcPts val="2142"/>
              </a:lnSpc>
              <a:spcBef>
                <a:spcPts val="0"/>
              </a:spcBef>
              <a:spcAft>
                <a:spcPts val="0"/>
              </a:spcAft>
              <a:defRPr sz="1800" b="0">
                <a:solidFill>
                  <a:srgbClr val="526575"/>
                </a:solidFill>
                <a:latin typeface="Noto Sans"/>
              </a:defRPr>
            </a:pPr>
            <a:r>
              <a:t>× 320 range map.</a:t>
            </a:r>
          </a:p>
        </p:txBody>
      </p:sp>
      <p:sp>
        <p:nvSpPr>
          <p:cNvPr id="12" name="Rectangle 11"/>
          <p:cNvSpPr/>
          <p:nvPr/>
        </p:nvSpPr>
        <p:spPr>
          <a:xfrm>
            <a:off x="594360" y="3246120"/>
            <a:ext cx="640080" cy="640080"/>
          </a:xfrm>
          <a:prstGeom prst="rect">
            <a:avLst/>
          </a:prstGeom>
          <a:solidFill>
            <a:srgbClr val="008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392424"/>
            <a:ext cx="640080" cy="365760"/>
          </a:xfrm>
          <a:prstGeom prst="rect">
            <a:avLst/>
          </a:prstGeom>
          <a:noFill/>
        </p:spPr>
        <p:txBody>
          <a:bodyPr wrap="none" lIns="0" rIns="0" tIns="0" bIns="0">
            <a:noAutofit/>
          </a:bodyPr>
          <a:lstStyle/>
          <a:p>
            <a:pPr algn="ctr">
              <a:lnSpc>
                <a:spcPts val="2261"/>
              </a:lnSpc>
              <a:spcBef>
                <a:spcPts val="0"/>
              </a:spcBef>
              <a:spcAft>
                <a:spcPts val="0"/>
              </a:spcAft>
              <a:defRPr sz="1900" b="1">
                <a:solidFill>
                  <a:srgbClr val="FFFFFF"/>
                </a:solidFill>
                <a:latin typeface="Noto Sans"/>
              </a:defRPr>
            </a:pPr>
            <a:r>
              <a:t>02</a:t>
            </a:r>
          </a:p>
        </p:txBody>
      </p:sp>
      <p:sp>
        <p:nvSpPr>
          <p:cNvPr id="14" name="TextBox 13"/>
          <p:cNvSpPr txBox="1"/>
          <p:nvPr/>
        </p:nvSpPr>
        <p:spPr>
          <a:xfrm>
            <a:off x="1508760" y="3246120"/>
            <a:ext cx="3749039" cy="457200"/>
          </a:xfrm>
          <a:prstGeom prst="rect">
            <a:avLst/>
          </a:prstGeom>
          <a:noFill/>
        </p:spPr>
        <p:txBody>
          <a:bodyPr wrap="none" lIns="0" rIns="0" tIns="0" bIns="0">
            <a:noAutofit/>
          </a:bodyPr>
          <a:lstStyle/>
          <a:p>
            <a:pPr algn="l">
              <a:lnSpc>
                <a:spcPts val="2379"/>
              </a:lnSpc>
              <a:spcBef>
                <a:spcPts val="0"/>
              </a:spcBef>
              <a:spcAft>
                <a:spcPts val="0"/>
              </a:spcAft>
              <a:defRPr sz="2000" b="1">
                <a:solidFill>
                  <a:srgbClr val="193447"/>
                </a:solidFill>
                <a:latin typeface="Noto Sans"/>
              </a:defRPr>
            </a:pPr>
            <a:r>
              <a:t>Compare learning strategies</a:t>
            </a:r>
          </a:p>
        </p:txBody>
      </p:sp>
      <p:sp>
        <p:nvSpPr>
          <p:cNvPr id="15" name="TextBox 14"/>
          <p:cNvSpPr txBox="1"/>
          <p:nvPr/>
        </p:nvSpPr>
        <p:spPr>
          <a:xfrm>
            <a:off x="5303520" y="3246120"/>
            <a:ext cx="8503920" cy="777240"/>
          </a:xfrm>
          <a:prstGeom prst="rect">
            <a:avLst/>
          </a:prstGeom>
          <a:noFill/>
        </p:spPr>
        <p:txBody>
          <a:bodyPr wrap="none" lIns="0" rIns="0" tIns="0" bIns="0">
            <a:noAutofit/>
          </a:bodyPr>
          <a:lstStyle/>
          <a:p>
            <a:pPr algn="l">
              <a:lnSpc>
                <a:spcPts val="2142"/>
              </a:lnSpc>
              <a:spcBef>
                <a:spcPts val="0"/>
              </a:spcBef>
              <a:spcAft>
                <a:spcPts val="0"/>
              </a:spcAft>
              <a:defRPr sz="1800" b="0">
                <a:solidFill>
                  <a:srgbClr val="526575"/>
                </a:solidFill>
                <a:latin typeface="Noto Sans"/>
              </a:defRPr>
            </a:pPr>
            <a:r>
              <a:t>Evaluate the original student, expanded supervised A and exploratory</a:t>
            </a:r>
          </a:p>
          <a:p>
            <a:pPr algn="l">
              <a:lnSpc>
                <a:spcPts val="2142"/>
              </a:lnSpc>
              <a:spcBef>
                <a:spcPts val="0"/>
              </a:spcBef>
              <a:spcAft>
                <a:spcPts val="0"/>
              </a:spcAft>
              <a:defRPr sz="1800" b="0">
                <a:solidFill>
                  <a:srgbClr val="526575"/>
                </a:solidFill>
                <a:latin typeface="Noto Sans"/>
              </a:defRPr>
            </a:pPr>
            <a:r>
              <a:t>knowledge distillation (KD).</a:t>
            </a:r>
          </a:p>
        </p:txBody>
      </p:sp>
      <p:sp>
        <p:nvSpPr>
          <p:cNvPr id="16" name="Rectangle 15"/>
          <p:cNvSpPr/>
          <p:nvPr/>
        </p:nvSpPr>
        <p:spPr>
          <a:xfrm>
            <a:off x="594360" y="4279392"/>
            <a:ext cx="640080" cy="640080"/>
          </a:xfrm>
          <a:prstGeom prst="rect">
            <a:avLst/>
          </a:prstGeom>
          <a:solidFill>
            <a:srgbClr val="008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425696"/>
            <a:ext cx="640080" cy="365760"/>
          </a:xfrm>
          <a:prstGeom prst="rect">
            <a:avLst/>
          </a:prstGeom>
          <a:noFill/>
        </p:spPr>
        <p:txBody>
          <a:bodyPr wrap="none" lIns="0" rIns="0" tIns="0" bIns="0">
            <a:noAutofit/>
          </a:bodyPr>
          <a:lstStyle/>
          <a:p>
            <a:pPr algn="ctr">
              <a:lnSpc>
                <a:spcPts val="2261"/>
              </a:lnSpc>
              <a:spcBef>
                <a:spcPts val="0"/>
              </a:spcBef>
              <a:spcAft>
                <a:spcPts val="0"/>
              </a:spcAft>
              <a:defRPr sz="1900" b="1">
                <a:solidFill>
                  <a:srgbClr val="FFFFFF"/>
                </a:solidFill>
                <a:latin typeface="Noto Sans"/>
              </a:defRPr>
            </a:pPr>
            <a:r>
              <a:t>03</a:t>
            </a:r>
          </a:p>
        </p:txBody>
      </p:sp>
      <p:sp>
        <p:nvSpPr>
          <p:cNvPr id="18" name="TextBox 17"/>
          <p:cNvSpPr txBox="1"/>
          <p:nvPr/>
        </p:nvSpPr>
        <p:spPr>
          <a:xfrm>
            <a:off x="1508760" y="4279392"/>
            <a:ext cx="3749039" cy="457200"/>
          </a:xfrm>
          <a:prstGeom prst="rect">
            <a:avLst/>
          </a:prstGeom>
          <a:noFill/>
        </p:spPr>
        <p:txBody>
          <a:bodyPr wrap="none" lIns="0" rIns="0" tIns="0" bIns="0">
            <a:noAutofit/>
          </a:bodyPr>
          <a:lstStyle/>
          <a:p>
            <a:pPr algn="l">
              <a:lnSpc>
                <a:spcPts val="2379"/>
              </a:lnSpc>
              <a:spcBef>
                <a:spcPts val="0"/>
              </a:spcBef>
              <a:spcAft>
                <a:spcPts val="0"/>
              </a:spcAft>
              <a:defRPr sz="2000" b="1">
                <a:solidFill>
                  <a:srgbClr val="193447"/>
                </a:solidFill>
                <a:latin typeface="Noto Sans"/>
              </a:defRPr>
            </a:pPr>
            <a:r>
              <a:t>Schedule causally</a:t>
            </a:r>
          </a:p>
        </p:txBody>
      </p:sp>
      <p:sp>
        <p:nvSpPr>
          <p:cNvPr id="19" name="TextBox 18"/>
          <p:cNvSpPr txBox="1"/>
          <p:nvPr/>
        </p:nvSpPr>
        <p:spPr>
          <a:xfrm>
            <a:off x="5303520" y="4279392"/>
            <a:ext cx="8503920" cy="777240"/>
          </a:xfrm>
          <a:prstGeom prst="rect">
            <a:avLst/>
          </a:prstGeom>
          <a:noFill/>
        </p:spPr>
        <p:txBody>
          <a:bodyPr wrap="none" lIns="0" rIns="0" tIns="0" bIns="0">
            <a:noAutofit/>
          </a:bodyPr>
          <a:lstStyle/>
          <a:p>
            <a:pPr algn="l">
              <a:lnSpc>
                <a:spcPts val="2142"/>
              </a:lnSpc>
              <a:spcBef>
                <a:spcPts val="0"/>
              </a:spcBef>
              <a:spcAft>
                <a:spcPts val="0"/>
              </a:spcAft>
              <a:defRPr sz="1800" b="0">
                <a:solidFill>
                  <a:srgbClr val="526575"/>
                </a:solidFill>
                <a:latin typeface="Noto Sans"/>
              </a:defRPr>
            </a:pPr>
            <a:r>
              <a:t>Use current RGB, simulated IMU, held GPS and prior predictions to choose</a:t>
            </a:r>
          </a:p>
          <a:p>
            <a:pPr algn="l">
              <a:lnSpc>
                <a:spcPts val="2142"/>
              </a:lnSpc>
              <a:spcBef>
                <a:spcPts val="0"/>
              </a:spcBef>
              <a:spcAft>
                <a:spcPts val="0"/>
              </a:spcAft>
              <a:defRPr sz="1800" b="0">
                <a:solidFill>
                  <a:srgbClr val="526575"/>
                </a:solidFill>
                <a:latin typeface="Noto Sans"/>
              </a:defRPr>
            </a:pPr>
            <a:r>
              <a:t>fresh inference or reuse.</a:t>
            </a:r>
          </a:p>
        </p:txBody>
      </p:sp>
      <p:sp>
        <p:nvSpPr>
          <p:cNvPr id="20" name="Rectangle 19"/>
          <p:cNvSpPr/>
          <p:nvPr/>
        </p:nvSpPr>
        <p:spPr>
          <a:xfrm>
            <a:off x="594360" y="5312664"/>
            <a:ext cx="640080" cy="640080"/>
          </a:xfrm>
          <a:prstGeom prst="rect">
            <a:avLst/>
          </a:prstGeom>
          <a:solidFill>
            <a:srgbClr val="008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458968"/>
            <a:ext cx="640080" cy="365760"/>
          </a:xfrm>
          <a:prstGeom prst="rect">
            <a:avLst/>
          </a:prstGeom>
          <a:noFill/>
        </p:spPr>
        <p:txBody>
          <a:bodyPr wrap="none" lIns="0" rIns="0" tIns="0" bIns="0">
            <a:noAutofit/>
          </a:bodyPr>
          <a:lstStyle/>
          <a:p>
            <a:pPr algn="ctr">
              <a:lnSpc>
                <a:spcPts val="2261"/>
              </a:lnSpc>
              <a:spcBef>
                <a:spcPts val="0"/>
              </a:spcBef>
              <a:spcAft>
                <a:spcPts val="0"/>
              </a:spcAft>
              <a:defRPr sz="1900" b="1">
                <a:solidFill>
                  <a:srgbClr val="FFFFFF"/>
                </a:solidFill>
                <a:latin typeface="Noto Sans"/>
              </a:defRPr>
            </a:pPr>
            <a:r>
              <a:t>04</a:t>
            </a:r>
          </a:p>
        </p:txBody>
      </p:sp>
      <p:sp>
        <p:nvSpPr>
          <p:cNvPr id="22" name="TextBox 21"/>
          <p:cNvSpPr txBox="1"/>
          <p:nvPr/>
        </p:nvSpPr>
        <p:spPr>
          <a:xfrm>
            <a:off x="1508760" y="5312664"/>
            <a:ext cx="3749039" cy="457200"/>
          </a:xfrm>
          <a:prstGeom prst="rect">
            <a:avLst/>
          </a:prstGeom>
          <a:noFill/>
        </p:spPr>
        <p:txBody>
          <a:bodyPr wrap="none" lIns="0" rIns="0" tIns="0" bIns="0">
            <a:noAutofit/>
          </a:bodyPr>
          <a:lstStyle/>
          <a:p>
            <a:pPr algn="l">
              <a:lnSpc>
                <a:spcPts val="2379"/>
              </a:lnSpc>
              <a:spcBef>
                <a:spcPts val="0"/>
              </a:spcBef>
              <a:spcAft>
                <a:spcPts val="0"/>
              </a:spcAft>
              <a:defRPr sz="2000" b="1">
                <a:solidFill>
                  <a:srgbClr val="193447"/>
                </a:solidFill>
                <a:latin typeface="Noto Sans"/>
              </a:defRPr>
            </a:pPr>
            <a:r>
              <a:t>Verify the trade-offs</a:t>
            </a:r>
          </a:p>
        </p:txBody>
      </p:sp>
      <p:sp>
        <p:nvSpPr>
          <p:cNvPr id="23" name="TextBox 22"/>
          <p:cNvSpPr txBox="1"/>
          <p:nvPr/>
        </p:nvSpPr>
        <p:spPr>
          <a:xfrm>
            <a:off x="5303520" y="5312664"/>
            <a:ext cx="8503920" cy="777240"/>
          </a:xfrm>
          <a:prstGeom prst="rect">
            <a:avLst/>
          </a:prstGeom>
          <a:noFill/>
        </p:spPr>
        <p:txBody>
          <a:bodyPr wrap="none" lIns="0" rIns="0" tIns="0" bIns="0">
            <a:noAutofit/>
          </a:bodyPr>
          <a:lstStyle/>
          <a:p>
            <a:pPr algn="l">
              <a:lnSpc>
                <a:spcPts val="2142"/>
              </a:lnSpc>
              <a:spcBef>
                <a:spcPts val="0"/>
              </a:spcBef>
              <a:spcAft>
                <a:spcPts val="0"/>
              </a:spcAft>
              <a:defRPr sz="1800" b="0">
                <a:solidFill>
                  <a:srgbClr val="526575"/>
                </a:solidFill>
                <a:latin typeface="Noto Sans"/>
              </a:defRPr>
            </a:pPr>
            <a:r>
              <a:t>Report overall / near error, model calls, update delay, measured timing and</a:t>
            </a:r>
          </a:p>
          <a:p>
            <a:pPr algn="l">
              <a:lnSpc>
                <a:spcPts val="2142"/>
              </a:lnSpc>
              <a:spcBef>
                <a:spcPts val="0"/>
              </a:spcBef>
              <a:spcAft>
                <a:spcPts val="0"/>
              </a:spcAft>
              <a:defRPr sz="1800" b="0">
                <a:solidFill>
                  <a:srgbClr val="526575"/>
                </a:solidFill>
                <a:latin typeface="Noto Sans"/>
              </a:defRPr>
            </a:pPr>
            <a:r>
              <a:t>limitations.</a:t>
            </a:r>
          </a:p>
        </p:txBody>
      </p:sp>
      <p:sp>
        <p:nvSpPr>
          <p:cNvPr id="24" name="Rectangle 23"/>
          <p:cNvSpPr/>
          <p:nvPr/>
        </p:nvSpPr>
        <p:spPr>
          <a:xfrm>
            <a:off x="594360" y="6510528"/>
            <a:ext cx="13441680" cy="804672"/>
          </a:xfrm>
          <a:prstGeom prst="rect">
            <a:avLst/>
          </a:prstGeom>
          <a:solidFill>
            <a:srgbClr val="DF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6620256"/>
            <a:ext cx="12984480" cy="274320"/>
          </a:xfrm>
          <a:prstGeom prst="rect">
            <a:avLst/>
          </a:prstGeom>
          <a:noFill/>
        </p:spPr>
        <p:txBody>
          <a:bodyPr wrap="none" lIns="0" rIns="0" tIns="0" bIns="0">
            <a:noAutofit/>
          </a:bodyPr>
          <a:lstStyle/>
          <a:p>
            <a:pPr algn="l">
              <a:lnSpc>
                <a:spcPts val="1904"/>
              </a:lnSpc>
              <a:spcBef>
                <a:spcPts val="0"/>
              </a:spcBef>
              <a:spcAft>
                <a:spcPts val="0"/>
              </a:spcAft>
              <a:defRPr sz="1600" b="1">
                <a:solidFill>
                  <a:srgbClr val="008C83"/>
                </a:solidFill>
                <a:latin typeface="Noto Sans"/>
              </a:defRPr>
            </a:pPr>
            <a:r>
              <a:t>Expected outputs</a:t>
            </a:r>
          </a:p>
        </p:txBody>
      </p:sp>
      <p:sp>
        <p:nvSpPr>
          <p:cNvPr id="26" name="TextBox 25"/>
          <p:cNvSpPr txBox="1"/>
          <p:nvPr/>
        </p:nvSpPr>
        <p:spPr>
          <a:xfrm>
            <a:off x="822960" y="6958584"/>
            <a:ext cx="12984480" cy="274320"/>
          </a:xfrm>
          <a:prstGeom prst="rect">
            <a:avLst/>
          </a:prstGeom>
          <a:noFill/>
        </p:spPr>
        <p:txBody>
          <a:bodyPr wrap="none" lIns="0" rIns="0" tIns="0" bIns="0">
            <a:noAutofit/>
          </a:bodyPr>
          <a:lstStyle/>
          <a:p>
            <a:pPr algn="l">
              <a:lnSpc>
                <a:spcPts val="1547"/>
              </a:lnSpc>
              <a:spcBef>
                <a:spcPts val="0"/>
              </a:spcBef>
              <a:spcAft>
                <a:spcPts val="0"/>
              </a:spcAft>
              <a:defRPr sz="1300" b="0">
                <a:solidFill>
                  <a:srgbClr val="193447"/>
                </a:solidFill>
                <a:latin typeface="Noto Sans"/>
              </a:defRPr>
            </a:pPr>
            <a:r>
              <a:t>Reproducible model exports, frozen split manifests, comparative evidence and a local demonstration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292608"/>
            <a:ext cx="11887200" cy="228600"/>
          </a:xfrm>
          <a:prstGeom prst="rect">
            <a:avLst/>
          </a:prstGeom>
          <a:noFill/>
        </p:spPr>
        <p:txBody>
          <a:bodyPr wrap="none" lIns="0" rIns="0" tIns="0" bIns="0">
            <a:noAutofit/>
          </a:bodyPr>
          <a:lstStyle/>
          <a:p>
            <a:pPr algn="l">
              <a:lnSpc>
                <a:spcPts val="1189"/>
              </a:lnSpc>
              <a:spcBef>
                <a:spcPts val="0"/>
              </a:spcBef>
              <a:spcAft>
                <a:spcPts val="0"/>
              </a:spcAft>
              <a:defRPr sz="1000" b="1">
                <a:solidFill>
                  <a:srgbClr val="008C83"/>
                </a:solidFill>
                <a:latin typeface="Noto Sans"/>
              </a:defRPr>
            </a:pPr>
            <a:r>
              <a:t>AERODEPTH-LITE / DEEP LEARNING PROJECT</a:t>
            </a:r>
          </a:p>
        </p:txBody>
      </p:sp>
      <p:sp>
        <p:nvSpPr>
          <p:cNvPr id="3" name="TextBox 2"/>
          <p:cNvSpPr txBox="1"/>
          <p:nvPr/>
        </p:nvSpPr>
        <p:spPr>
          <a:xfrm>
            <a:off x="594360" y="777240"/>
            <a:ext cx="13441680" cy="621792"/>
          </a:xfrm>
          <a:prstGeom prst="rect">
            <a:avLst/>
          </a:prstGeom>
          <a:noFill/>
        </p:spPr>
        <p:txBody>
          <a:bodyPr wrap="none" lIns="0" rIns="0" tIns="0" bIns="0">
            <a:noAutofit/>
          </a:bodyPr>
          <a:lstStyle/>
          <a:p>
            <a:pPr algn="l">
              <a:lnSpc>
                <a:spcPts val="3569"/>
              </a:lnSpc>
              <a:spcBef>
                <a:spcPts val="0"/>
              </a:spcBef>
              <a:spcAft>
                <a:spcPts val="0"/>
              </a:spcAft>
              <a:defRPr sz="3000" b="1">
                <a:solidFill>
                  <a:srgbClr val="193447"/>
                </a:solidFill>
                <a:latin typeface="Noto Sans"/>
              </a:defRPr>
            </a:pPr>
            <a:r>
              <a:t>Literature review and research gap</a:t>
            </a:r>
          </a:p>
        </p:txBody>
      </p:sp>
      <p:sp>
        <p:nvSpPr>
          <p:cNvPr id="4" name="TextBox 3"/>
          <p:cNvSpPr txBox="1"/>
          <p:nvPr/>
        </p:nvSpPr>
        <p:spPr>
          <a:xfrm>
            <a:off x="594360" y="1444752"/>
            <a:ext cx="13350240" cy="548640"/>
          </a:xfrm>
          <a:prstGeom prst="rect">
            <a:avLst/>
          </a:prstGeom>
          <a:noFill/>
        </p:spPr>
        <p:txBody>
          <a:bodyPr wrap="none" lIns="0" rIns="0" tIns="0" bIns="0">
            <a:noAutofit/>
          </a:bodyPr>
          <a:lstStyle/>
          <a:p>
            <a:pPr algn="l">
              <a:lnSpc>
                <a:spcPts val="1784"/>
              </a:lnSpc>
              <a:spcBef>
                <a:spcPts val="0"/>
              </a:spcBef>
              <a:spcAft>
                <a:spcPts val="0"/>
              </a:spcAft>
              <a:defRPr sz="1500" b="0">
                <a:solidFill>
                  <a:srgbClr val="526575"/>
                </a:solidFill>
                <a:latin typeface="Noto Sans"/>
              </a:defRPr>
            </a:pPr>
            <a:r>
              <a:t>Method foundations and the limitations relevant to this project.</a:t>
            </a:r>
          </a:p>
        </p:txBody>
      </p:sp>
      <p:sp>
        <p:nvSpPr>
          <p:cNvPr id="5" name="Rectangle 4"/>
          <p:cNvSpPr/>
          <p:nvPr/>
        </p:nvSpPr>
        <p:spPr>
          <a:xfrm>
            <a:off x="594360" y="7571231"/>
            <a:ext cx="13441680" cy="11887"/>
          </a:xfrm>
          <a:prstGeom prst="rect">
            <a:avLst/>
          </a:prstGeom>
          <a:solidFill>
            <a:srgbClr val="DC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7708392"/>
            <a:ext cx="12618720" cy="283464"/>
          </a:xfrm>
          <a:prstGeom prst="rect">
            <a:avLst/>
          </a:prstGeom>
          <a:noFill/>
        </p:spPr>
        <p:txBody>
          <a:bodyPr wrap="none" lIns="0" rIns="0" tIns="0" bIns="0">
            <a:noAutofit/>
          </a:bodyPr>
          <a:lstStyle/>
          <a:p>
            <a:pPr algn="l">
              <a:lnSpc>
                <a:spcPts val="1071"/>
              </a:lnSpc>
              <a:spcBef>
                <a:spcPts val="0"/>
              </a:spcBef>
              <a:spcAft>
                <a:spcPts val="0"/>
              </a:spcAft>
              <a:defRPr sz="900" b="0">
                <a:solidFill>
                  <a:srgbClr val="526575"/>
                </a:solidFill>
                <a:latin typeface="Noto Sans"/>
              </a:defRPr>
            </a:pPr>
            <a:r>
              <a:t>References: Eigen (2014), Howard (2019), He (2016), Hinton (2015), Fonder &amp; Van Droogenbroeck (2019). Links in notes.</a:t>
            </a:r>
          </a:p>
        </p:txBody>
      </p:sp>
      <p:sp>
        <p:nvSpPr>
          <p:cNvPr id="7" name="TextBox 6"/>
          <p:cNvSpPr txBox="1"/>
          <p:nvPr/>
        </p:nvSpPr>
        <p:spPr>
          <a:xfrm>
            <a:off x="13258800" y="7662672"/>
            <a:ext cx="777240" cy="320040"/>
          </a:xfrm>
          <a:prstGeom prst="rect">
            <a:avLst/>
          </a:prstGeom>
          <a:noFill/>
        </p:spPr>
        <p:txBody>
          <a:bodyPr wrap="none" lIns="0" rIns="0" tIns="0" bIns="0">
            <a:noAutofit/>
          </a:bodyPr>
          <a:lstStyle/>
          <a:p>
            <a:pPr algn="r">
              <a:lnSpc>
                <a:spcPts val="1189"/>
              </a:lnSpc>
              <a:spcBef>
                <a:spcPts val="0"/>
              </a:spcBef>
              <a:spcAft>
                <a:spcPts val="0"/>
              </a:spcAft>
              <a:defRPr sz="1000" b="0">
                <a:solidFill>
                  <a:srgbClr val="526575"/>
                </a:solidFill>
                <a:latin typeface="Noto Sans"/>
              </a:defRPr>
            </a:pPr>
            <a:r>
              <a:t>04 / 13</a:t>
            </a:r>
          </a:p>
        </p:txBody>
      </p:sp>
      <p:sp>
        <p:nvSpPr>
          <p:cNvPr id="8" name="Rectangle 7"/>
          <p:cNvSpPr/>
          <p:nvPr/>
        </p:nvSpPr>
        <p:spPr>
          <a:xfrm>
            <a:off x="594360" y="2148840"/>
            <a:ext cx="3091586" cy="658368"/>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2276856"/>
            <a:ext cx="2835554" cy="475488"/>
          </a:xfrm>
          <a:prstGeom prst="rect">
            <a:avLst/>
          </a:prstGeom>
          <a:noFill/>
        </p:spPr>
        <p:txBody>
          <a:bodyPr wrap="none" lIns="0" rIns="0" tIns="0" bIns="0">
            <a:noAutofit/>
          </a:bodyPr>
          <a:lstStyle/>
          <a:p>
            <a:pPr algn="l">
              <a:lnSpc>
                <a:spcPts val="1784"/>
              </a:lnSpc>
              <a:spcBef>
                <a:spcPts val="0"/>
              </a:spcBef>
              <a:spcAft>
                <a:spcPts val="0"/>
              </a:spcAft>
              <a:defRPr sz="1500" b="1">
                <a:solidFill>
                  <a:srgbClr val="FFFFFF"/>
                </a:solidFill>
                <a:latin typeface="Noto Sans"/>
              </a:defRPr>
            </a:pPr>
            <a:r>
              <a:t>Study</a:t>
            </a:r>
          </a:p>
        </p:txBody>
      </p:sp>
      <p:sp>
        <p:nvSpPr>
          <p:cNvPr id="10" name="Rectangle 9"/>
          <p:cNvSpPr/>
          <p:nvPr/>
        </p:nvSpPr>
        <p:spPr>
          <a:xfrm>
            <a:off x="3685946" y="2148840"/>
            <a:ext cx="4570171" cy="658368"/>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13962" y="2276856"/>
            <a:ext cx="4314139" cy="475488"/>
          </a:xfrm>
          <a:prstGeom prst="rect">
            <a:avLst/>
          </a:prstGeom>
          <a:noFill/>
        </p:spPr>
        <p:txBody>
          <a:bodyPr wrap="none" lIns="0" rIns="0" tIns="0" bIns="0">
            <a:noAutofit/>
          </a:bodyPr>
          <a:lstStyle/>
          <a:p>
            <a:pPr algn="l">
              <a:lnSpc>
                <a:spcPts val="1784"/>
              </a:lnSpc>
              <a:spcBef>
                <a:spcPts val="0"/>
              </a:spcBef>
              <a:spcAft>
                <a:spcPts val="0"/>
              </a:spcAft>
              <a:defRPr sz="1500" b="1">
                <a:solidFill>
                  <a:srgbClr val="FFFFFF"/>
                </a:solidFill>
                <a:latin typeface="Noto Sans"/>
              </a:defRPr>
            </a:pPr>
            <a:r>
              <a:t>Model / approach</a:t>
            </a:r>
          </a:p>
        </p:txBody>
      </p:sp>
      <p:sp>
        <p:nvSpPr>
          <p:cNvPr id="12" name="Rectangle 11"/>
          <p:cNvSpPr/>
          <p:nvPr/>
        </p:nvSpPr>
        <p:spPr>
          <a:xfrm>
            <a:off x="8256117" y="2148840"/>
            <a:ext cx="5779922" cy="658368"/>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4133" y="2276856"/>
            <a:ext cx="5523890" cy="475488"/>
          </a:xfrm>
          <a:prstGeom prst="rect">
            <a:avLst/>
          </a:prstGeom>
          <a:noFill/>
        </p:spPr>
        <p:txBody>
          <a:bodyPr wrap="none" lIns="0" rIns="0" tIns="0" bIns="0">
            <a:noAutofit/>
          </a:bodyPr>
          <a:lstStyle/>
          <a:p>
            <a:pPr algn="l">
              <a:lnSpc>
                <a:spcPts val="1784"/>
              </a:lnSpc>
              <a:spcBef>
                <a:spcPts val="0"/>
              </a:spcBef>
              <a:spcAft>
                <a:spcPts val="0"/>
              </a:spcAft>
              <a:defRPr sz="1500" b="1">
                <a:solidFill>
                  <a:srgbClr val="FFFFFF"/>
                </a:solidFill>
                <a:latin typeface="Noto Sans"/>
              </a:defRPr>
            </a:pPr>
            <a:r>
              <a:t>Limit relative to our project scope</a:t>
            </a:r>
          </a:p>
        </p:txBody>
      </p:sp>
      <p:sp>
        <p:nvSpPr>
          <p:cNvPr id="14" name="Rectangle 13"/>
          <p:cNvSpPr/>
          <p:nvPr/>
        </p:nvSpPr>
        <p:spPr>
          <a:xfrm>
            <a:off x="594360" y="2807208"/>
            <a:ext cx="3091586"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2935224"/>
            <a:ext cx="2835554"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Eigen et al., 2014</a:t>
            </a:r>
          </a:p>
        </p:txBody>
      </p:sp>
      <p:sp>
        <p:nvSpPr>
          <p:cNvPr id="16" name="Rectangle 15"/>
          <p:cNvSpPr/>
          <p:nvPr/>
        </p:nvSpPr>
        <p:spPr>
          <a:xfrm>
            <a:off x="3685946" y="2807208"/>
            <a:ext cx="4570171"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13962" y="2935224"/>
            <a:ext cx="4314139"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Coarse-to-fine monocular depth</a:t>
            </a:r>
          </a:p>
        </p:txBody>
      </p:sp>
      <p:sp>
        <p:nvSpPr>
          <p:cNvPr id="18" name="Rectangle 17"/>
          <p:cNvSpPr/>
          <p:nvPr/>
        </p:nvSpPr>
        <p:spPr>
          <a:xfrm>
            <a:off x="8256117" y="2807208"/>
            <a:ext cx="577992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4133" y="2935224"/>
            <a:ext cx="5523890"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NYU / KITTI results do not establish UAV scheduler</a:t>
            </a:r>
          </a:p>
          <a:p>
            <a:pPr algn="l">
              <a:lnSpc>
                <a:spcPts val="1784"/>
              </a:lnSpc>
              <a:spcBef>
                <a:spcPts val="0"/>
              </a:spcBef>
              <a:spcAft>
                <a:spcPts val="0"/>
              </a:spcAft>
              <a:defRPr sz="1500" b="0">
                <a:solidFill>
                  <a:srgbClr val="193447"/>
                </a:solidFill>
                <a:latin typeface="Noto Sans"/>
              </a:defRPr>
            </a:pPr>
            <a:r>
              <a:t>behaviour.</a:t>
            </a:r>
          </a:p>
        </p:txBody>
      </p:sp>
      <p:sp>
        <p:nvSpPr>
          <p:cNvPr id="20" name="Rectangle 19"/>
          <p:cNvSpPr/>
          <p:nvPr/>
        </p:nvSpPr>
        <p:spPr>
          <a:xfrm>
            <a:off x="594360" y="3465576"/>
            <a:ext cx="3091586" cy="658368"/>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3593592"/>
            <a:ext cx="2835554"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Howard et al., 2019</a:t>
            </a:r>
          </a:p>
        </p:txBody>
      </p:sp>
      <p:sp>
        <p:nvSpPr>
          <p:cNvPr id="22" name="Rectangle 21"/>
          <p:cNvSpPr/>
          <p:nvPr/>
        </p:nvSpPr>
        <p:spPr>
          <a:xfrm>
            <a:off x="3685946" y="3465576"/>
            <a:ext cx="4570171" cy="658368"/>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13962" y="3593592"/>
            <a:ext cx="4314139"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MobileNetV3; hardware-aware design</a:t>
            </a:r>
          </a:p>
        </p:txBody>
      </p:sp>
      <p:sp>
        <p:nvSpPr>
          <p:cNvPr id="24" name="Rectangle 23"/>
          <p:cNvSpPr/>
          <p:nvPr/>
        </p:nvSpPr>
        <p:spPr>
          <a:xfrm>
            <a:off x="8256117" y="3465576"/>
            <a:ext cx="5779922" cy="658368"/>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4133" y="3593592"/>
            <a:ext cx="5523890"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Efficient encoder; metric range needs a decoder and</a:t>
            </a:r>
          </a:p>
          <a:p>
            <a:pPr algn="l">
              <a:lnSpc>
                <a:spcPts val="1784"/>
              </a:lnSpc>
              <a:spcBef>
                <a:spcPts val="0"/>
              </a:spcBef>
              <a:spcAft>
                <a:spcPts val="0"/>
              </a:spcAft>
              <a:defRPr sz="1500" b="0">
                <a:solidFill>
                  <a:srgbClr val="193447"/>
                </a:solidFill>
                <a:latin typeface="Noto Sans"/>
              </a:defRPr>
            </a:pPr>
            <a:r>
              <a:t>task-specific training.</a:t>
            </a:r>
          </a:p>
        </p:txBody>
      </p:sp>
      <p:sp>
        <p:nvSpPr>
          <p:cNvPr id="26" name="Rectangle 25"/>
          <p:cNvSpPr/>
          <p:nvPr/>
        </p:nvSpPr>
        <p:spPr>
          <a:xfrm>
            <a:off x="594360" y="4123944"/>
            <a:ext cx="3091586"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 y="4251959"/>
            <a:ext cx="2835554"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He et al., 2016</a:t>
            </a:r>
          </a:p>
        </p:txBody>
      </p:sp>
      <p:sp>
        <p:nvSpPr>
          <p:cNvPr id="28" name="Rectangle 27"/>
          <p:cNvSpPr/>
          <p:nvPr/>
        </p:nvSpPr>
        <p:spPr>
          <a:xfrm>
            <a:off x="3685946" y="4123944"/>
            <a:ext cx="4570171"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13962" y="4251959"/>
            <a:ext cx="4314139"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Residual learning / ResNet</a:t>
            </a:r>
          </a:p>
        </p:txBody>
      </p:sp>
      <p:sp>
        <p:nvSpPr>
          <p:cNvPr id="30" name="Rectangle 29"/>
          <p:cNvSpPr/>
          <p:nvPr/>
        </p:nvSpPr>
        <p:spPr>
          <a:xfrm>
            <a:off x="8256117" y="4123944"/>
            <a:ext cx="577992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84133" y="4251959"/>
            <a:ext cx="5523890"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Classification backbone; larger capacity does not guarantee</a:t>
            </a:r>
          </a:p>
          <a:p>
            <a:pPr algn="l">
              <a:lnSpc>
                <a:spcPts val="1784"/>
              </a:lnSpc>
              <a:spcBef>
                <a:spcPts val="0"/>
              </a:spcBef>
              <a:spcAft>
                <a:spcPts val="0"/>
              </a:spcAft>
              <a:defRPr sz="1500" b="0">
                <a:solidFill>
                  <a:srgbClr val="193447"/>
                </a:solidFill>
                <a:latin typeface="Noto Sans"/>
              </a:defRPr>
            </a:pPr>
            <a:r>
              <a:t>a suitable depth teacher.</a:t>
            </a:r>
          </a:p>
        </p:txBody>
      </p:sp>
      <p:sp>
        <p:nvSpPr>
          <p:cNvPr id="32" name="Rectangle 31"/>
          <p:cNvSpPr/>
          <p:nvPr/>
        </p:nvSpPr>
        <p:spPr>
          <a:xfrm>
            <a:off x="594360" y="4782312"/>
            <a:ext cx="3091586" cy="658368"/>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 y="4910328"/>
            <a:ext cx="2835554"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Hinton et al., 2015</a:t>
            </a:r>
          </a:p>
        </p:txBody>
      </p:sp>
      <p:sp>
        <p:nvSpPr>
          <p:cNvPr id="34" name="Rectangle 33"/>
          <p:cNvSpPr/>
          <p:nvPr/>
        </p:nvSpPr>
        <p:spPr>
          <a:xfrm>
            <a:off x="3685946" y="4782312"/>
            <a:ext cx="4570171" cy="658368"/>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13962" y="4910328"/>
            <a:ext cx="4314139"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Teacher-to-student distillation</a:t>
            </a:r>
          </a:p>
        </p:txBody>
      </p:sp>
      <p:sp>
        <p:nvSpPr>
          <p:cNvPr id="36" name="Rectangle 35"/>
          <p:cNvSpPr/>
          <p:nvPr/>
        </p:nvSpPr>
        <p:spPr>
          <a:xfrm>
            <a:off x="8256117" y="4782312"/>
            <a:ext cx="5779922" cy="658368"/>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84133" y="4910328"/>
            <a:ext cx="5523890"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Knowledge transfer does not guarantee improved</a:t>
            </a:r>
          </a:p>
          <a:p>
            <a:pPr algn="l">
              <a:lnSpc>
                <a:spcPts val="1784"/>
              </a:lnSpc>
              <a:spcBef>
                <a:spcPts val="0"/>
              </a:spcBef>
              <a:spcAft>
                <a:spcPts val="0"/>
              </a:spcAft>
              <a:defRPr sz="1500" b="0">
                <a:solidFill>
                  <a:srgbClr val="193447"/>
                </a:solidFill>
                <a:latin typeface="Noto Sans"/>
              </a:defRPr>
            </a:pPr>
            <a:r>
              <a:t>near-range regression.</a:t>
            </a:r>
          </a:p>
        </p:txBody>
      </p:sp>
      <p:sp>
        <p:nvSpPr>
          <p:cNvPr id="38" name="Rectangle 37"/>
          <p:cNvSpPr/>
          <p:nvPr/>
        </p:nvSpPr>
        <p:spPr>
          <a:xfrm>
            <a:off x="594360" y="5440679"/>
            <a:ext cx="3091586"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2376" y="5568695"/>
            <a:ext cx="2835554"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Fonder &amp; Van Droogenbroeck,</a:t>
            </a:r>
          </a:p>
          <a:p>
            <a:pPr algn="l">
              <a:lnSpc>
                <a:spcPts val="1784"/>
              </a:lnSpc>
              <a:spcBef>
                <a:spcPts val="0"/>
              </a:spcBef>
              <a:spcAft>
                <a:spcPts val="0"/>
              </a:spcAft>
              <a:defRPr sz="1500" b="0">
                <a:solidFill>
                  <a:srgbClr val="193447"/>
                </a:solidFill>
                <a:latin typeface="Noto Sans"/>
              </a:defRPr>
            </a:pPr>
            <a:r>
              <a:t>2019</a:t>
            </a:r>
          </a:p>
        </p:txBody>
      </p:sp>
      <p:sp>
        <p:nvSpPr>
          <p:cNvPr id="40" name="Rectangle 39"/>
          <p:cNvSpPr/>
          <p:nvPr/>
        </p:nvSpPr>
        <p:spPr>
          <a:xfrm>
            <a:off x="3685946" y="5440679"/>
            <a:ext cx="4570171"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13962" y="5568695"/>
            <a:ext cx="4314139"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MidAir synthetic UAV dataset</a:t>
            </a:r>
          </a:p>
        </p:txBody>
      </p:sp>
      <p:sp>
        <p:nvSpPr>
          <p:cNvPr id="42" name="Rectangle 41"/>
          <p:cNvSpPr/>
          <p:nvPr/>
        </p:nvSpPr>
        <p:spPr>
          <a:xfrm>
            <a:off x="8256117" y="5440679"/>
            <a:ext cx="577992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84133" y="5568695"/>
            <a:ext cx="5523890" cy="475488"/>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Rich simulation data; real-flight generalization must be</a:t>
            </a:r>
          </a:p>
          <a:p>
            <a:pPr algn="l">
              <a:lnSpc>
                <a:spcPts val="1784"/>
              </a:lnSpc>
              <a:spcBef>
                <a:spcPts val="0"/>
              </a:spcBef>
              <a:spcAft>
                <a:spcPts val="0"/>
              </a:spcAft>
              <a:defRPr sz="1500" b="0">
                <a:solidFill>
                  <a:srgbClr val="193447"/>
                </a:solidFill>
                <a:latin typeface="Noto Sans"/>
              </a:defRPr>
            </a:pPr>
            <a:r>
              <a:t>tested separately.</a:t>
            </a:r>
          </a:p>
        </p:txBody>
      </p:sp>
      <p:sp>
        <p:nvSpPr>
          <p:cNvPr id="44" name="Rectangle 43"/>
          <p:cNvSpPr/>
          <p:nvPr/>
        </p:nvSpPr>
        <p:spPr>
          <a:xfrm>
            <a:off x="594360" y="6400800"/>
            <a:ext cx="13441680" cy="804672"/>
          </a:xfrm>
          <a:prstGeom prst="rect">
            <a:avLst/>
          </a:prstGeom>
          <a:solidFill>
            <a:srgbClr val="DF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 y="6510528"/>
            <a:ext cx="12984480" cy="274320"/>
          </a:xfrm>
          <a:prstGeom prst="rect">
            <a:avLst/>
          </a:prstGeom>
          <a:noFill/>
        </p:spPr>
        <p:txBody>
          <a:bodyPr wrap="none" lIns="0" rIns="0" tIns="0" bIns="0">
            <a:noAutofit/>
          </a:bodyPr>
          <a:lstStyle/>
          <a:p>
            <a:pPr algn="l">
              <a:lnSpc>
                <a:spcPts val="1904"/>
              </a:lnSpc>
              <a:spcBef>
                <a:spcPts val="0"/>
              </a:spcBef>
              <a:spcAft>
                <a:spcPts val="0"/>
              </a:spcAft>
              <a:defRPr sz="1600" b="1">
                <a:solidFill>
                  <a:srgbClr val="008C83"/>
                </a:solidFill>
                <a:latin typeface="Noto Sans"/>
              </a:defRPr>
            </a:pPr>
            <a:r>
              <a:t>Research gap addressed</a:t>
            </a:r>
          </a:p>
        </p:txBody>
      </p:sp>
      <p:sp>
        <p:nvSpPr>
          <p:cNvPr id="46" name="TextBox 45"/>
          <p:cNvSpPr txBox="1"/>
          <p:nvPr/>
        </p:nvSpPr>
        <p:spPr>
          <a:xfrm>
            <a:off x="822960" y="6848856"/>
            <a:ext cx="12984480" cy="274320"/>
          </a:xfrm>
          <a:prstGeom prst="rect">
            <a:avLst/>
          </a:prstGeom>
          <a:noFill/>
        </p:spPr>
        <p:txBody>
          <a:bodyPr wrap="none" lIns="0" rIns="0" tIns="0" bIns="0">
            <a:noAutofit/>
          </a:bodyPr>
          <a:lstStyle/>
          <a:p>
            <a:pPr algn="l">
              <a:lnSpc>
                <a:spcPts val="1547"/>
              </a:lnSpc>
              <a:spcBef>
                <a:spcPts val="0"/>
              </a:spcBef>
              <a:spcAft>
                <a:spcPts val="0"/>
              </a:spcAft>
              <a:defRPr sz="1300" b="0">
                <a:solidFill>
                  <a:srgbClr val="193447"/>
                </a:solidFill>
                <a:latin typeface="Noto Sans"/>
              </a:defRPr>
            </a:pPr>
            <a:r>
              <a:t>Study the joint range-quality / update-cost trade-off on a fixed UAV subset; retain negative findings and per-path checks.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292608"/>
            <a:ext cx="11887200" cy="228600"/>
          </a:xfrm>
          <a:prstGeom prst="rect">
            <a:avLst/>
          </a:prstGeom>
          <a:noFill/>
        </p:spPr>
        <p:txBody>
          <a:bodyPr wrap="none" lIns="0" rIns="0" tIns="0" bIns="0">
            <a:noAutofit/>
          </a:bodyPr>
          <a:lstStyle/>
          <a:p>
            <a:pPr algn="l">
              <a:lnSpc>
                <a:spcPts val="1189"/>
              </a:lnSpc>
              <a:spcBef>
                <a:spcPts val="0"/>
              </a:spcBef>
              <a:spcAft>
                <a:spcPts val="0"/>
              </a:spcAft>
              <a:defRPr sz="1000" b="1">
                <a:solidFill>
                  <a:srgbClr val="008C83"/>
                </a:solidFill>
                <a:latin typeface="Noto Sans"/>
              </a:defRPr>
            </a:pPr>
            <a:r>
              <a:t>AERODEPTH-LITE / DEEP LEARNING PROJECT</a:t>
            </a:r>
          </a:p>
        </p:txBody>
      </p:sp>
      <p:sp>
        <p:nvSpPr>
          <p:cNvPr id="3" name="TextBox 2"/>
          <p:cNvSpPr txBox="1"/>
          <p:nvPr/>
        </p:nvSpPr>
        <p:spPr>
          <a:xfrm>
            <a:off x="594360" y="777240"/>
            <a:ext cx="13441680" cy="621792"/>
          </a:xfrm>
          <a:prstGeom prst="rect">
            <a:avLst/>
          </a:prstGeom>
          <a:noFill/>
        </p:spPr>
        <p:txBody>
          <a:bodyPr wrap="none" lIns="0" rIns="0" tIns="0" bIns="0">
            <a:noAutofit/>
          </a:bodyPr>
          <a:lstStyle/>
          <a:p>
            <a:pPr algn="l">
              <a:lnSpc>
                <a:spcPts val="3569"/>
              </a:lnSpc>
              <a:spcBef>
                <a:spcPts val="0"/>
              </a:spcBef>
              <a:spcAft>
                <a:spcPts val="0"/>
              </a:spcAft>
              <a:defRPr sz="3000" b="1">
                <a:solidFill>
                  <a:srgbClr val="193447"/>
                </a:solidFill>
                <a:latin typeface="Noto Sans"/>
              </a:defRPr>
            </a:pPr>
            <a:r>
              <a:t>Novelty and team contributions</a:t>
            </a:r>
          </a:p>
        </p:txBody>
      </p:sp>
      <p:sp>
        <p:nvSpPr>
          <p:cNvPr id="4" name="TextBox 3"/>
          <p:cNvSpPr txBox="1"/>
          <p:nvPr/>
        </p:nvSpPr>
        <p:spPr>
          <a:xfrm>
            <a:off x="594360" y="1444752"/>
            <a:ext cx="13350240" cy="548640"/>
          </a:xfrm>
          <a:prstGeom prst="rect">
            <a:avLst/>
          </a:prstGeom>
          <a:noFill/>
        </p:spPr>
        <p:txBody>
          <a:bodyPr wrap="none" lIns="0" rIns="0" tIns="0" bIns="0">
            <a:noAutofit/>
          </a:bodyPr>
          <a:lstStyle/>
          <a:p>
            <a:pPr algn="l">
              <a:lnSpc>
                <a:spcPts val="1784"/>
              </a:lnSpc>
              <a:spcBef>
                <a:spcPts val="0"/>
              </a:spcBef>
              <a:spcAft>
                <a:spcPts val="0"/>
              </a:spcAft>
              <a:defRPr sz="1500" b="0">
                <a:solidFill>
                  <a:srgbClr val="526575"/>
                </a:solidFill>
                <a:latin typeface="Noto Sans"/>
              </a:defRPr>
            </a:pPr>
            <a:r>
              <a:t>The contribution is the implemented combination and its controlled evaluation.</a:t>
            </a:r>
          </a:p>
        </p:txBody>
      </p:sp>
      <p:sp>
        <p:nvSpPr>
          <p:cNvPr id="5" name="Rectangle 4"/>
          <p:cNvSpPr/>
          <p:nvPr/>
        </p:nvSpPr>
        <p:spPr>
          <a:xfrm>
            <a:off x="594360" y="7571231"/>
            <a:ext cx="13441680" cy="11887"/>
          </a:xfrm>
          <a:prstGeom prst="rect">
            <a:avLst/>
          </a:prstGeom>
          <a:solidFill>
            <a:srgbClr val="DC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7708392"/>
            <a:ext cx="12618720" cy="283464"/>
          </a:xfrm>
          <a:prstGeom prst="rect">
            <a:avLst/>
          </a:prstGeom>
          <a:noFill/>
        </p:spPr>
        <p:txBody>
          <a:bodyPr wrap="none" lIns="0" rIns="0" tIns="0" bIns="0">
            <a:noAutofit/>
          </a:bodyPr>
          <a:lstStyle/>
          <a:p>
            <a:pPr algn="l">
              <a:lnSpc>
                <a:spcPts val="1071"/>
              </a:lnSpc>
              <a:spcBef>
                <a:spcPts val="0"/>
              </a:spcBef>
              <a:spcAft>
                <a:spcPts val="0"/>
              </a:spcAft>
              <a:defRPr sz="900" b="0">
                <a:solidFill>
                  <a:srgbClr val="526575"/>
                </a:solidFill>
                <a:latin typeface="Noto Sans"/>
              </a:defRPr>
            </a:pPr>
            <a:r>
              <a:t>Source: src/aerodepth_lite/ · docs/FINAL_REPORT.md · saved student and scheduler comparisons</a:t>
            </a:r>
          </a:p>
        </p:txBody>
      </p:sp>
      <p:sp>
        <p:nvSpPr>
          <p:cNvPr id="7" name="TextBox 6"/>
          <p:cNvSpPr txBox="1"/>
          <p:nvPr/>
        </p:nvSpPr>
        <p:spPr>
          <a:xfrm>
            <a:off x="13258800" y="7662672"/>
            <a:ext cx="777240" cy="320040"/>
          </a:xfrm>
          <a:prstGeom prst="rect">
            <a:avLst/>
          </a:prstGeom>
          <a:noFill/>
        </p:spPr>
        <p:txBody>
          <a:bodyPr wrap="none" lIns="0" rIns="0" tIns="0" bIns="0">
            <a:noAutofit/>
          </a:bodyPr>
          <a:lstStyle/>
          <a:p>
            <a:pPr algn="r">
              <a:lnSpc>
                <a:spcPts val="1189"/>
              </a:lnSpc>
              <a:spcBef>
                <a:spcPts val="0"/>
              </a:spcBef>
              <a:spcAft>
                <a:spcPts val="0"/>
              </a:spcAft>
              <a:defRPr sz="1000" b="0">
                <a:solidFill>
                  <a:srgbClr val="526575"/>
                </a:solidFill>
                <a:latin typeface="Noto Sans"/>
              </a:defRPr>
            </a:pPr>
            <a:r>
              <a:t>05 / 13</a:t>
            </a:r>
          </a:p>
        </p:txBody>
      </p:sp>
      <p:sp>
        <p:nvSpPr>
          <p:cNvPr id="8" name="Rectangle 7"/>
          <p:cNvSpPr/>
          <p:nvPr/>
        </p:nvSpPr>
        <p:spPr>
          <a:xfrm>
            <a:off x="594360" y="2194560"/>
            <a:ext cx="649224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194560"/>
            <a:ext cx="50292" cy="2240280"/>
          </a:xfrm>
          <a:prstGeom prst="rect">
            <a:avLst/>
          </a:prstGeom>
          <a:solidFill>
            <a:srgbClr val="008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77440"/>
            <a:ext cx="6035040" cy="256032"/>
          </a:xfrm>
          <a:prstGeom prst="rect">
            <a:avLst/>
          </a:prstGeom>
          <a:noFill/>
        </p:spPr>
        <p:txBody>
          <a:bodyPr wrap="none" lIns="0" rIns="0" tIns="0" bIns="0">
            <a:noAutofit/>
          </a:bodyPr>
          <a:lstStyle/>
          <a:p>
            <a:pPr algn="l">
              <a:lnSpc>
                <a:spcPts val="1309"/>
              </a:lnSpc>
              <a:spcBef>
                <a:spcPts val="0"/>
              </a:spcBef>
              <a:spcAft>
                <a:spcPts val="0"/>
              </a:spcAft>
              <a:defRPr sz="1100" b="1">
                <a:solidFill>
                  <a:srgbClr val="008C83"/>
                </a:solidFill>
                <a:latin typeface="Noto Sans"/>
              </a:defRPr>
            </a:pPr>
            <a:r>
              <a:t>METHOD</a:t>
            </a:r>
          </a:p>
        </p:txBody>
      </p:sp>
      <p:sp>
        <p:nvSpPr>
          <p:cNvPr id="11" name="TextBox 10"/>
          <p:cNvSpPr txBox="1"/>
          <p:nvPr/>
        </p:nvSpPr>
        <p:spPr>
          <a:xfrm>
            <a:off x="822960" y="2816352"/>
            <a:ext cx="6035040" cy="777240"/>
          </a:xfrm>
          <a:prstGeom prst="rect">
            <a:avLst/>
          </a:prstGeom>
          <a:noFill/>
        </p:spPr>
        <p:txBody>
          <a:bodyPr wrap="none" lIns="0" rIns="0" tIns="0" bIns="0">
            <a:noAutofit/>
          </a:bodyPr>
          <a:lstStyle/>
          <a:p>
            <a:pPr algn="l">
              <a:lnSpc>
                <a:spcPts val="2618"/>
              </a:lnSpc>
              <a:spcBef>
                <a:spcPts val="0"/>
              </a:spcBef>
              <a:spcAft>
                <a:spcPts val="0"/>
              </a:spcAft>
              <a:defRPr sz="2200" b="1">
                <a:solidFill>
                  <a:srgbClr val="193447"/>
                </a:solidFill>
                <a:latin typeface="Noto Sans"/>
              </a:defRPr>
            </a:pPr>
            <a:r>
              <a:t>Compact metric-range model</a:t>
            </a:r>
          </a:p>
        </p:txBody>
      </p:sp>
      <p:sp>
        <p:nvSpPr>
          <p:cNvPr id="12" name="TextBox 11"/>
          <p:cNvSpPr txBox="1"/>
          <p:nvPr/>
        </p:nvSpPr>
        <p:spPr>
          <a:xfrm>
            <a:off x="822960" y="3703320"/>
            <a:ext cx="6035040" cy="594360"/>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1,027,489 parameters; MobileNetV3-Small with a custom</a:t>
            </a:r>
          </a:p>
          <a:p>
            <a:pPr algn="l">
              <a:lnSpc>
                <a:spcPts val="2023"/>
              </a:lnSpc>
              <a:spcBef>
                <a:spcPts val="0"/>
              </a:spcBef>
              <a:spcAft>
                <a:spcPts val="0"/>
              </a:spcAft>
              <a:defRPr sz="1700" b="0">
                <a:solidFill>
                  <a:srgbClr val="526575"/>
                </a:solidFill>
                <a:latin typeface="Noto Sans"/>
              </a:defRPr>
            </a:pPr>
            <a:r>
              <a:t>skip decoder.</a:t>
            </a:r>
          </a:p>
        </p:txBody>
      </p:sp>
      <p:sp>
        <p:nvSpPr>
          <p:cNvPr id="13" name="Rectangle 12"/>
          <p:cNvSpPr/>
          <p:nvPr/>
        </p:nvSpPr>
        <p:spPr>
          <a:xfrm>
            <a:off x="7360920" y="2194560"/>
            <a:ext cx="667512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60920" y="2194560"/>
            <a:ext cx="50292" cy="2240280"/>
          </a:xfrm>
          <a:prstGeom prst="rect">
            <a:avLst/>
          </a:prstGeom>
          <a:solidFill>
            <a:srgbClr val="008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2377440"/>
            <a:ext cx="6217920" cy="256032"/>
          </a:xfrm>
          <a:prstGeom prst="rect">
            <a:avLst/>
          </a:prstGeom>
          <a:noFill/>
        </p:spPr>
        <p:txBody>
          <a:bodyPr wrap="none" lIns="0" rIns="0" tIns="0" bIns="0">
            <a:noAutofit/>
          </a:bodyPr>
          <a:lstStyle/>
          <a:p>
            <a:pPr algn="l">
              <a:lnSpc>
                <a:spcPts val="1309"/>
              </a:lnSpc>
              <a:spcBef>
                <a:spcPts val="0"/>
              </a:spcBef>
              <a:spcAft>
                <a:spcPts val="0"/>
              </a:spcAft>
              <a:defRPr sz="1100" b="1">
                <a:solidFill>
                  <a:srgbClr val="008C83"/>
                </a:solidFill>
                <a:latin typeface="Noto Sans"/>
              </a:defRPr>
            </a:pPr>
            <a:r>
              <a:t>SYSTEM</a:t>
            </a:r>
          </a:p>
        </p:txBody>
      </p:sp>
      <p:sp>
        <p:nvSpPr>
          <p:cNvPr id="16" name="TextBox 15"/>
          <p:cNvSpPr txBox="1"/>
          <p:nvPr/>
        </p:nvSpPr>
        <p:spPr>
          <a:xfrm>
            <a:off x="7589520" y="2816352"/>
            <a:ext cx="6217920" cy="777240"/>
          </a:xfrm>
          <a:prstGeom prst="rect">
            <a:avLst/>
          </a:prstGeom>
          <a:noFill/>
        </p:spPr>
        <p:txBody>
          <a:bodyPr wrap="none" lIns="0" rIns="0" tIns="0" bIns="0">
            <a:noAutofit/>
          </a:bodyPr>
          <a:lstStyle/>
          <a:p>
            <a:pPr algn="l">
              <a:lnSpc>
                <a:spcPts val="2618"/>
              </a:lnSpc>
              <a:spcBef>
                <a:spcPts val="0"/>
              </a:spcBef>
              <a:spcAft>
                <a:spcPts val="0"/>
              </a:spcAft>
              <a:defRPr sz="2200" b="1">
                <a:solidFill>
                  <a:srgbClr val="193447"/>
                </a:solidFill>
                <a:latin typeface="Noto Sans"/>
              </a:defRPr>
            </a:pPr>
            <a:r>
              <a:t>Causal multi-signal scheduler</a:t>
            </a:r>
          </a:p>
        </p:txBody>
      </p:sp>
      <p:sp>
        <p:nvSpPr>
          <p:cNvPr id="17" name="TextBox 16"/>
          <p:cNvSpPr txBox="1"/>
          <p:nvPr/>
        </p:nvSpPr>
        <p:spPr>
          <a:xfrm>
            <a:off x="7589520" y="3703320"/>
            <a:ext cx="6217920" cy="594360"/>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Combines visual change, simulated motion, prior predicted</a:t>
            </a:r>
          </a:p>
          <a:p>
            <a:pPr algn="l">
              <a:lnSpc>
                <a:spcPts val="2023"/>
              </a:lnSpc>
              <a:spcBef>
                <a:spcPts val="0"/>
              </a:spcBef>
              <a:spcAft>
                <a:spcPts val="0"/>
              </a:spcAft>
              <a:defRPr sz="1700" b="0">
                <a:solidFill>
                  <a:srgbClr val="526575"/>
                </a:solidFill>
                <a:latin typeface="Noto Sans"/>
              </a:defRPr>
            </a:pPr>
            <a:r>
              <a:t>risk and map age.</a:t>
            </a:r>
          </a:p>
        </p:txBody>
      </p:sp>
      <p:sp>
        <p:nvSpPr>
          <p:cNvPr id="18" name="Rectangle 17"/>
          <p:cNvSpPr/>
          <p:nvPr/>
        </p:nvSpPr>
        <p:spPr>
          <a:xfrm>
            <a:off x="594360" y="4663440"/>
            <a:ext cx="649224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4663440"/>
            <a:ext cx="50292" cy="2240280"/>
          </a:xfrm>
          <a:prstGeom prst="rect">
            <a:avLst/>
          </a:prstGeom>
          <a:solidFill>
            <a:srgbClr val="B35B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46320"/>
            <a:ext cx="6035040" cy="256032"/>
          </a:xfrm>
          <a:prstGeom prst="rect">
            <a:avLst/>
          </a:prstGeom>
          <a:noFill/>
        </p:spPr>
        <p:txBody>
          <a:bodyPr wrap="none" lIns="0" rIns="0" tIns="0" bIns="0">
            <a:noAutofit/>
          </a:bodyPr>
          <a:lstStyle/>
          <a:p>
            <a:pPr algn="l">
              <a:lnSpc>
                <a:spcPts val="1309"/>
              </a:lnSpc>
              <a:spcBef>
                <a:spcPts val="0"/>
              </a:spcBef>
              <a:spcAft>
                <a:spcPts val="0"/>
              </a:spcAft>
              <a:defRPr sz="1100" b="1">
                <a:solidFill>
                  <a:srgbClr val="B35B15"/>
                </a:solidFill>
                <a:latin typeface="Noto Sans"/>
              </a:defRPr>
            </a:pPr>
            <a:r>
              <a:t>EXPERIMENT</a:t>
            </a:r>
          </a:p>
        </p:txBody>
      </p:sp>
      <p:sp>
        <p:nvSpPr>
          <p:cNvPr id="21" name="TextBox 20"/>
          <p:cNvSpPr txBox="1"/>
          <p:nvPr/>
        </p:nvSpPr>
        <p:spPr>
          <a:xfrm>
            <a:off x="822960" y="5285231"/>
            <a:ext cx="6035040" cy="777240"/>
          </a:xfrm>
          <a:prstGeom prst="rect">
            <a:avLst/>
          </a:prstGeom>
          <a:noFill/>
        </p:spPr>
        <p:txBody>
          <a:bodyPr wrap="none" lIns="0" rIns="0" tIns="0" bIns="0">
            <a:noAutofit/>
          </a:bodyPr>
          <a:lstStyle/>
          <a:p>
            <a:pPr algn="l">
              <a:lnSpc>
                <a:spcPts val="2618"/>
              </a:lnSpc>
              <a:spcBef>
                <a:spcPts val="0"/>
              </a:spcBef>
              <a:spcAft>
                <a:spcPts val="0"/>
              </a:spcAft>
              <a:defRPr sz="2200" b="1">
                <a:solidFill>
                  <a:srgbClr val="193447"/>
                </a:solidFill>
                <a:latin typeface="Noto Sans"/>
              </a:defRPr>
            </a:pPr>
            <a:r>
              <a:t>Matched A / KD comparison</a:t>
            </a:r>
          </a:p>
        </p:txBody>
      </p:sp>
      <p:sp>
        <p:nvSpPr>
          <p:cNvPr id="22" name="TextBox 21"/>
          <p:cNvSpPr txBox="1"/>
          <p:nvPr/>
        </p:nvSpPr>
        <p:spPr>
          <a:xfrm>
            <a:off x="822960" y="6172200"/>
            <a:ext cx="6035040" cy="594360"/>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Same starting student state and training budget; a failed</a:t>
            </a:r>
          </a:p>
          <a:p>
            <a:pPr algn="l">
              <a:lnSpc>
                <a:spcPts val="2023"/>
              </a:lnSpc>
              <a:spcBef>
                <a:spcPts val="0"/>
              </a:spcBef>
              <a:spcAft>
                <a:spcPts val="0"/>
              </a:spcAft>
              <a:defRPr sz="1700" b="0">
                <a:solidFill>
                  <a:srgbClr val="526575"/>
                </a:solidFill>
                <a:latin typeface="Noto Sans"/>
              </a:defRPr>
            </a:pPr>
            <a:r>
              <a:t>teacher gate stays visible.</a:t>
            </a:r>
          </a:p>
        </p:txBody>
      </p:sp>
      <p:sp>
        <p:nvSpPr>
          <p:cNvPr id="23" name="Rectangle 22"/>
          <p:cNvSpPr/>
          <p:nvPr/>
        </p:nvSpPr>
        <p:spPr>
          <a:xfrm>
            <a:off x="7360920" y="4663440"/>
            <a:ext cx="667512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60920" y="4663440"/>
            <a:ext cx="50292" cy="2240280"/>
          </a:xfrm>
          <a:prstGeom prst="rect">
            <a:avLst/>
          </a:prstGeom>
          <a:solidFill>
            <a:srgbClr val="008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0" y="4846320"/>
            <a:ext cx="6217920" cy="256032"/>
          </a:xfrm>
          <a:prstGeom prst="rect">
            <a:avLst/>
          </a:prstGeom>
          <a:noFill/>
        </p:spPr>
        <p:txBody>
          <a:bodyPr wrap="none" lIns="0" rIns="0" tIns="0" bIns="0">
            <a:noAutofit/>
          </a:bodyPr>
          <a:lstStyle/>
          <a:p>
            <a:pPr algn="l">
              <a:lnSpc>
                <a:spcPts val="1309"/>
              </a:lnSpc>
              <a:spcBef>
                <a:spcPts val="0"/>
              </a:spcBef>
              <a:spcAft>
                <a:spcPts val="0"/>
              </a:spcAft>
              <a:defRPr sz="1100" b="1">
                <a:solidFill>
                  <a:srgbClr val="008C83"/>
                </a:solidFill>
                <a:latin typeface="Noto Sans"/>
              </a:defRPr>
            </a:pPr>
            <a:r>
              <a:t>REPRODUCIBILITY</a:t>
            </a:r>
          </a:p>
        </p:txBody>
      </p:sp>
      <p:sp>
        <p:nvSpPr>
          <p:cNvPr id="26" name="TextBox 25"/>
          <p:cNvSpPr txBox="1"/>
          <p:nvPr/>
        </p:nvSpPr>
        <p:spPr>
          <a:xfrm>
            <a:off x="7589520" y="5285231"/>
            <a:ext cx="6217920" cy="777240"/>
          </a:xfrm>
          <a:prstGeom prst="rect">
            <a:avLst/>
          </a:prstGeom>
          <a:noFill/>
        </p:spPr>
        <p:txBody>
          <a:bodyPr wrap="none" lIns="0" rIns="0" tIns="0" bIns="0">
            <a:noAutofit/>
          </a:bodyPr>
          <a:lstStyle/>
          <a:p>
            <a:pPr algn="l">
              <a:lnSpc>
                <a:spcPts val="2618"/>
              </a:lnSpc>
              <a:spcBef>
                <a:spcPts val="0"/>
              </a:spcBef>
              <a:spcAft>
                <a:spcPts val="0"/>
              </a:spcAft>
              <a:defRPr sz="2200" b="1">
                <a:solidFill>
                  <a:srgbClr val="193447"/>
                </a:solidFill>
                <a:latin typeface="Noto Sans"/>
              </a:defRPr>
            </a:pPr>
            <a:r>
              <a:t>Auditable delivery</a:t>
            </a:r>
          </a:p>
        </p:txBody>
      </p:sp>
      <p:sp>
        <p:nvSpPr>
          <p:cNvPr id="27" name="TextBox 26"/>
          <p:cNvSpPr txBox="1"/>
          <p:nvPr/>
        </p:nvSpPr>
        <p:spPr>
          <a:xfrm>
            <a:off x="7589520" y="6172200"/>
            <a:ext cx="6217920" cy="594360"/>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Grouped splits, frozen artifacts, near-field metrics, ablations</a:t>
            </a:r>
          </a:p>
          <a:p>
            <a:pPr algn="l">
              <a:lnSpc>
                <a:spcPts val="2023"/>
              </a:lnSpc>
              <a:spcBef>
                <a:spcPts val="0"/>
              </a:spcBef>
              <a:spcAft>
                <a:spcPts val="0"/>
              </a:spcAft>
              <a:defRPr sz="1700" b="0">
                <a:solidFill>
                  <a:srgbClr val="526575"/>
                </a:solidFill>
                <a:latin typeface="Noto Sans"/>
              </a:defRPr>
            </a:pPr>
            <a:r>
              <a:t>and measured timing.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292608"/>
            <a:ext cx="11887200" cy="228600"/>
          </a:xfrm>
          <a:prstGeom prst="rect">
            <a:avLst/>
          </a:prstGeom>
          <a:noFill/>
        </p:spPr>
        <p:txBody>
          <a:bodyPr wrap="none" lIns="0" rIns="0" tIns="0" bIns="0">
            <a:noAutofit/>
          </a:bodyPr>
          <a:lstStyle/>
          <a:p>
            <a:pPr algn="l">
              <a:lnSpc>
                <a:spcPts val="1189"/>
              </a:lnSpc>
              <a:spcBef>
                <a:spcPts val="0"/>
              </a:spcBef>
              <a:spcAft>
                <a:spcPts val="0"/>
              </a:spcAft>
              <a:defRPr sz="1000" b="1">
                <a:solidFill>
                  <a:srgbClr val="008C83"/>
                </a:solidFill>
                <a:latin typeface="Noto Sans"/>
              </a:defRPr>
            </a:pPr>
            <a:r>
              <a:t>AERODEPTH-LITE / DEEP LEARNING PROJECT</a:t>
            </a:r>
          </a:p>
        </p:txBody>
      </p:sp>
      <p:sp>
        <p:nvSpPr>
          <p:cNvPr id="3" name="TextBox 2"/>
          <p:cNvSpPr txBox="1"/>
          <p:nvPr/>
        </p:nvSpPr>
        <p:spPr>
          <a:xfrm>
            <a:off x="594360" y="777240"/>
            <a:ext cx="13441680" cy="621792"/>
          </a:xfrm>
          <a:prstGeom prst="rect">
            <a:avLst/>
          </a:prstGeom>
          <a:noFill/>
        </p:spPr>
        <p:txBody>
          <a:bodyPr wrap="none" lIns="0" rIns="0" tIns="0" bIns="0">
            <a:noAutofit/>
          </a:bodyPr>
          <a:lstStyle/>
          <a:p>
            <a:pPr algn="l">
              <a:lnSpc>
                <a:spcPts val="3569"/>
              </a:lnSpc>
              <a:spcBef>
                <a:spcPts val="0"/>
              </a:spcBef>
              <a:spcAft>
                <a:spcPts val="0"/>
              </a:spcAft>
              <a:defRPr sz="3000" b="1">
                <a:solidFill>
                  <a:srgbClr val="193447"/>
                </a:solidFill>
                <a:latin typeface="Noto Sans"/>
              </a:defRPr>
            </a:pPr>
            <a:r>
              <a:t>Dataset details</a:t>
            </a:r>
          </a:p>
        </p:txBody>
      </p:sp>
      <p:sp>
        <p:nvSpPr>
          <p:cNvPr id="4" name="TextBox 3"/>
          <p:cNvSpPr txBox="1"/>
          <p:nvPr/>
        </p:nvSpPr>
        <p:spPr>
          <a:xfrm>
            <a:off x="594360" y="1444752"/>
            <a:ext cx="13350240" cy="548640"/>
          </a:xfrm>
          <a:prstGeom prst="rect">
            <a:avLst/>
          </a:prstGeom>
          <a:noFill/>
        </p:spPr>
        <p:txBody>
          <a:bodyPr wrap="none" lIns="0" rIns="0" tIns="0" bIns="0">
            <a:noAutofit/>
          </a:bodyPr>
          <a:lstStyle/>
          <a:p>
            <a:pPr algn="l">
              <a:lnSpc>
                <a:spcPts val="1784"/>
              </a:lnSpc>
              <a:spcBef>
                <a:spcPts val="0"/>
              </a:spcBef>
              <a:spcAft>
                <a:spcPts val="0"/>
              </a:spcAft>
              <a:defRPr sz="1500" b="0">
                <a:solidFill>
                  <a:srgbClr val="526575"/>
                </a:solidFill>
                <a:latin typeface="Noto Sans"/>
              </a:defRPr>
            </a:pPr>
            <a:r>
              <a:t>MidAir · synthetic multi-modal data for low-altitude drone flights</a:t>
            </a:r>
          </a:p>
        </p:txBody>
      </p:sp>
      <p:sp>
        <p:nvSpPr>
          <p:cNvPr id="5" name="Rectangle 4"/>
          <p:cNvSpPr/>
          <p:nvPr/>
        </p:nvSpPr>
        <p:spPr>
          <a:xfrm>
            <a:off x="594360" y="7571231"/>
            <a:ext cx="13441680" cy="11887"/>
          </a:xfrm>
          <a:prstGeom prst="rect">
            <a:avLst/>
          </a:prstGeom>
          <a:solidFill>
            <a:srgbClr val="DC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7708392"/>
            <a:ext cx="12618720" cy="283464"/>
          </a:xfrm>
          <a:prstGeom prst="rect">
            <a:avLst/>
          </a:prstGeom>
          <a:noFill/>
        </p:spPr>
        <p:txBody>
          <a:bodyPr wrap="none" lIns="0" rIns="0" tIns="0" bIns="0">
            <a:noAutofit/>
          </a:bodyPr>
          <a:lstStyle/>
          <a:p>
            <a:pPr algn="l">
              <a:lnSpc>
                <a:spcPts val="1071"/>
              </a:lnSpc>
              <a:spcBef>
                <a:spcPts val="0"/>
              </a:spcBef>
              <a:spcAft>
                <a:spcPts val="0"/>
              </a:spcAft>
              <a:defRPr sz="900" b="0">
                <a:solidFill>
                  <a:srgbClr val="526575"/>
                </a:solidFill>
                <a:latin typeface="Noto Sans"/>
              </a:defRPr>
            </a:pPr>
            <a:r>
              <a:t>Sources: expanded_preparation_20261026/{manifest_train_val.json.gz,data_validation.json} · MidAir paper and FAQ</a:t>
            </a:r>
          </a:p>
        </p:txBody>
      </p:sp>
      <p:sp>
        <p:nvSpPr>
          <p:cNvPr id="7" name="TextBox 6"/>
          <p:cNvSpPr txBox="1"/>
          <p:nvPr/>
        </p:nvSpPr>
        <p:spPr>
          <a:xfrm>
            <a:off x="13258800" y="7662672"/>
            <a:ext cx="777240" cy="320040"/>
          </a:xfrm>
          <a:prstGeom prst="rect">
            <a:avLst/>
          </a:prstGeom>
          <a:noFill/>
        </p:spPr>
        <p:txBody>
          <a:bodyPr wrap="none" lIns="0" rIns="0" tIns="0" bIns="0">
            <a:noAutofit/>
          </a:bodyPr>
          <a:lstStyle/>
          <a:p>
            <a:pPr algn="r">
              <a:lnSpc>
                <a:spcPts val="1189"/>
              </a:lnSpc>
              <a:spcBef>
                <a:spcPts val="0"/>
              </a:spcBef>
              <a:spcAft>
                <a:spcPts val="0"/>
              </a:spcAft>
              <a:defRPr sz="1000" b="0">
                <a:solidFill>
                  <a:srgbClr val="526575"/>
                </a:solidFill>
                <a:latin typeface="Noto Sans"/>
              </a:defRPr>
            </a:pPr>
            <a:r>
              <a:t>06 / 13</a:t>
            </a:r>
          </a:p>
        </p:txBody>
      </p:sp>
      <p:sp>
        <p:nvSpPr>
          <p:cNvPr id="8" name="Rectangle 7"/>
          <p:cNvSpPr/>
          <p:nvPr/>
        </p:nvSpPr>
        <p:spPr>
          <a:xfrm>
            <a:off x="594360" y="2148840"/>
            <a:ext cx="2829153" cy="603504"/>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2276856"/>
            <a:ext cx="2573121" cy="420624"/>
          </a:xfrm>
          <a:prstGeom prst="rect">
            <a:avLst/>
          </a:prstGeom>
          <a:noFill/>
        </p:spPr>
        <p:txBody>
          <a:bodyPr wrap="none" lIns="0" rIns="0" tIns="0" bIns="0">
            <a:noAutofit/>
          </a:bodyPr>
          <a:lstStyle/>
          <a:p>
            <a:pPr algn="l">
              <a:lnSpc>
                <a:spcPts val="1904"/>
              </a:lnSpc>
              <a:spcBef>
                <a:spcPts val="0"/>
              </a:spcBef>
              <a:spcAft>
                <a:spcPts val="0"/>
              </a:spcAft>
              <a:defRPr sz="1600" b="1">
                <a:solidFill>
                  <a:srgbClr val="FFFFFF"/>
                </a:solidFill>
                <a:latin typeface="Noto Sans"/>
              </a:defRPr>
            </a:pPr>
            <a:r>
              <a:t>Project split</a:t>
            </a:r>
          </a:p>
        </p:txBody>
      </p:sp>
      <p:sp>
        <p:nvSpPr>
          <p:cNvPr id="10" name="Rectangle 9"/>
          <p:cNvSpPr/>
          <p:nvPr/>
        </p:nvSpPr>
        <p:spPr>
          <a:xfrm>
            <a:off x="3423513" y="2148840"/>
            <a:ext cx="1664208" cy="603504"/>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1529" y="2276856"/>
            <a:ext cx="1408176" cy="420624"/>
          </a:xfrm>
          <a:prstGeom prst="rect">
            <a:avLst/>
          </a:prstGeom>
          <a:noFill/>
        </p:spPr>
        <p:txBody>
          <a:bodyPr wrap="none" lIns="0" rIns="0" tIns="0" bIns="0">
            <a:noAutofit/>
          </a:bodyPr>
          <a:lstStyle/>
          <a:p>
            <a:pPr algn="l">
              <a:lnSpc>
                <a:spcPts val="1904"/>
              </a:lnSpc>
              <a:spcBef>
                <a:spcPts val="0"/>
              </a:spcBef>
              <a:spcAft>
                <a:spcPts val="0"/>
              </a:spcAft>
              <a:defRPr sz="1600" b="1">
                <a:solidFill>
                  <a:srgbClr val="FFFFFF"/>
                </a:solidFill>
                <a:latin typeface="Noto Sans"/>
              </a:defRPr>
            </a:pPr>
            <a:r>
              <a:t>Frames</a:t>
            </a:r>
          </a:p>
        </p:txBody>
      </p:sp>
      <p:sp>
        <p:nvSpPr>
          <p:cNvPr id="12" name="Rectangle 11"/>
          <p:cNvSpPr/>
          <p:nvPr/>
        </p:nvSpPr>
        <p:spPr>
          <a:xfrm>
            <a:off x="5087721" y="2148840"/>
            <a:ext cx="1580997" cy="603504"/>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5737" y="2276856"/>
            <a:ext cx="1324965" cy="420624"/>
          </a:xfrm>
          <a:prstGeom prst="rect">
            <a:avLst/>
          </a:prstGeom>
          <a:noFill/>
        </p:spPr>
        <p:txBody>
          <a:bodyPr wrap="none" lIns="0" rIns="0" tIns="0" bIns="0">
            <a:noAutofit/>
          </a:bodyPr>
          <a:lstStyle/>
          <a:p>
            <a:pPr algn="l">
              <a:lnSpc>
                <a:spcPts val="1904"/>
              </a:lnSpc>
              <a:spcBef>
                <a:spcPts val="0"/>
              </a:spcBef>
              <a:spcAft>
                <a:spcPts val="0"/>
              </a:spcAft>
              <a:defRPr sz="1600" b="1">
                <a:solidFill>
                  <a:srgbClr val="FFFFFF"/>
                </a:solidFill>
                <a:latin typeface="Noto Sans"/>
              </a:defRPr>
            </a:pPr>
            <a:r>
              <a:t>Paths</a:t>
            </a:r>
          </a:p>
        </p:txBody>
      </p:sp>
      <p:sp>
        <p:nvSpPr>
          <p:cNvPr id="14" name="Rectangle 13"/>
          <p:cNvSpPr/>
          <p:nvPr/>
        </p:nvSpPr>
        <p:spPr>
          <a:xfrm>
            <a:off x="6668719" y="2148840"/>
            <a:ext cx="2246680" cy="603504"/>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96735" y="2276856"/>
            <a:ext cx="1990648" cy="420624"/>
          </a:xfrm>
          <a:prstGeom prst="rect">
            <a:avLst/>
          </a:prstGeom>
          <a:noFill/>
        </p:spPr>
        <p:txBody>
          <a:bodyPr wrap="none" lIns="0" rIns="0" tIns="0" bIns="0">
            <a:noAutofit/>
          </a:bodyPr>
          <a:lstStyle/>
          <a:p>
            <a:pPr algn="l">
              <a:lnSpc>
                <a:spcPts val="1904"/>
              </a:lnSpc>
              <a:spcBef>
                <a:spcPts val="0"/>
              </a:spcBef>
              <a:spcAft>
                <a:spcPts val="0"/>
              </a:spcAft>
              <a:defRPr sz="1600" b="1">
                <a:solidFill>
                  <a:srgbClr val="FFFFFF"/>
                </a:solidFill>
                <a:latin typeface="Noto Sans"/>
              </a:defRPr>
            </a:pPr>
            <a:r>
              <a:t>Status</a:t>
            </a:r>
          </a:p>
        </p:txBody>
      </p:sp>
      <p:sp>
        <p:nvSpPr>
          <p:cNvPr id="16" name="Rectangle 15"/>
          <p:cNvSpPr/>
          <p:nvPr/>
        </p:nvSpPr>
        <p:spPr>
          <a:xfrm>
            <a:off x="594360" y="2752344"/>
            <a:ext cx="2829153"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2880360"/>
            <a:ext cx="2573121" cy="420624"/>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Expanded train</a:t>
            </a:r>
          </a:p>
        </p:txBody>
      </p:sp>
      <p:sp>
        <p:nvSpPr>
          <p:cNvPr id="18" name="Rectangle 17"/>
          <p:cNvSpPr/>
          <p:nvPr/>
        </p:nvSpPr>
        <p:spPr>
          <a:xfrm>
            <a:off x="3423513" y="2752344"/>
            <a:ext cx="1664208"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1529" y="2880360"/>
            <a:ext cx="1408176" cy="420624"/>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44,098</a:t>
            </a:r>
          </a:p>
        </p:txBody>
      </p:sp>
      <p:sp>
        <p:nvSpPr>
          <p:cNvPr id="20" name="Rectangle 19"/>
          <p:cNvSpPr/>
          <p:nvPr/>
        </p:nvSpPr>
        <p:spPr>
          <a:xfrm>
            <a:off x="5087721" y="2752344"/>
            <a:ext cx="1580997"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5737" y="2880360"/>
            <a:ext cx="1324965" cy="420624"/>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12</a:t>
            </a:r>
          </a:p>
        </p:txBody>
      </p:sp>
      <p:sp>
        <p:nvSpPr>
          <p:cNvPr id="22" name="Rectangle 21"/>
          <p:cNvSpPr/>
          <p:nvPr/>
        </p:nvSpPr>
        <p:spPr>
          <a:xfrm>
            <a:off x="6668719" y="2752344"/>
            <a:ext cx="224668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96735" y="2880360"/>
            <a:ext cx="1990648" cy="420624"/>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Completed</a:t>
            </a:r>
          </a:p>
        </p:txBody>
      </p:sp>
      <p:sp>
        <p:nvSpPr>
          <p:cNvPr id="24" name="Rectangle 23"/>
          <p:cNvSpPr/>
          <p:nvPr/>
        </p:nvSpPr>
        <p:spPr>
          <a:xfrm>
            <a:off x="594360" y="3355848"/>
            <a:ext cx="2829153" cy="603504"/>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3483864"/>
            <a:ext cx="2573121" cy="420624"/>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Validation</a:t>
            </a:r>
          </a:p>
        </p:txBody>
      </p:sp>
      <p:sp>
        <p:nvSpPr>
          <p:cNvPr id="26" name="Rectangle 25"/>
          <p:cNvSpPr/>
          <p:nvPr/>
        </p:nvSpPr>
        <p:spPr>
          <a:xfrm>
            <a:off x="3423513" y="3355848"/>
            <a:ext cx="1664208" cy="603504"/>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51529" y="3483864"/>
            <a:ext cx="1408176" cy="420624"/>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4,410</a:t>
            </a:r>
          </a:p>
        </p:txBody>
      </p:sp>
      <p:sp>
        <p:nvSpPr>
          <p:cNvPr id="28" name="Rectangle 27"/>
          <p:cNvSpPr/>
          <p:nvPr/>
        </p:nvSpPr>
        <p:spPr>
          <a:xfrm>
            <a:off x="5087721" y="3355848"/>
            <a:ext cx="1580997" cy="603504"/>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5737" y="3483864"/>
            <a:ext cx="1324965" cy="420624"/>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2</a:t>
            </a:r>
          </a:p>
        </p:txBody>
      </p:sp>
      <p:sp>
        <p:nvSpPr>
          <p:cNvPr id="30" name="Rectangle 29"/>
          <p:cNvSpPr/>
          <p:nvPr/>
        </p:nvSpPr>
        <p:spPr>
          <a:xfrm>
            <a:off x="6668719" y="3355848"/>
            <a:ext cx="2246680" cy="603504"/>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96735" y="3483864"/>
            <a:ext cx="1990648" cy="420624"/>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Selection / analysis</a:t>
            </a:r>
          </a:p>
        </p:txBody>
      </p:sp>
      <p:sp>
        <p:nvSpPr>
          <p:cNvPr id="32" name="Rectangle 31"/>
          <p:cNvSpPr/>
          <p:nvPr/>
        </p:nvSpPr>
        <p:spPr>
          <a:xfrm>
            <a:off x="594360" y="3959352"/>
            <a:ext cx="2829153"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 y="4087368"/>
            <a:ext cx="2573121" cy="420624"/>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Reserved new test</a:t>
            </a:r>
          </a:p>
        </p:txBody>
      </p:sp>
      <p:sp>
        <p:nvSpPr>
          <p:cNvPr id="34" name="Rectangle 33"/>
          <p:cNvSpPr/>
          <p:nvPr/>
        </p:nvSpPr>
        <p:spPr>
          <a:xfrm>
            <a:off x="3423513" y="3959352"/>
            <a:ext cx="1664208"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51529" y="4087368"/>
            <a:ext cx="1408176" cy="420624"/>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8,820*</a:t>
            </a:r>
          </a:p>
        </p:txBody>
      </p:sp>
      <p:sp>
        <p:nvSpPr>
          <p:cNvPr id="36" name="Rectangle 35"/>
          <p:cNvSpPr/>
          <p:nvPr/>
        </p:nvSpPr>
        <p:spPr>
          <a:xfrm>
            <a:off x="5087721" y="3959352"/>
            <a:ext cx="1580997"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5737" y="4087368"/>
            <a:ext cx="1324965" cy="420624"/>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4</a:t>
            </a:r>
          </a:p>
        </p:txBody>
      </p:sp>
      <p:sp>
        <p:nvSpPr>
          <p:cNvPr id="38" name="Rectangle 37"/>
          <p:cNvSpPr/>
          <p:nvPr/>
        </p:nvSpPr>
        <p:spPr>
          <a:xfrm>
            <a:off x="6668719" y="3959352"/>
            <a:ext cx="224668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96735" y="4087368"/>
            <a:ext cx="1990648" cy="420624"/>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NOT RUN</a:t>
            </a:r>
          </a:p>
        </p:txBody>
      </p:sp>
      <p:sp>
        <p:nvSpPr>
          <p:cNvPr id="40" name="TextBox 39"/>
          <p:cNvSpPr txBox="1"/>
          <p:nvPr/>
        </p:nvSpPr>
        <p:spPr>
          <a:xfrm>
            <a:off x="594360" y="4754880"/>
            <a:ext cx="8275320" cy="457200"/>
          </a:xfrm>
          <a:prstGeom prst="rect">
            <a:avLst/>
          </a:prstGeom>
          <a:noFill/>
        </p:spPr>
        <p:txBody>
          <a:bodyPr wrap="none" lIns="0" rIns="0" tIns="0" bIns="0">
            <a:noAutofit/>
          </a:bodyPr>
          <a:lstStyle/>
          <a:p>
            <a:pPr algn="l">
              <a:lnSpc>
                <a:spcPts val="2618"/>
              </a:lnSpc>
              <a:spcBef>
                <a:spcPts val="0"/>
              </a:spcBef>
              <a:spcAft>
                <a:spcPts val="0"/>
              </a:spcAft>
              <a:defRPr sz="2200" b="1">
                <a:solidFill>
                  <a:srgbClr val="008C83"/>
                </a:solidFill>
                <a:latin typeface="Noto Sans"/>
              </a:defRPr>
            </a:pPr>
            <a:r>
              <a:t>48,508 available train + validation pairs</a:t>
            </a:r>
          </a:p>
        </p:txBody>
      </p:sp>
      <p:sp>
        <p:nvSpPr>
          <p:cNvPr id="41" name="TextBox 40"/>
          <p:cNvSpPr txBox="1"/>
          <p:nvPr/>
        </p:nvSpPr>
        <p:spPr>
          <a:xfrm>
            <a:off x="594360" y="5376672"/>
            <a:ext cx="8229600" cy="1371600"/>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Train: Kite 17,640 · PLE 26,458</a:t>
            </a:r>
          </a:p>
          <a:p>
            <a:pPr algn="l">
              <a:lnSpc>
                <a:spcPts val="1904"/>
              </a:lnSpc>
              <a:spcBef>
                <a:spcPts val="0"/>
              </a:spcBef>
              <a:spcAft>
                <a:spcPts val="0"/>
              </a:spcAft>
              <a:defRPr sz="1600" b="0">
                <a:solidFill>
                  <a:srgbClr val="193447"/>
                </a:solidFill>
                <a:latin typeface="Noto Sans"/>
              </a:defRPr>
            </a:pPr>
            <a:r>
              <a:t>Validation: Kite 2,205 · PLE 2,205</a:t>
            </a:r>
          </a:p>
          <a:p>
            <a:pPr algn="l">
              <a:lnSpc>
                <a:spcPts val="1904"/>
              </a:lnSpc>
              <a:spcBef>
                <a:spcPts val="0"/>
              </a:spcBef>
              <a:spcAft>
                <a:spcPts val="0"/>
              </a:spcAft>
              <a:defRPr sz="1600" b="0">
                <a:solidFill>
                  <a:srgbClr val="193447"/>
                </a:solidFill>
                <a:latin typeface="Noto Sans"/>
              </a:defRPr>
            </a:pPr>
            <a:r>
              <a:t>Classes / per-class counts: not applicable (dense regression).</a:t>
            </a:r>
          </a:p>
        </p:txBody>
      </p:sp>
      <p:sp>
        <p:nvSpPr>
          <p:cNvPr id="42" name="Rectangle 41"/>
          <p:cNvSpPr/>
          <p:nvPr/>
        </p:nvSpPr>
        <p:spPr>
          <a:xfrm>
            <a:off x="9189720" y="2148840"/>
            <a:ext cx="4846320" cy="4800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18320" y="2377440"/>
            <a:ext cx="4389120" cy="365760"/>
          </a:xfrm>
          <a:prstGeom prst="rect">
            <a:avLst/>
          </a:prstGeom>
          <a:noFill/>
        </p:spPr>
        <p:txBody>
          <a:bodyPr wrap="none" lIns="0" rIns="0" tIns="0" bIns="0">
            <a:noAutofit/>
          </a:bodyPr>
          <a:lstStyle/>
          <a:p>
            <a:pPr algn="l">
              <a:lnSpc>
                <a:spcPts val="1547"/>
              </a:lnSpc>
              <a:spcBef>
                <a:spcPts val="0"/>
              </a:spcBef>
              <a:spcAft>
                <a:spcPts val="0"/>
              </a:spcAft>
              <a:defRPr sz="1300" b="1">
                <a:solidFill>
                  <a:srgbClr val="008C83"/>
                </a:solidFill>
                <a:latin typeface="Noto Sans"/>
              </a:defRPr>
            </a:pPr>
            <a:r>
              <a:t>FORMAT &amp; DATA QUALITY</a:t>
            </a:r>
          </a:p>
        </p:txBody>
      </p:sp>
      <p:sp>
        <p:nvSpPr>
          <p:cNvPr id="44" name="TextBox 43"/>
          <p:cNvSpPr txBox="1"/>
          <p:nvPr/>
        </p:nvSpPr>
        <p:spPr>
          <a:xfrm>
            <a:off x="9418320" y="2898648"/>
            <a:ext cx="4389120" cy="3566160"/>
          </a:xfrm>
          <a:prstGeom prst="rect">
            <a:avLst/>
          </a:prstGeom>
          <a:noFill/>
        </p:spPr>
        <p:txBody>
          <a:bodyPr wrap="none" lIns="0" rIns="0" tIns="0" bIns="0">
            <a:noAutofit/>
          </a:bodyPr>
          <a:lstStyle/>
          <a:p>
            <a:pPr algn="l">
              <a:lnSpc>
                <a:spcPts val="1904"/>
              </a:lnSpc>
              <a:spcBef>
                <a:spcPts val="0"/>
              </a:spcBef>
              <a:spcAft>
                <a:spcPts val="0"/>
              </a:spcAft>
              <a:defRPr sz="1600" b="0">
                <a:solidFill>
                  <a:srgbClr val="193447"/>
                </a:solidFill>
                <a:latin typeface="Noto Sans"/>
              </a:defRPr>
            </a:pPr>
            <a:r>
              <a:t>RGB: 1024 × 1024 JPEG</a:t>
            </a:r>
          </a:p>
          <a:p>
            <a:pPr algn="l">
              <a:lnSpc>
                <a:spcPts val="1904"/>
              </a:lnSpc>
              <a:spcBef>
                <a:spcPts val="0"/>
              </a:spcBef>
              <a:spcAft>
                <a:spcPts val="0"/>
              </a:spcAft>
              <a:defRPr sz="1600" b="0">
                <a:solidFill>
                  <a:srgbClr val="193447"/>
                </a:solidFill>
                <a:latin typeface="Noto Sans"/>
              </a:defRPr>
            </a:pPr>
            <a:r>
              <a:t>Range: uint16 PNG / float16 bits</a:t>
            </a:r>
          </a:p>
          <a:p>
            <a:pPr algn="l">
              <a:lnSpc>
                <a:spcPts val="1904"/>
              </a:lnSpc>
              <a:spcBef>
                <a:spcPts val="0"/>
              </a:spcBef>
              <a:spcAft>
                <a:spcPts val="0"/>
              </a:spcAft>
              <a:defRPr sz="1600" b="0">
                <a:solidFill>
                  <a:srgbClr val="193447"/>
                </a:solidFill>
                <a:latin typeface="Noto Sans"/>
              </a:defRPr>
            </a:pPr>
            <a:r>
              <a:t>Sensors: HDF5 (IMU / GPS)</a:t>
            </a:r>
          </a:p>
          <a:p>
            <a:pPr algn="l">
              <a:lnSpc>
                <a:spcPts val="1904"/>
              </a:lnSpc>
              <a:spcBef>
                <a:spcPts val="0"/>
              </a:spcBef>
              <a:spcAft>
                <a:spcPts val="0"/>
              </a:spcAft>
              <a:defRPr sz="1600" b="0">
                <a:solidFill>
                  <a:srgbClr val="193447"/>
                </a:solidFill>
                <a:latin typeface="Noto Sans"/>
              </a:defRPr>
            </a:pPr>
          </a:p>
          <a:p>
            <a:pPr algn="l">
              <a:lnSpc>
                <a:spcPts val="1904"/>
              </a:lnSpc>
              <a:spcBef>
                <a:spcPts val="0"/>
              </a:spcBef>
              <a:spcAft>
                <a:spcPts val="0"/>
              </a:spcAft>
              <a:defRPr sz="1600" b="0">
                <a:solidFill>
                  <a:srgbClr val="193447"/>
                </a:solidFill>
                <a:latin typeface="Noto Sans"/>
              </a:defRPr>
            </a:pPr>
            <a:r>
              <a:t>0 duplicate RGB paths in manifest.</a:t>
            </a:r>
          </a:p>
          <a:p>
            <a:pPr algn="l">
              <a:lnSpc>
                <a:spcPts val="1904"/>
              </a:lnSpc>
              <a:spcBef>
                <a:spcPts val="0"/>
              </a:spcBef>
              <a:spcAft>
                <a:spcPts val="0"/>
              </a:spcAft>
              <a:defRPr sz="1600" b="0">
                <a:solidFill>
                  <a:srgbClr val="193447"/>
                </a:solidFill>
                <a:latin typeface="Noto Sans"/>
              </a:defRPr>
            </a:pPr>
            <a:r>
              <a:t>Invalid range pixels are masked.</a:t>
            </a:r>
          </a:p>
          <a:p>
            <a:pPr algn="l">
              <a:lnSpc>
                <a:spcPts val="1904"/>
              </a:lnSpc>
              <a:spcBef>
                <a:spcPts val="0"/>
              </a:spcBef>
              <a:spcAft>
                <a:spcPts val="0"/>
              </a:spcAft>
              <a:defRPr sz="1600" b="0">
                <a:solidFill>
                  <a:srgbClr val="193447"/>
                </a:solidFill>
                <a:latin typeface="Noto Sans"/>
              </a:defRPr>
            </a:pPr>
            <a:r>
              <a:t>Near-field evaluation is imbalanced: 97.23% of</a:t>
            </a:r>
          </a:p>
          <a:p>
            <a:pPr algn="l">
              <a:lnSpc>
                <a:spcPts val="1904"/>
              </a:lnSpc>
              <a:spcBef>
                <a:spcPts val="0"/>
              </a:spcBef>
              <a:spcAft>
                <a:spcPts val="0"/>
              </a:spcAft>
              <a:defRPr sz="1600" b="0">
                <a:solidFill>
                  <a:srgbClr val="193447"/>
                </a:solidFill>
                <a:latin typeface="Noto Sans"/>
              </a:defRPr>
            </a:pPr>
            <a:r>
              <a:t>near pixels are from PLE.</a:t>
            </a:r>
          </a:p>
        </p:txBody>
      </p:sp>
      <p:sp>
        <p:nvSpPr>
          <p:cNvPr id="45" name="TextBox 44"/>
          <p:cNvSpPr txBox="1"/>
          <p:nvPr/>
        </p:nvSpPr>
        <p:spPr>
          <a:xfrm>
            <a:off x="594360" y="6720840"/>
            <a:ext cx="8229600" cy="594360"/>
          </a:xfrm>
          <a:prstGeom prst="rect">
            <a:avLst/>
          </a:prstGeom>
          <a:noFill/>
        </p:spPr>
        <p:txBody>
          <a:bodyPr wrap="none" lIns="0" rIns="0" tIns="0" bIns="0">
            <a:noAutofit/>
          </a:bodyPr>
          <a:lstStyle/>
          <a:p>
            <a:pPr algn="l">
              <a:lnSpc>
                <a:spcPts val="1428"/>
              </a:lnSpc>
              <a:spcBef>
                <a:spcPts val="0"/>
              </a:spcBef>
              <a:spcAft>
                <a:spcPts val="0"/>
              </a:spcAft>
              <a:defRPr sz="1200" b="0">
                <a:solidFill>
                  <a:srgbClr val="526575"/>
                </a:solidFill>
                <a:latin typeface="Noto Sans"/>
              </a:defRPr>
            </a:pPr>
            <a:r>
              <a:t>*Expected from metadata; 8 RGB/depth archives missing. Legacy 4,436-frame test is historical and excluded</a:t>
            </a:r>
          </a:p>
          <a:p>
            <a:pPr algn="l">
              <a:lnSpc>
                <a:spcPts val="1428"/>
              </a:lnSpc>
              <a:spcBef>
                <a:spcPts val="0"/>
              </a:spcBef>
              <a:spcAft>
                <a:spcPts val="0"/>
              </a:spcAft>
              <a:defRPr sz="1200" b="0">
                <a:solidFill>
                  <a:srgbClr val="526575"/>
                </a:solidFill>
                <a:latin typeface="Noto Sans"/>
              </a:defRPr>
            </a:pPr>
            <a:r>
              <a:t>from this split.</a:t>
            </a:r>
          </a:p>
        </p:txBody>
      </p:sp>
      <p:sp>
        <p:nvSpPr>
          <p:cNvPr id="46" name="TextBox 45"/>
          <p:cNvSpPr txBox="1"/>
          <p:nvPr/>
        </p:nvSpPr>
        <p:spPr>
          <a:xfrm>
            <a:off x="9418320" y="6464808"/>
            <a:ext cx="4389120" cy="320040"/>
          </a:xfrm>
          <a:prstGeom prst="rect">
            <a:avLst/>
          </a:prstGeom>
          <a:noFill/>
        </p:spPr>
        <p:txBody>
          <a:bodyPr wrap="none" lIns="0" rIns="0" tIns="0" bIns="0">
            <a:noAutofit/>
          </a:bodyPr>
          <a:lstStyle/>
          <a:p>
            <a:pPr algn="l">
              <a:lnSpc>
                <a:spcPts val="1428"/>
              </a:lnSpc>
              <a:spcBef>
                <a:spcPts val="0"/>
              </a:spcBef>
              <a:spcAft>
                <a:spcPts val="0"/>
              </a:spcAft>
              <a:defRPr sz="1200" b="1">
                <a:solidFill>
                  <a:srgbClr val="008C83"/>
                </a:solidFill>
                <a:latin typeface="Noto Sans"/>
              </a:defRPr>
            </a:pPr>
            <a:r>
              <a:rPr>
                <a:hlinkClick r:id="rId2"/>
              </a:rPr>
              <a:t>Dataset source / download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292608"/>
            <a:ext cx="11887200" cy="228600"/>
          </a:xfrm>
          <a:prstGeom prst="rect">
            <a:avLst/>
          </a:prstGeom>
          <a:noFill/>
        </p:spPr>
        <p:txBody>
          <a:bodyPr wrap="none" lIns="0" rIns="0" tIns="0" bIns="0">
            <a:noAutofit/>
          </a:bodyPr>
          <a:lstStyle/>
          <a:p>
            <a:pPr algn="l">
              <a:lnSpc>
                <a:spcPts val="1189"/>
              </a:lnSpc>
              <a:spcBef>
                <a:spcPts val="0"/>
              </a:spcBef>
              <a:spcAft>
                <a:spcPts val="0"/>
              </a:spcAft>
              <a:defRPr sz="1000" b="1">
                <a:solidFill>
                  <a:srgbClr val="008C83"/>
                </a:solidFill>
                <a:latin typeface="Noto Sans"/>
              </a:defRPr>
            </a:pPr>
            <a:r>
              <a:t>AERODEPTH-LITE / DEEP LEARNING PROJECT</a:t>
            </a:r>
          </a:p>
        </p:txBody>
      </p:sp>
      <p:sp>
        <p:nvSpPr>
          <p:cNvPr id="3" name="TextBox 2"/>
          <p:cNvSpPr txBox="1"/>
          <p:nvPr/>
        </p:nvSpPr>
        <p:spPr>
          <a:xfrm>
            <a:off x="594360" y="777240"/>
            <a:ext cx="13441680" cy="621792"/>
          </a:xfrm>
          <a:prstGeom prst="rect">
            <a:avLst/>
          </a:prstGeom>
          <a:noFill/>
        </p:spPr>
        <p:txBody>
          <a:bodyPr wrap="none" lIns="0" rIns="0" tIns="0" bIns="0">
            <a:noAutofit/>
          </a:bodyPr>
          <a:lstStyle/>
          <a:p>
            <a:pPr algn="l">
              <a:lnSpc>
                <a:spcPts val="3569"/>
              </a:lnSpc>
              <a:spcBef>
                <a:spcPts val="0"/>
              </a:spcBef>
              <a:spcAft>
                <a:spcPts val="0"/>
              </a:spcAft>
              <a:defRPr sz="3000" b="1">
                <a:solidFill>
                  <a:srgbClr val="193447"/>
                </a:solidFill>
                <a:latin typeface="Noto Sans"/>
              </a:defRPr>
            </a:pPr>
            <a:r>
              <a:t>Data preprocessing and leakage controls</a:t>
            </a:r>
          </a:p>
        </p:txBody>
      </p:sp>
      <p:sp>
        <p:nvSpPr>
          <p:cNvPr id="4" name="TextBox 3"/>
          <p:cNvSpPr txBox="1"/>
          <p:nvPr/>
        </p:nvSpPr>
        <p:spPr>
          <a:xfrm>
            <a:off x="594360" y="1444752"/>
            <a:ext cx="13350240" cy="548640"/>
          </a:xfrm>
          <a:prstGeom prst="rect">
            <a:avLst/>
          </a:prstGeom>
          <a:noFill/>
        </p:spPr>
        <p:txBody>
          <a:bodyPr wrap="none" lIns="0" rIns="0" tIns="0" bIns="0">
            <a:noAutofit/>
          </a:bodyPr>
          <a:lstStyle/>
          <a:p>
            <a:pPr algn="l">
              <a:lnSpc>
                <a:spcPts val="1784"/>
              </a:lnSpc>
              <a:spcBef>
                <a:spcPts val="0"/>
              </a:spcBef>
              <a:spcAft>
                <a:spcPts val="0"/>
              </a:spcAft>
              <a:defRPr sz="1500" b="0">
                <a:solidFill>
                  <a:srgbClr val="526575"/>
                </a:solidFill>
                <a:latin typeface="Noto Sans"/>
              </a:defRPr>
            </a:pPr>
            <a:r>
              <a:t>Preserve the range target and keep related flight paths in one split.</a:t>
            </a:r>
          </a:p>
        </p:txBody>
      </p:sp>
      <p:sp>
        <p:nvSpPr>
          <p:cNvPr id="5" name="Rectangle 4"/>
          <p:cNvSpPr/>
          <p:nvPr/>
        </p:nvSpPr>
        <p:spPr>
          <a:xfrm>
            <a:off x="594360" y="7571231"/>
            <a:ext cx="13441680" cy="11887"/>
          </a:xfrm>
          <a:prstGeom prst="rect">
            <a:avLst/>
          </a:prstGeom>
          <a:solidFill>
            <a:srgbClr val="DC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7708392"/>
            <a:ext cx="12618720" cy="283464"/>
          </a:xfrm>
          <a:prstGeom prst="rect">
            <a:avLst/>
          </a:prstGeom>
          <a:noFill/>
        </p:spPr>
        <p:txBody>
          <a:bodyPr wrap="none" lIns="0" rIns="0" tIns="0" bIns="0">
            <a:noAutofit/>
          </a:bodyPr>
          <a:lstStyle/>
          <a:p>
            <a:pPr algn="l">
              <a:lnSpc>
                <a:spcPts val="1071"/>
              </a:lnSpc>
              <a:spcBef>
                <a:spcPts val="0"/>
              </a:spcBef>
              <a:spcAft>
                <a:spcPts val="0"/>
              </a:spcAft>
              <a:defRPr sz="900" b="0">
                <a:solidFill>
                  <a:srgbClr val="526575"/>
                </a:solidFill>
                <a:latin typeface="Noto Sans"/>
              </a:defRPr>
            </a:pPr>
            <a:r>
              <a:t>Source: docs/expanded_training.md · expanded_preparation_20261026/dataset_contract.json · src/aerodepth_lite/data.py</a:t>
            </a:r>
          </a:p>
        </p:txBody>
      </p:sp>
      <p:sp>
        <p:nvSpPr>
          <p:cNvPr id="7" name="TextBox 6"/>
          <p:cNvSpPr txBox="1"/>
          <p:nvPr/>
        </p:nvSpPr>
        <p:spPr>
          <a:xfrm>
            <a:off x="13258800" y="7662672"/>
            <a:ext cx="777240" cy="320040"/>
          </a:xfrm>
          <a:prstGeom prst="rect">
            <a:avLst/>
          </a:prstGeom>
          <a:noFill/>
        </p:spPr>
        <p:txBody>
          <a:bodyPr wrap="none" lIns="0" rIns="0" tIns="0" bIns="0">
            <a:noAutofit/>
          </a:bodyPr>
          <a:lstStyle/>
          <a:p>
            <a:pPr algn="r">
              <a:lnSpc>
                <a:spcPts val="1189"/>
              </a:lnSpc>
              <a:spcBef>
                <a:spcPts val="0"/>
              </a:spcBef>
              <a:spcAft>
                <a:spcPts val="0"/>
              </a:spcAft>
              <a:defRPr sz="1000" b="0">
                <a:solidFill>
                  <a:srgbClr val="526575"/>
                </a:solidFill>
                <a:latin typeface="Noto Sans"/>
              </a:defRPr>
            </a:pPr>
            <a:r>
              <a:t>07 / 13</a:t>
            </a:r>
          </a:p>
        </p:txBody>
      </p:sp>
      <p:sp>
        <p:nvSpPr>
          <p:cNvPr id="8" name="TextBox 7"/>
          <p:cNvSpPr txBox="1"/>
          <p:nvPr/>
        </p:nvSpPr>
        <p:spPr>
          <a:xfrm>
            <a:off x="658368" y="2194560"/>
            <a:ext cx="548640" cy="365760"/>
          </a:xfrm>
          <a:prstGeom prst="rect">
            <a:avLst/>
          </a:prstGeom>
          <a:noFill/>
        </p:spPr>
        <p:txBody>
          <a:bodyPr wrap="none" lIns="0" rIns="0" tIns="0" bIns="0">
            <a:noAutofit/>
          </a:bodyPr>
          <a:lstStyle/>
          <a:p>
            <a:pPr algn="l">
              <a:lnSpc>
                <a:spcPts val="2261"/>
              </a:lnSpc>
              <a:spcBef>
                <a:spcPts val="0"/>
              </a:spcBef>
              <a:spcAft>
                <a:spcPts val="0"/>
              </a:spcAft>
              <a:defRPr sz="1900" b="1">
                <a:solidFill>
                  <a:srgbClr val="008C83"/>
                </a:solidFill>
                <a:latin typeface="Noto Sans"/>
              </a:defRPr>
            </a:pPr>
            <a:r>
              <a:t>01</a:t>
            </a:r>
          </a:p>
        </p:txBody>
      </p:sp>
      <p:sp>
        <p:nvSpPr>
          <p:cNvPr id="9" name="TextBox 8"/>
          <p:cNvSpPr txBox="1"/>
          <p:nvPr/>
        </p:nvSpPr>
        <p:spPr>
          <a:xfrm>
            <a:off x="1371600" y="2194560"/>
            <a:ext cx="3886200" cy="457200"/>
          </a:xfrm>
          <a:prstGeom prst="rect">
            <a:avLst/>
          </a:prstGeom>
          <a:noFill/>
        </p:spPr>
        <p:txBody>
          <a:bodyPr wrap="none" lIns="0" rIns="0" tIns="0" bIns="0">
            <a:noAutofit/>
          </a:bodyPr>
          <a:lstStyle/>
          <a:p>
            <a:pPr algn="l">
              <a:lnSpc>
                <a:spcPts val="2379"/>
              </a:lnSpc>
              <a:spcBef>
                <a:spcPts val="0"/>
              </a:spcBef>
              <a:spcAft>
                <a:spcPts val="0"/>
              </a:spcAft>
              <a:defRPr sz="2000" b="1">
                <a:solidFill>
                  <a:srgbClr val="193447"/>
                </a:solidFill>
                <a:latin typeface="Noto Sans"/>
              </a:defRPr>
            </a:pPr>
            <a:r>
              <a:t>Validate pairs</a:t>
            </a:r>
          </a:p>
        </p:txBody>
      </p:sp>
      <p:sp>
        <p:nvSpPr>
          <p:cNvPr id="10" name="TextBox 9"/>
          <p:cNvSpPr txBox="1"/>
          <p:nvPr/>
        </p:nvSpPr>
        <p:spPr>
          <a:xfrm>
            <a:off x="5394960" y="2194560"/>
            <a:ext cx="8229600" cy="822960"/>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Match RGB, range and sensor records using the frozen allowlist.</a:t>
            </a:r>
          </a:p>
        </p:txBody>
      </p:sp>
      <p:sp>
        <p:nvSpPr>
          <p:cNvPr id="11" name="TextBox 10"/>
          <p:cNvSpPr txBox="1"/>
          <p:nvPr/>
        </p:nvSpPr>
        <p:spPr>
          <a:xfrm>
            <a:off x="658368" y="3291839"/>
            <a:ext cx="548640" cy="365760"/>
          </a:xfrm>
          <a:prstGeom prst="rect">
            <a:avLst/>
          </a:prstGeom>
          <a:noFill/>
        </p:spPr>
        <p:txBody>
          <a:bodyPr wrap="none" lIns="0" rIns="0" tIns="0" bIns="0">
            <a:noAutofit/>
          </a:bodyPr>
          <a:lstStyle/>
          <a:p>
            <a:pPr algn="l">
              <a:lnSpc>
                <a:spcPts val="2261"/>
              </a:lnSpc>
              <a:spcBef>
                <a:spcPts val="0"/>
              </a:spcBef>
              <a:spcAft>
                <a:spcPts val="0"/>
              </a:spcAft>
              <a:defRPr sz="1900" b="1">
                <a:solidFill>
                  <a:srgbClr val="008C83"/>
                </a:solidFill>
                <a:latin typeface="Noto Sans"/>
              </a:defRPr>
            </a:pPr>
            <a:r>
              <a:t>02</a:t>
            </a:r>
          </a:p>
        </p:txBody>
      </p:sp>
      <p:sp>
        <p:nvSpPr>
          <p:cNvPr id="12" name="TextBox 11"/>
          <p:cNvSpPr txBox="1"/>
          <p:nvPr/>
        </p:nvSpPr>
        <p:spPr>
          <a:xfrm>
            <a:off x="1371600" y="3291839"/>
            <a:ext cx="3886200" cy="457200"/>
          </a:xfrm>
          <a:prstGeom prst="rect">
            <a:avLst/>
          </a:prstGeom>
          <a:noFill/>
        </p:spPr>
        <p:txBody>
          <a:bodyPr wrap="none" lIns="0" rIns="0" tIns="0" bIns="0">
            <a:noAutofit/>
          </a:bodyPr>
          <a:lstStyle/>
          <a:p>
            <a:pPr algn="l">
              <a:lnSpc>
                <a:spcPts val="2379"/>
              </a:lnSpc>
              <a:spcBef>
                <a:spcPts val="0"/>
              </a:spcBef>
              <a:spcAft>
                <a:spcPts val="0"/>
              </a:spcAft>
              <a:defRPr sz="2000" b="1">
                <a:solidFill>
                  <a:srgbClr val="193447"/>
                </a:solidFill>
                <a:latin typeface="Noto Sans"/>
              </a:defRPr>
            </a:pPr>
            <a:r>
              <a:t>Decode &amp; mask</a:t>
            </a:r>
          </a:p>
        </p:txBody>
      </p:sp>
      <p:sp>
        <p:nvSpPr>
          <p:cNvPr id="13" name="TextBox 12"/>
          <p:cNvSpPr txBox="1"/>
          <p:nvPr/>
        </p:nvSpPr>
        <p:spPr>
          <a:xfrm>
            <a:off x="5394960" y="3291839"/>
            <a:ext cx="8229600" cy="822960"/>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Reinterpret PNG bits as float16 range. Keep finite GT in [0.1, 1000] m.</a:t>
            </a:r>
          </a:p>
        </p:txBody>
      </p:sp>
      <p:sp>
        <p:nvSpPr>
          <p:cNvPr id="14" name="TextBox 13"/>
          <p:cNvSpPr txBox="1"/>
          <p:nvPr/>
        </p:nvSpPr>
        <p:spPr>
          <a:xfrm>
            <a:off x="658368" y="4389120"/>
            <a:ext cx="548640" cy="365760"/>
          </a:xfrm>
          <a:prstGeom prst="rect">
            <a:avLst/>
          </a:prstGeom>
          <a:noFill/>
        </p:spPr>
        <p:txBody>
          <a:bodyPr wrap="none" lIns="0" rIns="0" tIns="0" bIns="0">
            <a:noAutofit/>
          </a:bodyPr>
          <a:lstStyle/>
          <a:p>
            <a:pPr algn="l">
              <a:lnSpc>
                <a:spcPts val="2261"/>
              </a:lnSpc>
              <a:spcBef>
                <a:spcPts val="0"/>
              </a:spcBef>
              <a:spcAft>
                <a:spcPts val="0"/>
              </a:spcAft>
              <a:defRPr sz="1900" b="1">
                <a:solidFill>
                  <a:srgbClr val="008C83"/>
                </a:solidFill>
                <a:latin typeface="Noto Sans"/>
              </a:defRPr>
            </a:pPr>
            <a:r>
              <a:t>03</a:t>
            </a:r>
          </a:p>
        </p:txBody>
      </p:sp>
      <p:sp>
        <p:nvSpPr>
          <p:cNvPr id="15" name="TextBox 14"/>
          <p:cNvSpPr txBox="1"/>
          <p:nvPr/>
        </p:nvSpPr>
        <p:spPr>
          <a:xfrm>
            <a:off x="1371600" y="4389120"/>
            <a:ext cx="3886200" cy="457200"/>
          </a:xfrm>
          <a:prstGeom prst="rect">
            <a:avLst/>
          </a:prstGeom>
          <a:noFill/>
        </p:spPr>
        <p:txBody>
          <a:bodyPr wrap="none" lIns="0" rIns="0" tIns="0" bIns="0">
            <a:noAutofit/>
          </a:bodyPr>
          <a:lstStyle/>
          <a:p>
            <a:pPr algn="l">
              <a:lnSpc>
                <a:spcPts val="2379"/>
              </a:lnSpc>
              <a:spcBef>
                <a:spcPts val="0"/>
              </a:spcBef>
              <a:spcAft>
                <a:spcPts val="0"/>
              </a:spcAft>
              <a:defRPr sz="2000" b="1">
                <a:solidFill>
                  <a:srgbClr val="193447"/>
                </a:solidFill>
                <a:latin typeface="Noto Sans"/>
              </a:defRPr>
            </a:pPr>
            <a:r>
              <a:t>Resize &amp; normalize</a:t>
            </a:r>
          </a:p>
        </p:txBody>
      </p:sp>
      <p:sp>
        <p:nvSpPr>
          <p:cNvPr id="16" name="TextBox 15"/>
          <p:cNvSpPr txBox="1"/>
          <p:nvPr/>
        </p:nvSpPr>
        <p:spPr>
          <a:xfrm>
            <a:off x="5394960" y="4389120"/>
            <a:ext cx="8229600" cy="822960"/>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Full-frame 192 × 320; bilinear RGB; nearest target / mask; ImageNet</a:t>
            </a:r>
          </a:p>
          <a:p>
            <a:pPr algn="l">
              <a:lnSpc>
                <a:spcPts val="2023"/>
              </a:lnSpc>
              <a:spcBef>
                <a:spcPts val="0"/>
              </a:spcBef>
              <a:spcAft>
                <a:spcPts val="0"/>
              </a:spcAft>
              <a:defRPr sz="1700" b="0">
                <a:solidFill>
                  <a:srgbClr val="526575"/>
                </a:solidFill>
                <a:latin typeface="Noto Sans"/>
              </a:defRPr>
            </a:pPr>
            <a:r>
              <a:t>normalization once.</a:t>
            </a:r>
          </a:p>
        </p:txBody>
      </p:sp>
      <p:sp>
        <p:nvSpPr>
          <p:cNvPr id="17" name="TextBox 16"/>
          <p:cNvSpPr txBox="1"/>
          <p:nvPr/>
        </p:nvSpPr>
        <p:spPr>
          <a:xfrm>
            <a:off x="658368" y="5486400"/>
            <a:ext cx="548640" cy="365760"/>
          </a:xfrm>
          <a:prstGeom prst="rect">
            <a:avLst/>
          </a:prstGeom>
          <a:noFill/>
        </p:spPr>
        <p:txBody>
          <a:bodyPr wrap="none" lIns="0" rIns="0" tIns="0" bIns="0">
            <a:noAutofit/>
          </a:bodyPr>
          <a:lstStyle/>
          <a:p>
            <a:pPr algn="l">
              <a:lnSpc>
                <a:spcPts val="2261"/>
              </a:lnSpc>
              <a:spcBef>
                <a:spcPts val="0"/>
              </a:spcBef>
              <a:spcAft>
                <a:spcPts val="0"/>
              </a:spcAft>
              <a:defRPr sz="1900" b="1">
                <a:solidFill>
                  <a:srgbClr val="008C83"/>
                </a:solidFill>
                <a:latin typeface="Noto Sans"/>
              </a:defRPr>
            </a:pPr>
            <a:r>
              <a:t>04</a:t>
            </a:r>
          </a:p>
        </p:txBody>
      </p:sp>
      <p:sp>
        <p:nvSpPr>
          <p:cNvPr id="18" name="TextBox 17"/>
          <p:cNvSpPr txBox="1"/>
          <p:nvPr/>
        </p:nvSpPr>
        <p:spPr>
          <a:xfrm>
            <a:off x="1371600" y="5486400"/>
            <a:ext cx="3886200" cy="457200"/>
          </a:xfrm>
          <a:prstGeom prst="rect">
            <a:avLst/>
          </a:prstGeom>
          <a:noFill/>
        </p:spPr>
        <p:txBody>
          <a:bodyPr wrap="none" lIns="0" rIns="0" tIns="0" bIns="0">
            <a:noAutofit/>
          </a:bodyPr>
          <a:lstStyle/>
          <a:p>
            <a:pPr algn="l">
              <a:lnSpc>
                <a:spcPts val="2379"/>
              </a:lnSpc>
              <a:spcBef>
                <a:spcPts val="0"/>
              </a:spcBef>
              <a:spcAft>
                <a:spcPts val="0"/>
              </a:spcAft>
              <a:defRPr sz="2000" b="1">
                <a:solidFill>
                  <a:srgbClr val="193447"/>
                </a:solidFill>
                <a:latin typeface="Noto Sans"/>
              </a:defRPr>
            </a:pPr>
            <a:r>
              <a:t>Augment training</a:t>
            </a:r>
          </a:p>
        </p:txBody>
      </p:sp>
      <p:sp>
        <p:nvSpPr>
          <p:cNvPr id="19" name="TextBox 18"/>
          <p:cNvSpPr txBox="1"/>
          <p:nvPr/>
        </p:nvSpPr>
        <p:spPr>
          <a:xfrm>
            <a:off x="5394960" y="5486400"/>
            <a:ext cx="8229600" cy="822960"/>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Paired horizontal flip for RGB, target and mask; no validation augmentation.</a:t>
            </a:r>
          </a:p>
        </p:txBody>
      </p:sp>
      <p:sp>
        <p:nvSpPr>
          <p:cNvPr id="20" name="Rectangle 19"/>
          <p:cNvSpPr/>
          <p:nvPr/>
        </p:nvSpPr>
        <p:spPr>
          <a:xfrm>
            <a:off x="594360" y="6565392"/>
            <a:ext cx="13441680" cy="804672"/>
          </a:xfrm>
          <a:prstGeom prst="rect">
            <a:avLst/>
          </a:prstGeom>
          <a:solidFill>
            <a:srgbClr val="DF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6675120"/>
            <a:ext cx="12984480" cy="274320"/>
          </a:xfrm>
          <a:prstGeom prst="rect">
            <a:avLst/>
          </a:prstGeom>
          <a:noFill/>
        </p:spPr>
        <p:txBody>
          <a:bodyPr wrap="none" lIns="0" rIns="0" tIns="0" bIns="0">
            <a:noAutofit/>
          </a:bodyPr>
          <a:lstStyle/>
          <a:p>
            <a:pPr algn="l">
              <a:lnSpc>
                <a:spcPts val="1904"/>
              </a:lnSpc>
              <a:spcBef>
                <a:spcPts val="0"/>
              </a:spcBef>
              <a:spcAft>
                <a:spcPts val="0"/>
              </a:spcAft>
              <a:defRPr sz="1600" b="1">
                <a:solidFill>
                  <a:srgbClr val="008C83"/>
                </a:solidFill>
                <a:latin typeface="Noto Sans"/>
              </a:defRPr>
            </a:pPr>
            <a:r>
              <a:t>Leakage controls</a:t>
            </a:r>
          </a:p>
        </p:txBody>
      </p:sp>
      <p:sp>
        <p:nvSpPr>
          <p:cNvPr id="22" name="TextBox 21"/>
          <p:cNvSpPr txBox="1"/>
          <p:nvPr/>
        </p:nvSpPr>
        <p:spPr>
          <a:xfrm>
            <a:off x="822960" y="7013448"/>
            <a:ext cx="12984480" cy="274320"/>
          </a:xfrm>
          <a:prstGeom prst="rect">
            <a:avLst/>
          </a:prstGeom>
          <a:noFill/>
        </p:spPr>
        <p:txBody>
          <a:bodyPr wrap="none" lIns="0" rIns="0" tIns="0" bIns="0">
            <a:noAutofit/>
          </a:bodyPr>
          <a:lstStyle/>
          <a:p>
            <a:pPr algn="l">
              <a:lnSpc>
                <a:spcPts val="1547"/>
              </a:lnSpc>
              <a:spcBef>
                <a:spcPts val="0"/>
              </a:spcBef>
              <a:spcAft>
                <a:spcPts val="0"/>
              </a:spcAft>
              <a:defRPr sz="1300" b="0">
                <a:solidFill>
                  <a:srgbClr val="193447"/>
                </a:solidFill>
                <a:latin typeface="Noto Sans"/>
              </a:defRPr>
            </a:pPr>
            <a:r>
              <a:t>Group weather variants of a path; quarantine legacy tests; select on validation only; keep current GT out of scheduler decisions.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292608"/>
            <a:ext cx="11887200" cy="228600"/>
          </a:xfrm>
          <a:prstGeom prst="rect">
            <a:avLst/>
          </a:prstGeom>
          <a:noFill/>
        </p:spPr>
        <p:txBody>
          <a:bodyPr wrap="none" lIns="0" rIns="0" tIns="0" bIns="0">
            <a:noAutofit/>
          </a:bodyPr>
          <a:lstStyle/>
          <a:p>
            <a:pPr algn="l">
              <a:lnSpc>
                <a:spcPts val="1189"/>
              </a:lnSpc>
              <a:spcBef>
                <a:spcPts val="0"/>
              </a:spcBef>
              <a:spcAft>
                <a:spcPts val="0"/>
              </a:spcAft>
              <a:defRPr sz="1000" b="1">
                <a:solidFill>
                  <a:srgbClr val="008C83"/>
                </a:solidFill>
                <a:latin typeface="Noto Sans"/>
              </a:defRPr>
            </a:pPr>
            <a:r>
              <a:t>AERODEPTH-LITE / DEEP LEARNING PROJECT</a:t>
            </a:r>
          </a:p>
        </p:txBody>
      </p:sp>
      <p:sp>
        <p:nvSpPr>
          <p:cNvPr id="3" name="TextBox 2"/>
          <p:cNvSpPr txBox="1"/>
          <p:nvPr/>
        </p:nvSpPr>
        <p:spPr>
          <a:xfrm>
            <a:off x="594360" y="777240"/>
            <a:ext cx="13441680" cy="621792"/>
          </a:xfrm>
          <a:prstGeom prst="rect">
            <a:avLst/>
          </a:prstGeom>
          <a:noFill/>
        </p:spPr>
        <p:txBody>
          <a:bodyPr wrap="none" lIns="0" rIns="0" tIns="0" bIns="0">
            <a:noAutofit/>
          </a:bodyPr>
          <a:lstStyle/>
          <a:p>
            <a:pPr algn="l">
              <a:lnSpc>
                <a:spcPts val="3569"/>
              </a:lnSpc>
              <a:spcBef>
                <a:spcPts val="0"/>
              </a:spcBef>
              <a:spcAft>
                <a:spcPts val="0"/>
              </a:spcAft>
              <a:defRPr sz="3000" b="1">
                <a:solidFill>
                  <a:srgbClr val="193447"/>
                </a:solidFill>
                <a:latin typeface="Noto Sans"/>
              </a:defRPr>
            </a:pPr>
            <a:r>
              <a:t>Proposed system architecture</a:t>
            </a:r>
          </a:p>
        </p:txBody>
      </p:sp>
      <p:sp>
        <p:nvSpPr>
          <p:cNvPr id="4" name="TextBox 3"/>
          <p:cNvSpPr txBox="1"/>
          <p:nvPr/>
        </p:nvSpPr>
        <p:spPr>
          <a:xfrm>
            <a:off x="594360" y="1444752"/>
            <a:ext cx="13350240" cy="548640"/>
          </a:xfrm>
          <a:prstGeom prst="rect">
            <a:avLst/>
          </a:prstGeom>
          <a:noFill/>
        </p:spPr>
        <p:txBody>
          <a:bodyPr wrap="none" lIns="0" rIns="0" tIns="0" bIns="0">
            <a:noAutofit/>
          </a:bodyPr>
          <a:lstStyle/>
          <a:p>
            <a:pPr algn="l">
              <a:lnSpc>
                <a:spcPts val="1784"/>
              </a:lnSpc>
              <a:spcBef>
                <a:spcPts val="0"/>
              </a:spcBef>
              <a:spcAft>
                <a:spcPts val="0"/>
              </a:spcAft>
              <a:defRPr sz="1500" b="0">
                <a:solidFill>
                  <a:srgbClr val="526575"/>
                </a:solidFill>
                <a:latin typeface="Noto Sans"/>
              </a:defRPr>
            </a:pPr>
            <a:r>
              <a:t>Causal runtime workflow · drawn with editable shapes and connectors</a:t>
            </a:r>
          </a:p>
        </p:txBody>
      </p:sp>
      <p:sp>
        <p:nvSpPr>
          <p:cNvPr id="5" name="Rectangle 4"/>
          <p:cNvSpPr/>
          <p:nvPr/>
        </p:nvSpPr>
        <p:spPr>
          <a:xfrm>
            <a:off x="594360" y="7571231"/>
            <a:ext cx="13441680" cy="11887"/>
          </a:xfrm>
          <a:prstGeom prst="rect">
            <a:avLst/>
          </a:prstGeom>
          <a:solidFill>
            <a:srgbClr val="DC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7708392"/>
            <a:ext cx="12618720" cy="283464"/>
          </a:xfrm>
          <a:prstGeom prst="rect">
            <a:avLst/>
          </a:prstGeom>
          <a:noFill/>
        </p:spPr>
        <p:txBody>
          <a:bodyPr wrap="none" lIns="0" rIns="0" tIns="0" bIns="0">
            <a:noAutofit/>
          </a:bodyPr>
          <a:lstStyle/>
          <a:p>
            <a:pPr algn="l">
              <a:lnSpc>
                <a:spcPts val="1071"/>
              </a:lnSpc>
              <a:spcBef>
                <a:spcPts val="0"/>
              </a:spcBef>
              <a:spcAft>
                <a:spcPts val="0"/>
              </a:spcAft>
              <a:defRPr sz="900" b="0">
                <a:solidFill>
                  <a:srgbClr val="526575"/>
                </a:solidFill>
                <a:latin typeface="Noto Sans"/>
              </a:defRPr>
            </a:pPr>
            <a:r>
              <a:t>Source: src/aerodepth_lite/{model.py,scheduler_v2.py,presentation_scheduler.py} · docs/FINAL_REPORT.md</a:t>
            </a:r>
          </a:p>
        </p:txBody>
      </p:sp>
      <p:sp>
        <p:nvSpPr>
          <p:cNvPr id="7" name="TextBox 6"/>
          <p:cNvSpPr txBox="1"/>
          <p:nvPr/>
        </p:nvSpPr>
        <p:spPr>
          <a:xfrm>
            <a:off x="13258800" y="7662672"/>
            <a:ext cx="777240" cy="320040"/>
          </a:xfrm>
          <a:prstGeom prst="rect">
            <a:avLst/>
          </a:prstGeom>
          <a:noFill/>
        </p:spPr>
        <p:txBody>
          <a:bodyPr wrap="none" lIns="0" rIns="0" tIns="0" bIns="0">
            <a:noAutofit/>
          </a:bodyPr>
          <a:lstStyle/>
          <a:p>
            <a:pPr algn="r">
              <a:lnSpc>
                <a:spcPts val="1189"/>
              </a:lnSpc>
              <a:spcBef>
                <a:spcPts val="0"/>
              </a:spcBef>
              <a:spcAft>
                <a:spcPts val="0"/>
              </a:spcAft>
              <a:defRPr sz="1000" b="0">
                <a:solidFill>
                  <a:srgbClr val="526575"/>
                </a:solidFill>
                <a:latin typeface="Noto Sans"/>
              </a:defRPr>
            </a:pPr>
            <a:r>
              <a:t>08 / 13</a:t>
            </a:r>
          </a:p>
        </p:txBody>
      </p:sp>
      <p:sp>
        <p:nvSpPr>
          <p:cNvPr id="8" name="Rectangle 7"/>
          <p:cNvSpPr/>
          <p:nvPr/>
        </p:nvSpPr>
        <p:spPr>
          <a:xfrm>
            <a:off x="594360" y="2331720"/>
            <a:ext cx="2057400" cy="1508760"/>
          </a:xfrm>
          <a:prstGeom prst="rect">
            <a:avLst/>
          </a:prstGeom>
          <a:solidFill>
            <a:srgbClr val="FFFFFF"/>
          </a:solidFill>
          <a:ln>
            <a:solidFill>
              <a:srgbClr val="DC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496312"/>
            <a:ext cx="1728216" cy="411480"/>
          </a:xfrm>
          <a:prstGeom prst="rect">
            <a:avLst/>
          </a:prstGeom>
          <a:noFill/>
        </p:spPr>
        <p:txBody>
          <a:bodyPr wrap="none" lIns="0" rIns="0" tIns="0" bIns="0">
            <a:noAutofit/>
          </a:bodyPr>
          <a:lstStyle/>
          <a:p>
            <a:pPr algn="ctr">
              <a:lnSpc>
                <a:spcPts val="2142"/>
              </a:lnSpc>
              <a:spcBef>
                <a:spcPts val="0"/>
              </a:spcBef>
              <a:spcAft>
                <a:spcPts val="0"/>
              </a:spcAft>
              <a:defRPr sz="1800" b="1">
                <a:solidFill>
                  <a:srgbClr val="008C83"/>
                </a:solidFill>
                <a:latin typeface="Noto Sans"/>
              </a:defRPr>
            </a:pPr>
            <a:r>
              <a:t>Current RGB</a:t>
            </a:r>
          </a:p>
        </p:txBody>
      </p:sp>
      <p:sp>
        <p:nvSpPr>
          <p:cNvPr id="10" name="TextBox 9"/>
          <p:cNvSpPr txBox="1"/>
          <p:nvPr/>
        </p:nvSpPr>
        <p:spPr>
          <a:xfrm>
            <a:off x="758952" y="3026663"/>
            <a:ext cx="1728216" cy="722375"/>
          </a:xfrm>
          <a:prstGeom prst="rect">
            <a:avLst/>
          </a:prstGeom>
          <a:noFill/>
        </p:spPr>
        <p:txBody>
          <a:bodyPr wrap="none" lIns="0" rIns="0" tIns="0" bIns="0">
            <a:noAutofit/>
          </a:bodyPr>
          <a:lstStyle/>
          <a:p>
            <a:pPr algn="ctr">
              <a:lnSpc>
                <a:spcPts val="1666"/>
              </a:lnSpc>
              <a:spcBef>
                <a:spcPts val="0"/>
              </a:spcBef>
              <a:spcAft>
                <a:spcPts val="0"/>
              </a:spcAft>
              <a:defRPr sz="1400" b="0">
                <a:solidFill>
                  <a:srgbClr val="193447"/>
                </a:solidFill>
                <a:latin typeface="Noto Sans"/>
              </a:defRPr>
            </a:pPr>
            <a:r>
              <a:t>Frame t</a:t>
            </a:r>
          </a:p>
        </p:txBody>
      </p:sp>
      <p:sp>
        <p:nvSpPr>
          <p:cNvPr id="11" name="Rectangle 10"/>
          <p:cNvSpPr/>
          <p:nvPr/>
        </p:nvSpPr>
        <p:spPr>
          <a:xfrm>
            <a:off x="3063240" y="2331720"/>
            <a:ext cx="2377440" cy="1508760"/>
          </a:xfrm>
          <a:prstGeom prst="rect">
            <a:avLst/>
          </a:prstGeom>
          <a:solidFill>
            <a:srgbClr val="FFFFFF"/>
          </a:solidFill>
          <a:ln>
            <a:solidFill>
              <a:srgbClr val="DC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27832" y="2496312"/>
            <a:ext cx="2048256" cy="411480"/>
          </a:xfrm>
          <a:prstGeom prst="rect">
            <a:avLst/>
          </a:prstGeom>
          <a:noFill/>
        </p:spPr>
        <p:txBody>
          <a:bodyPr wrap="none" lIns="0" rIns="0" tIns="0" bIns="0">
            <a:noAutofit/>
          </a:bodyPr>
          <a:lstStyle/>
          <a:p>
            <a:pPr algn="ctr">
              <a:lnSpc>
                <a:spcPts val="2142"/>
              </a:lnSpc>
              <a:spcBef>
                <a:spcPts val="0"/>
              </a:spcBef>
              <a:spcAft>
                <a:spcPts val="0"/>
              </a:spcAft>
              <a:defRPr sz="1800" b="1">
                <a:solidFill>
                  <a:srgbClr val="008C83"/>
                </a:solidFill>
                <a:latin typeface="Noto Sans"/>
              </a:defRPr>
            </a:pPr>
            <a:r>
              <a:t>Preprocess</a:t>
            </a:r>
          </a:p>
        </p:txBody>
      </p:sp>
      <p:sp>
        <p:nvSpPr>
          <p:cNvPr id="13" name="TextBox 12"/>
          <p:cNvSpPr txBox="1"/>
          <p:nvPr/>
        </p:nvSpPr>
        <p:spPr>
          <a:xfrm>
            <a:off x="3227832" y="3026663"/>
            <a:ext cx="2048256" cy="722375"/>
          </a:xfrm>
          <a:prstGeom prst="rect">
            <a:avLst/>
          </a:prstGeom>
          <a:noFill/>
        </p:spPr>
        <p:txBody>
          <a:bodyPr wrap="none" lIns="0" rIns="0" tIns="0" bIns="0">
            <a:noAutofit/>
          </a:bodyPr>
          <a:lstStyle/>
          <a:p>
            <a:pPr algn="ctr">
              <a:lnSpc>
                <a:spcPts val="1666"/>
              </a:lnSpc>
              <a:spcBef>
                <a:spcPts val="0"/>
              </a:spcBef>
              <a:spcAft>
                <a:spcPts val="0"/>
              </a:spcAft>
              <a:defRPr sz="1400" b="0">
                <a:solidFill>
                  <a:srgbClr val="193447"/>
                </a:solidFill>
                <a:latin typeface="Noto Sans"/>
              </a:defRPr>
            </a:pPr>
            <a:r>
              <a:t>Resize + normalize</a:t>
            </a:r>
          </a:p>
        </p:txBody>
      </p:sp>
      <p:sp>
        <p:nvSpPr>
          <p:cNvPr id="14" name="Rectangle 13"/>
          <p:cNvSpPr/>
          <p:nvPr/>
        </p:nvSpPr>
        <p:spPr>
          <a:xfrm>
            <a:off x="5897880" y="2331720"/>
            <a:ext cx="2423160" cy="1508760"/>
          </a:xfrm>
          <a:prstGeom prst="rect">
            <a:avLst/>
          </a:prstGeom>
          <a:solidFill>
            <a:srgbClr val="DFF3EE"/>
          </a:solidFill>
          <a:ln>
            <a:solidFill>
              <a:srgbClr val="DC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62472" y="2496312"/>
            <a:ext cx="2093976" cy="411480"/>
          </a:xfrm>
          <a:prstGeom prst="rect">
            <a:avLst/>
          </a:prstGeom>
          <a:noFill/>
        </p:spPr>
        <p:txBody>
          <a:bodyPr wrap="none" lIns="0" rIns="0" tIns="0" bIns="0">
            <a:noAutofit/>
          </a:bodyPr>
          <a:lstStyle/>
          <a:p>
            <a:pPr algn="ctr">
              <a:lnSpc>
                <a:spcPts val="2142"/>
              </a:lnSpc>
              <a:spcBef>
                <a:spcPts val="0"/>
              </a:spcBef>
              <a:spcAft>
                <a:spcPts val="0"/>
              </a:spcAft>
              <a:defRPr sz="1800" b="1">
                <a:solidFill>
                  <a:srgbClr val="008C83"/>
                </a:solidFill>
                <a:latin typeface="Noto Sans"/>
              </a:defRPr>
            </a:pPr>
            <a:r>
              <a:t>V2 decision</a:t>
            </a:r>
          </a:p>
        </p:txBody>
      </p:sp>
      <p:sp>
        <p:nvSpPr>
          <p:cNvPr id="16" name="TextBox 15"/>
          <p:cNvSpPr txBox="1"/>
          <p:nvPr/>
        </p:nvSpPr>
        <p:spPr>
          <a:xfrm>
            <a:off x="6062472" y="3026663"/>
            <a:ext cx="2093976" cy="722375"/>
          </a:xfrm>
          <a:prstGeom prst="rect">
            <a:avLst/>
          </a:prstGeom>
          <a:noFill/>
        </p:spPr>
        <p:txBody>
          <a:bodyPr wrap="none" lIns="0" rIns="0" tIns="0" bIns="0">
            <a:noAutofit/>
          </a:bodyPr>
          <a:lstStyle/>
          <a:p>
            <a:pPr algn="ctr">
              <a:lnSpc>
                <a:spcPts val="1666"/>
              </a:lnSpc>
              <a:spcBef>
                <a:spcPts val="0"/>
              </a:spcBef>
              <a:spcAft>
                <a:spcPts val="0"/>
              </a:spcAft>
              <a:defRPr sz="1400" b="0">
                <a:solidFill>
                  <a:srgbClr val="193447"/>
                </a:solidFill>
                <a:latin typeface="Noto Sans"/>
              </a:defRPr>
            </a:pPr>
            <a:r>
              <a:t>Visual + motion</a:t>
            </a:r>
          </a:p>
          <a:p>
            <a:pPr algn="ctr">
              <a:lnSpc>
                <a:spcPts val="1666"/>
              </a:lnSpc>
              <a:spcBef>
                <a:spcPts val="0"/>
              </a:spcBef>
              <a:spcAft>
                <a:spcPts val="0"/>
              </a:spcAft>
              <a:defRPr sz="1400" b="0">
                <a:solidFill>
                  <a:srgbClr val="193447"/>
                </a:solidFill>
                <a:latin typeface="Noto Sans"/>
              </a:defRPr>
            </a:pPr>
            <a:r>
              <a:t>risk + age</a:t>
            </a:r>
          </a:p>
        </p:txBody>
      </p:sp>
      <p:sp>
        <p:nvSpPr>
          <p:cNvPr id="17" name="Rectangle 16"/>
          <p:cNvSpPr/>
          <p:nvPr/>
        </p:nvSpPr>
        <p:spPr>
          <a:xfrm>
            <a:off x="8823960" y="2011680"/>
            <a:ext cx="2423160" cy="1417320"/>
          </a:xfrm>
          <a:prstGeom prst="rect">
            <a:avLst/>
          </a:prstGeom>
          <a:solidFill>
            <a:srgbClr val="DFF3EE"/>
          </a:solidFill>
          <a:ln>
            <a:solidFill>
              <a:srgbClr val="DC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88552" y="2176272"/>
            <a:ext cx="2093976" cy="411480"/>
          </a:xfrm>
          <a:prstGeom prst="rect">
            <a:avLst/>
          </a:prstGeom>
          <a:noFill/>
        </p:spPr>
        <p:txBody>
          <a:bodyPr wrap="none" lIns="0" rIns="0" tIns="0" bIns="0">
            <a:noAutofit/>
          </a:bodyPr>
          <a:lstStyle/>
          <a:p>
            <a:pPr algn="ctr">
              <a:lnSpc>
                <a:spcPts val="2142"/>
              </a:lnSpc>
              <a:spcBef>
                <a:spcPts val="0"/>
              </a:spcBef>
              <a:spcAft>
                <a:spcPts val="0"/>
              </a:spcAft>
              <a:defRPr sz="1800" b="1">
                <a:solidFill>
                  <a:srgbClr val="008C83"/>
                </a:solidFill>
                <a:latin typeface="Noto Sans"/>
              </a:defRPr>
            </a:pPr>
            <a:r>
              <a:t>INFER</a:t>
            </a:r>
          </a:p>
        </p:txBody>
      </p:sp>
      <p:sp>
        <p:nvSpPr>
          <p:cNvPr id="19" name="TextBox 18"/>
          <p:cNvSpPr txBox="1"/>
          <p:nvPr/>
        </p:nvSpPr>
        <p:spPr>
          <a:xfrm>
            <a:off x="8988552" y="2706624"/>
            <a:ext cx="2093976" cy="630936"/>
          </a:xfrm>
          <a:prstGeom prst="rect">
            <a:avLst/>
          </a:prstGeom>
          <a:noFill/>
        </p:spPr>
        <p:txBody>
          <a:bodyPr wrap="none" lIns="0" rIns="0" tIns="0" bIns="0">
            <a:noAutofit/>
          </a:bodyPr>
          <a:lstStyle/>
          <a:p>
            <a:pPr algn="ctr">
              <a:lnSpc>
                <a:spcPts val="1666"/>
              </a:lnSpc>
              <a:spcBef>
                <a:spcPts val="0"/>
              </a:spcBef>
              <a:spcAft>
                <a:spcPts val="0"/>
              </a:spcAft>
              <a:defRPr sz="1400" b="0">
                <a:solidFill>
                  <a:srgbClr val="193447"/>
                </a:solidFill>
                <a:latin typeface="Noto Sans"/>
              </a:defRPr>
            </a:pPr>
            <a:r>
              <a:t>Student model</a:t>
            </a:r>
          </a:p>
        </p:txBody>
      </p:sp>
      <p:sp>
        <p:nvSpPr>
          <p:cNvPr id="20" name="Rectangle 19"/>
          <p:cNvSpPr/>
          <p:nvPr/>
        </p:nvSpPr>
        <p:spPr>
          <a:xfrm>
            <a:off x="8823960" y="3749039"/>
            <a:ext cx="2423160" cy="1417320"/>
          </a:xfrm>
          <a:prstGeom prst="rect">
            <a:avLst/>
          </a:prstGeom>
          <a:solidFill>
            <a:srgbClr val="FFF0DF"/>
          </a:solidFill>
          <a:ln>
            <a:solidFill>
              <a:srgbClr val="DC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88552" y="3913631"/>
            <a:ext cx="2093976" cy="411480"/>
          </a:xfrm>
          <a:prstGeom prst="rect">
            <a:avLst/>
          </a:prstGeom>
          <a:noFill/>
        </p:spPr>
        <p:txBody>
          <a:bodyPr wrap="none" lIns="0" rIns="0" tIns="0" bIns="0">
            <a:noAutofit/>
          </a:bodyPr>
          <a:lstStyle/>
          <a:p>
            <a:pPr algn="ctr">
              <a:lnSpc>
                <a:spcPts val="2142"/>
              </a:lnSpc>
              <a:spcBef>
                <a:spcPts val="0"/>
              </a:spcBef>
              <a:spcAft>
                <a:spcPts val="0"/>
              </a:spcAft>
              <a:defRPr sz="1800" b="1">
                <a:solidFill>
                  <a:srgbClr val="008C83"/>
                </a:solidFill>
                <a:latin typeface="Noto Sans"/>
              </a:defRPr>
            </a:pPr>
            <a:r>
              <a:t>REUSE</a:t>
            </a:r>
          </a:p>
        </p:txBody>
      </p:sp>
      <p:sp>
        <p:nvSpPr>
          <p:cNvPr id="22" name="TextBox 21"/>
          <p:cNvSpPr txBox="1"/>
          <p:nvPr/>
        </p:nvSpPr>
        <p:spPr>
          <a:xfrm>
            <a:off x="8988552" y="4443983"/>
            <a:ext cx="2093976" cy="630936"/>
          </a:xfrm>
          <a:prstGeom prst="rect">
            <a:avLst/>
          </a:prstGeom>
          <a:noFill/>
        </p:spPr>
        <p:txBody>
          <a:bodyPr wrap="none" lIns="0" rIns="0" tIns="0" bIns="0">
            <a:noAutofit/>
          </a:bodyPr>
          <a:lstStyle/>
          <a:p>
            <a:pPr algn="ctr">
              <a:lnSpc>
                <a:spcPts val="1666"/>
              </a:lnSpc>
              <a:spcBef>
                <a:spcPts val="0"/>
              </a:spcBef>
              <a:spcAft>
                <a:spcPts val="0"/>
              </a:spcAft>
              <a:defRPr sz="1400" b="0">
                <a:solidFill>
                  <a:srgbClr val="193447"/>
                </a:solidFill>
                <a:latin typeface="Noto Sans"/>
              </a:defRPr>
            </a:pPr>
            <a:r>
              <a:t>Last range map</a:t>
            </a:r>
          </a:p>
        </p:txBody>
      </p:sp>
      <p:sp>
        <p:nvSpPr>
          <p:cNvPr id="23" name="Rectangle 22"/>
          <p:cNvSpPr/>
          <p:nvPr/>
        </p:nvSpPr>
        <p:spPr>
          <a:xfrm>
            <a:off x="11750040" y="2834640"/>
            <a:ext cx="2286000" cy="1645920"/>
          </a:xfrm>
          <a:prstGeom prst="rect">
            <a:avLst/>
          </a:prstGeom>
          <a:solidFill>
            <a:srgbClr val="FFFFFF"/>
          </a:solidFill>
          <a:ln>
            <a:solidFill>
              <a:srgbClr val="DC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914632" y="2999232"/>
            <a:ext cx="1956816" cy="411480"/>
          </a:xfrm>
          <a:prstGeom prst="rect">
            <a:avLst/>
          </a:prstGeom>
          <a:noFill/>
        </p:spPr>
        <p:txBody>
          <a:bodyPr wrap="none" lIns="0" rIns="0" tIns="0" bIns="0">
            <a:noAutofit/>
          </a:bodyPr>
          <a:lstStyle/>
          <a:p>
            <a:pPr algn="ctr">
              <a:lnSpc>
                <a:spcPts val="2142"/>
              </a:lnSpc>
              <a:spcBef>
                <a:spcPts val="0"/>
              </a:spcBef>
              <a:spcAft>
                <a:spcPts val="0"/>
              </a:spcAft>
              <a:defRPr sz="1800" b="1">
                <a:solidFill>
                  <a:srgbClr val="008C83"/>
                </a:solidFill>
                <a:latin typeface="Noto Sans"/>
              </a:defRPr>
            </a:pPr>
            <a:r>
              <a:t>Range output</a:t>
            </a:r>
          </a:p>
        </p:txBody>
      </p:sp>
      <p:sp>
        <p:nvSpPr>
          <p:cNvPr id="25" name="TextBox 24"/>
          <p:cNvSpPr txBox="1"/>
          <p:nvPr/>
        </p:nvSpPr>
        <p:spPr>
          <a:xfrm>
            <a:off x="11914632" y="3529584"/>
            <a:ext cx="1956816" cy="859536"/>
          </a:xfrm>
          <a:prstGeom prst="rect">
            <a:avLst/>
          </a:prstGeom>
          <a:noFill/>
        </p:spPr>
        <p:txBody>
          <a:bodyPr wrap="none" lIns="0" rIns="0" tIns="0" bIns="0">
            <a:noAutofit/>
          </a:bodyPr>
          <a:lstStyle/>
          <a:p>
            <a:pPr algn="ctr">
              <a:lnSpc>
                <a:spcPts val="1666"/>
              </a:lnSpc>
              <a:spcBef>
                <a:spcPts val="0"/>
              </a:spcBef>
              <a:spcAft>
                <a:spcPts val="0"/>
              </a:spcAft>
              <a:defRPr sz="1400" b="0">
                <a:solidFill>
                  <a:srgbClr val="193447"/>
                </a:solidFill>
                <a:latin typeface="Noto Sans"/>
              </a:defRPr>
            </a:pPr>
            <a:r>
              <a:t>Fresh / reused</a:t>
            </a:r>
          </a:p>
          <a:p>
            <a:pPr algn="ctr">
              <a:lnSpc>
                <a:spcPts val="1666"/>
              </a:lnSpc>
              <a:spcBef>
                <a:spcPts val="0"/>
              </a:spcBef>
              <a:spcAft>
                <a:spcPts val="0"/>
              </a:spcAft>
              <a:defRPr sz="1400" b="0">
                <a:solidFill>
                  <a:srgbClr val="193447"/>
                </a:solidFill>
                <a:latin typeface="Noto Sans"/>
              </a:defRPr>
            </a:pPr>
            <a:r>
              <a:t>source age</a:t>
            </a:r>
          </a:p>
        </p:txBody>
      </p:sp>
      <p:cxnSp>
        <p:nvCxnSpPr>
          <p:cNvPr id="26" name="Connector 25"/>
          <p:cNvCxnSpPr/>
          <p:nvPr/>
        </p:nvCxnSpPr>
        <p:spPr>
          <a:xfrm>
            <a:off x="2670048" y="3081528"/>
            <a:ext cx="329184" cy="0"/>
          </a:xfrm>
          <a:prstGeom prst="line">
            <a:avLst/>
          </a:prstGeom>
          <a:ln w="25400">
            <a:solidFill>
              <a:srgbClr val="008C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58968" y="3081528"/>
            <a:ext cx="374904" cy="0"/>
          </a:xfrm>
          <a:prstGeom prst="line">
            <a:avLst/>
          </a:prstGeom>
          <a:ln w="25400">
            <a:solidFill>
              <a:srgbClr val="008C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8339327" y="2715768"/>
            <a:ext cx="420625" cy="118872"/>
          </a:xfrm>
          <a:prstGeom prst="line">
            <a:avLst/>
          </a:prstGeom>
          <a:ln w="25400">
            <a:solidFill>
              <a:srgbClr val="008C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39327" y="3383280"/>
            <a:ext cx="420625" cy="1051560"/>
          </a:xfrm>
          <a:prstGeom prst="line">
            <a:avLst/>
          </a:prstGeom>
          <a:ln w="25400">
            <a:solidFill>
              <a:srgbClr val="008C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265408" y="2715768"/>
            <a:ext cx="420624" cy="621792"/>
          </a:xfrm>
          <a:prstGeom prst="line">
            <a:avLst/>
          </a:prstGeom>
          <a:ln w="25400">
            <a:solidFill>
              <a:srgbClr val="008C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1265408" y="4023360"/>
            <a:ext cx="420624" cy="411480"/>
          </a:xfrm>
          <a:prstGeom prst="line">
            <a:avLst/>
          </a:prstGeom>
          <a:ln w="25400">
            <a:solidFill>
              <a:srgbClr val="008C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94360" y="4754880"/>
            <a:ext cx="4846320" cy="1463040"/>
          </a:xfrm>
          <a:prstGeom prst="rect">
            <a:avLst/>
          </a:prstGeom>
          <a:solidFill>
            <a:srgbClr val="FFFFFF"/>
          </a:solidFill>
          <a:ln>
            <a:solidFill>
              <a:srgbClr val="DC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8952" y="4919472"/>
            <a:ext cx="4517136" cy="411480"/>
          </a:xfrm>
          <a:prstGeom prst="rect">
            <a:avLst/>
          </a:prstGeom>
          <a:noFill/>
        </p:spPr>
        <p:txBody>
          <a:bodyPr wrap="none" lIns="0" rIns="0" tIns="0" bIns="0">
            <a:noAutofit/>
          </a:bodyPr>
          <a:lstStyle/>
          <a:p>
            <a:pPr algn="ctr">
              <a:lnSpc>
                <a:spcPts val="2142"/>
              </a:lnSpc>
              <a:spcBef>
                <a:spcPts val="0"/>
              </a:spcBef>
              <a:spcAft>
                <a:spcPts val="0"/>
              </a:spcAft>
              <a:defRPr sz="1800" b="1">
                <a:solidFill>
                  <a:srgbClr val="008C83"/>
                </a:solidFill>
                <a:latin typeface="Noto Sans"/>
              </a:defRPr>
            </a:pPr>
            <a:r>
              <a:t>Simulated navigation</a:t>
            </a:r>
          </a:p>
        </p:txBody>
      </p:sp>
      <p:sp>
        <p:nvSpPr>
          <p:cNvPr id="34" name="TextBox 33"/>
          <p:cNvSpPr txBox="1"/>
          <p:nvPr/>
        </p:nvSpPr>
        <p:spPr>
          <a:xfrm>
            <a:off x="758952" y="5449824"/>
            <a:ext cx="4517136" cy="676656"/>
          </a:xfrm>
          <a:prstGeom prst="rect">
            <a:avLst/>
          </a:prstGeom>
          <a:noFill/>
        </p:spPr>
        <p:txBody>
          <a:bodyPr wrap="none" lIns="0" rIns="0" tIns="0" bIns="0">
            <a:noAutofit/>
          </a:bodyPr>
          <a:lstStyle/>
          <a:p>
            <a:pPr algn="ctr">
              <a:lnSpc>
                <a:spcPts val="1666"/>
              </a:lnSpc>
              <a:spcBef>
                <a:spcPts val="0"/>
              </a:spcBef>
              <a:spcAft>
                <a:spcPts val="0"/>
              </a:spcAft>
              <a:defRPr sz="1400" b="0">
                <a:solidFill>
                  <a:srgbClr val="193447"/>
                </a:solidFill>
                <a:latin typeface="Noto Sans"/>
              </a:defRPr>
            </a:pPr>
            <a:r>
              <a:t>IMU + held GPS velocity</a:t>
            </a:r>
          </a:p>
        </p:txBody>
      </p:sp>
      <p:cxnSp>
        <p:nvCxnSpPr>
          <p:cNvPr id="35" name="Connector 34"/>
          <p:cNvCxnSpPr/>
          <p:nvPr/>
        </p:nvCxnSpPr>
        <p:spPr>
          <a:xfrm flipV="1">
            <a:off x="5458968" y="3913632"/>
            <a:ext cx="1261872" cy="1572768"/>
          </a:xfrm>
          <a:prstGeom prst="line">
            <a:avLst/>
          </a:prstGeom>
          <a:ln w="25400">
            <a:solidFill>
              <a:srgbClr val="008C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897880" y="5577840"/>
            <a:ext cx="5349240" cy="1325880"/>
          </a:xfrm>
          <a:prstGeom prst="rect">
            <a:avLst/>
          </a:prstGeom>
          <a:solidFill>
            <a:srgbClr val="FFFFFF"/>
          </a:solidFill>
          <a:ln>
            <a:solidFill>
              <a:srgbClr val="DC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62472" y="5742431"/>
            <a:ext cx="5020055" cy="411480"/>
          </a:xfrm>
          <a:prstGeom prst="rect">
            <a:avLst/>
          </a:prstGeom>
          <a:noFill/>
        </p:spPr>
        <p:txBody>
          <a:bodyPr wrap="none" lIns="0" rIns="0" tIns="0" bIns="0">
            <a:noAutofit/>
          </a:bodyPr>
          <a:lstStyle/>
          <a:p>
            <a:pPr algn="ctr">
              <a:lnSpc>
                <a:spcPts val="2142"/>
              </a:lnSpc>
              <a:spcBef>
                <a:spcPts val="0"/>
              </a:spcBef>
              <a:spcAft>
                <a:spcPts val="0"/>
              </a:spcAft>
              <a:defRPr sz="1800" b="1">
                <a:solidFill>
                  <a:srgbClr val="008C83"/>
                </a:solidFill>
                <a:latin typeface="Noto Sans"/>
              </a:defRPr>
            </a:pPr>
            <a:r>
              <a:t>State / cache</a:t>
            </a:r>
          </a:p>
        </p:txBody>
      </p:sp>
      <p:sp>
        <p:nvSpPr>
          <p:cNvPr id="38" name="TextBox 37"/>
          <p:cNvSpPr txBox="1"/>
          <p:nvPr/>
        </p:nvSpPr>
        <p:spPr>
          <a:xfrm>
            <a:off x="6062472" y="6272783"/>
            <a:ext cx="5020055" cy="539496"/>
          </a:xfrm>
          <a:prstGeom prst="rect">
            <a:avLst/>
          </a:prstGeom>
          <a:noFill/>
        </p:spPr>
        <p:txBody>
          <a:bodyPr wrap="none" lIns="0" rIns="0" tIns="0" bIns="0">
            <a:noAutofit/>
          </a:bodyPr>
          <a:lstStyle/>
          <a:p>
            <a:pPr algn="ctr">
              <a:lnSpc>
                <a:spcPts val="1666"/>
              </a:lnSpc>
              <a:spcBef>
                <a:spcPts val="0"/>
              </a:spcBef>
              <a:spcAft>
                <a:spcPts val="0"/>
              </a:spcAft>
              <a:defRPr sz="1400" b="0">
                <a:solidFill>
                  <a:srgbClr val="193447"/>
                </a:solidFill>
                <a:latin typeface="Noto Sans"/>
              </a:defRPr>
            </a:pPr>
            <a:r>
              <a:t>Last inferred RGB + prediction + age</a:t>
            </a:r>
          </a:p>
        </p:txBody>
      </p:sp>
      <p:cxnSp>
        <p:nvCxnSpPr>
          <p:cNvPr id="39" name="Connector 38"/>
          <p:cNvCxnSpPr/>
          <p:nvPr/>
        </p:nvCxnSpPr>
        <p:spPr>
          <a:xfrm flipV="1">
            <a:off x="7132320" y="3913632"/>
            <a:ext cx="0" cy="1600200"/>
          </a:xfrm>
          <a:prstGeom prst="line">
            <a:avLst/>
          </a:prstGeom>
          <a:ln w="25400">
            <a:solidFill>
              <a:srgbClr val="008C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2893040" y="4544568"/>
            <a:ext cx="0" cy="1691640"/>
          </a:xfrm>
          <a:prstGeom prst="line">
            <a:avLst/>
          </a:prstGeom>
          <a:ln w="25400">
            <a:solidFill>
              <a:srgbClr val="008C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11320272" y="6236208"/>
            <a:ext cx="1572768" cy="0"/>
          </a:xfrm>
          <a:prstGeom prst="line">
            <a:avLst/>
          </a:prstGeom>
          <a:ln w="25400">
            <a:solidFill>
              <a:srgbClr val="008C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94360" y="6812280"/>
            <a:ext cx="4846320" cy="502920"/>
          </a:xfrm>
          <a:prstGeom prst="rect">
            <a:avLst/>
          </a:prstGeom>
          <a:noFill/>
        </p:spPr>
        <p:txBody>
          <a:bodyPr wrap="none" lIns="0" rIns="0" tIns="0" bIns="0">
            <a:noAutofit/>
          </a:bodyPr>
          <a:lstStyle/>
          <a:p>
            <a:pPr algn="l">
              <a:lnSpc>
                <a:spcPts val="1547"/>
              </a:lnSpc>
              <a:spcBef>
                <a:spcPts val="0"/>
              </a:spcBef>
              <a:spcAft>
                <a:spcPts val="0"/>
              </a:spcAft>
              <a:defRPr sz="1300" b="0">
                <a:solidFill>
                  <a:srgbClr val="526575"/>
                </a:solidFill>
                <a:latin typeface="Noto Sans"/>
              </a:defRPr>
            </a:pPr>
            <a:r>
              <a:t>First frame: infer. Maximum reuse age: 4 frames.</a:t>
            </a:r>
          </a:p>
        </p:txBody>
      </p:sp>
      <p:sp>
        <p:nvSpPr>
          <p:cNvPr id="43" name="TextBox 42"/>
          <p:cNvSpPr txBox="1"/>
          <p:nvPr/>
        </p:nvSpPr>
        <p:spPr>
          <a:xfrm>
            <a:off x="11750040" y="6473952"/>
            <a:ext cx="2286000" cy="658368"/>
          </a:xfrm>
          <a:prstGeom prst="rect">
            <a:avLst/>
          </a:prstGeom>
          <a:noFill/>
        </p:spPr>
        <p:txBody>
          <a:bodyPr wrap="none" lIns="0" rIns="0" tIns="0" bIns="0">
            <a:noAutofit/>
          </a:bodyPr>
          <a:lstStyle/>
          <a:p>
            <a:pPr algn="l">
              <a:lnSpc>
                <a:spcPts val="1428"/>
              </a:lnSpc>
              <a:spcBef>
                <a:spcPts val="0"/>
              </a:spcBef>
              <a:spcAft>
                <a:spcPts val="0"/>
              </a:spcAft>
              <a:defRPr sz="1200" b="1">
                <a:solidFill>
                  <a:srgbClr val="B35B15"/>
                </a:solidFill>
                <a:latin typeface="Noto Sans"/>
              </a:defRPr>
            </a:pPr>
            <a:r>
              <a:t>GT range is used for offline</a:t>
            </a:r>
          </a:p>
          <a:p>
            <a:pPr algn="l">
              <a:lnSpc>
                <a:spcPts val="1428"/>
              </a:lnSpc>
              <a:spcBef>
                <a:spcPts val="0"/>
              </a:spcBef>
              <a:spcAft>
                <a:spcPts val="0"/>
              </a:spcAft>
              <a:defRPr sz="1200" b="1">
                <a:solidFill>
                  <a:srgbClr val="B35B15"/>
                </a:solidFill>
                <a:latin typeface="Noto Sans"/>
              </a:defRPr>
            </a:pPr>
            <a:r>
              <a:t>scoring only.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292608"/>
            <a:ext cx="11887200" cy="228600"/>
          </a:xfrm>
          <a:prstGeom prst="rect">
            <a:avLst/>
          </a:prstGeom>
          <a:noFill/>
        </p:spPr>
        <p:txBody>
          <a:bodyPr wrap="none" lIns="0" rIns="0" tIns="0" bIns="0">
            <a:noAutofit/>
          </a:bodyPr>
          <a:lstStyle/>
          <a:p>
            <a:pPr algn="l">
              <a:lnSpc>
                <a:spcPts val="1189"/>
              </a:lnSpc>
              <a:spcBef>
                <a:spcPts val="0"/>
              </a:spcBef>
              <a:spcAft>
                <a:spcPts val="0"/>
              </a:spcAft>
              <a:defRPr sz="1000" b="1">
                <a:solidFill>
                  <a:srgbClr val="008C83"/>
                </a:solidFill>
                <a:latin typeface="Noto Sans"/>
              </a:defRPr>
            </a:pPr>
            <a:r>
              <a:t>AERODEPTH-LITE / DEEP LEARNING PROJECT</a:t>
            </a:r>
          </a:p>
        </p:txBody>
      </p:sp>
      <p:sp>
        <p:nvSpPr>
          <p:cNvPr id="3" name="TextBox 2"/>
          <p:cNvSpPr txBox="1"/>
          <p:nvPr/>
        </p:nvSpPr>
        <p:spPr>
          <a:xfrm>
            <a:off x="594360" y="777240"/>
            <a:ext cx="13441680" cy="621792"/>
          </a:xfrm>
          <a:prstGeom prst="rect">
            <a:avLst/>
          </a:prstGeom>
          <a:noFill/>
        </p:spPr>
        <p:txBody>
          <a:bodyPr wrap="none" lIns="0" rIns="0" tIns="0" bIns="0">
            <a:noAutofit/>
          </a:bodyPr>
          <a:lstStyle/>
          <a:p>
            <a:pPr algn="l">
              <a:lnSpc>
                <a:spcPts val="3569"/>
              </a:lnSpc>
              <a:spcBef>
                <a:spcPts val="0"/>
              </a:spcBef>
              <a:spcAft>
                <a:spcPts val="0"/>
              </a:spcAft>
              <a:defRPr sz="3000" b="1">
                <a:solidFill>
                  <a:srgbClr val="193447"/>
                </a:solidFill>
                <a:latin typeface="Noto Sans"/>
              </a:defRPr>
            </a:pPr>
            <a:r>
              <a:t>Deep learning model and methodology</a:t>
            </a:r>
          </a:p>
        </p:txBody>
      </p:sp>
      <p:sp>
        <p:nvSpPr>
          <p:cNvPr id="4" name="TextBox 3"/>
          <p:cNvSpPr txBox="1"/>
          <p:nvPr/>
        </p:nvSpPr>
        <p:spPr>
          <a:xfrm>
            <a:off x="594360" y="1444752"/>
            <a:ext cx="13350240" cy="548640"/>
          </a:xfrm>
          <a:prstGeom prst="rect">
            <a:avLst/>
          </a:prstGeom>
          <a:noFill/>
        </p:spPr>
        <p:txBody>
          <a:bodyPr wrap="none" lIns="0" rIns="0" tIns="0" bIns="0">
            <a:noAutofit/>
          </a:bodyPr>
          <a:lstStyle/>
          <a:p>
            <a:pPr algn="l">
              <a:lnSpc>
                <a:spcPts val="1784"/>
              </a:lnSpc>
              <a:spcBef>
                <a:spcPts val="0"/>
              </a:spcBef>
              <a:spcAft>
                <a:spcPts val="0"/>
              </a:spcAft>
              <a:defRPr sz="1500" b="0">
                <a:solidFill>
                  <a:srgbClr val="526575"/>
                </a:solidFill>
                <a:latin typeface="Noto Sans"/>
              </a:defRPr>
            </a:pPr>
            <a:r>
              <a:t>Small student for inference; larger teacher evaluated only as a training aid.</a:t>
            </a:r>
          </a:p>
        </p:txBody>
      </p:sp>
      <p:sp>
        <p:nvSpPr>
          <p:cNvPr id="5" name="Rectangle 4"/>
          <p:cNvSpPr/>
          <p:nvPr/>
        </p:nvSpPr>
        <p:spPr>
          <a:xfrm>
            <a:off x="594360" y="7571231"/>
            <a:ext cx="13441680" cy="11887"/>
          </a:xfrm>
          <a:prstGeom prst="rect">
            <a:avLst/>
          </a:prstGeom>
          <a:solidFill>
            <a:srgbClr val="DC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7708392"/>
            <a:ext cx="12618720" cy="283464"/>
          </a:xfrm>
          <a:prstGeom prst="rect">
            <a:avLst/>
          </a:prstGeom>
          <a:noFill/>
        </p:spPr>
        <p:txBody>
          <a:bodyPr wrap="none" lIns="0" rIns="0" tIns="0" bIns="0">
            <a:noAutofit/>
          </a:bodyPr>
          <a:lstStyle/>
          <a:p>
            <a:pPr algn="l">
              <a:lnSpc>
                <a:spcPts val="1071"/>
              </a:lnSpc>
              <a:spcBef>
                <a:spcPts val="0"/>
              </a:spcBef>
              <a:spcAft>
                <a:spcPts val="0"/>
              </a:spcAft>
              <a:defRPr sz="900" b="0">
                <a:solidFill>
                  <a:srgbClr val="526575"/>
                </a:solidFill>
                <a:latin typeface="Noto Sans"/>
              </a:defRPr>
            </a:pPr>
            <a:r>
              <a:t>Source: docs/FINAL_REPORT.md · frozen launch configurations · src/aerodepth_lite/model.py</a:t>
            </a:r>
          </a:p>
        </p:txBody>
      </p:sp>
      <p:sp>
        <p:nvSpPr>
          <p:cNvPr id="7" name="TextBox 6"/>
          <p:cNvSpPr txBox="1"/>
          <p:nvPr/>
        </p:nvSpPr>
        <p:spPr>
          <a:xfrm>
            <a:off x="13258800" y="7662672"/>
            <a:ext cx="777240" cy="320040"/>
          </a:xfrm>
          <a:prstGeom prst="rect">
            <a:avLst/>
          </a:prstGeom>
          <a:noFill/>
        </p:spPr>
        <p:txBody>
          <a:bodyPr wrap="none" lIns="0" rIns="0" tIns="0" bIns="0">
            <a:noAutofit/>
          </a:bodyPr>
          <a:lstStyle/>
          <a:p>
            <a:pPr algn="r">
              <a:lnSpc>
                <a:spcPts val="1189"/>
              </a:lnSpc>
              <a:spcBef>
                <a:spcPts val="0"/>
              </a:spcBef>
              <a:spcAft>
                <a:spcPts val="0"/>
              </a:spcAft>
              <a:defRPr sz="1000" b="0">
                <a:solidFill>
                  <a:srgbClr val="526575"/>
                </a:solidFill>
                <a:latin typeface="Noto Sans"/>
              </a:defRPr>
            </a:pPr>
            <a:r>
              <a:t>09 / 13</a:t>
            </a:r>
          </a:p>
        </p:txBody>
      </p:sp>
      <p:sp>
        <p:nvSpPr>
          <p:cNvPr id="8" name="Rectangle 7"/>
          <p:cNvSpPr/>
          <p:nvPr/>
        </p:nvSpPr>
        <p:spPr>
          <a:xfrm>
            <a:off x="594360" y="2103120"/>
            <a:ext cx="13441680" cy="1051560"/>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95144"/>
            <a:ext cx="12893040" cy="585216"/>
          </a:xfrm>
          <a:prstGeom prst="rect">
            <a:avLst/>
          </a:prstGeom>
          <a:noFill/>
        </p:spPr>
        <p:txBody>
          <a:bodyPr wrap="none" lIns="0" rIns="0" tIns="0" bIns="0">
            <a:noAutofit/>
          </a:bodyPr>
          <a:lstStyle/>
          <a:p>
            <a:pPr algn="ctr">
              <a:lnSpc>
                <a:spcPts val="2261"/>
              </a:lnSpc>
              <a:spcBef>
                <a:spcPts val="0"/>
              </a:spcBef>
              <a:spcAft>
                <a:spcPts val="0"/>
              </a:spcAft>
              <a:defRPr sz="1900" b="1">
                <a:solidFill>
                  <a:srgbClr val="FFFFFF"/>
                </a:solidFill>
                <a:latin typeface="Arial"/>
              </a:defRPr>
            </a:pPr>
            <a:r>
              <a:t>RGB → MobileNetV3-Small → 576→128 projection → skip decoder → 1-channel range</a:t>
            </a:r>
          </a:p>
        </p:txBody>
      </p:sp>
      <p:sp>
        <p:nvSpPr>
          <p:cNvPr id="10" name="TextBox 9"/>
          <p:cNvSpPr txBox="1"/>
          <p:nvPr/>
        </p:nvSpPr>
        <p:spPr>
          <a:xfrm>
            <a:off x="594360" y="3383280"/>
            <a:ext cx="6400800" cy="365760"/>
          </a:xfrm>
          <a:prstGeom prst="rect">
            <a:avLst/>
          </a:prstGeom>
          <a:noFill/>
        </p:spPr>
        <p:txBody>
          <a:bodyPr wrap="none" lIns="0" rIns="0" tIns="0" bIns="0">
            <a:noAutofit/>
          </a:bodyPr>
          <a:lstStyle/>
          <a:p>
            <a:pPr algn="l">
              <a:lnSpc>
                <a:spcPts val="1547"/>
              </a:lnSpc>
              <a:spcBef>
                <a:spcPts val="0"/>
              </a:spcBef>
              <a:spcAft>
                <a:spcPts val="0"/>
              </a:spcAft>
              <a:defRPr sz="1300" b="1">
                <a:solidFill>
                  <a:srgbClr val="008C83"/>
                </a:solidFill>
                <a:latin typeface="Noto Sans"/>
              </a:defRPr>
            </a:pPr>
            <a:r>
              <a:t>STUDENT ARCHITECTURE</a:t>
            </a:r>
          </a:p>
        </p:txBody>
      </p:sp>
      <p:sp>
        <p:nvSpPr>
          <p:cNvPr id="11" name="TextBox 10"/>
          <p:cNvSpPr txBox="1"/>
          <p:nvPr/>
        </p:nvSpPr>
        <p:spPr>
          <a:xfrm>
            <a:off x="594360" y="3886200"/>
            <a:ext cx="6400800" cy="1371600"/>
          </a:xfrm>
          <a:prstGeom prst="rect">
            <a:avLst/>
          </a:prstGeom>
          <a:noFill/>
        </p:spPr>
        <p:txBody>
          <a:bodyPr wrap="none" lIns="0" rIns="0" tIns="0" bIns="0">
            <a:noAutofit/>
          </a:bodyPr>
          <a:lstStyle/>
          <a:p>
            <a:pPr algn="l">
              <a:lnSpc>
                <a:spcPts val="2142"/>
              </a:lnSpc>
              <a:spcBef>
                <a:spcPts val="0"/>
              </a:spcBef>
              <a:spcAft>
                <a:spcPts val="0"/>
              </a:spcAft>
              <a:defRPr sz="1800" b="0">
                <a:solidFill>
                  <a:srgbClr val="193447"/>
                </a:solidFill>
                <a:latin typeface="Noto Sans"/>
              </a:defRPr>
            </a:pPr>
            <a:r>
              <a:t>1,027,489 parameters</a:t>
            </a:r>
          </a:p>
          <a:p>
            <a:pPr algn="l">
              <a:lnSpc>
                <a:spcPts val="2142"/>
              </a:lnSpc>
              <a:spcBef>
                <a:spcPts val="0"/>
              </a:spcBef>
              <a:spcAft>
                <a:spcPts val="0"/>
              </a:spcAft>
              <a:defRPr sz="1800" b="0">
                <a:solidFill>
                  <a:srgbClr val="193447"/>
                </a:solidFill>
                <a:latin typeface="Noto Sans"/>
              </a:defRPr>
            </a:pPr>
            <a:r>
              <a:t>Skip indices 0 / 1 / 3 / 8</a:t>
            </a:r>
          </a:p>
          <a:p>
            <a:pPr algn="l">
              <a:lnSpc>
                <a:spcPts val="2142"/>
              </a:lnSpc>
              <a:spcBef>
                <a:spcPts val="0"/>
              </a:spcBef>
              <a:spcAft>
                <a:spcPts val="0"/>
              </a:spcAft>
              <a:defRPr sz="1800" b="0">
                <a:solidFill>
                  <a:srgbClr val="193447"/>
                </a:solidFill>
                <a:latin typeface="Noto Sans"/>
              </a:defRPr>
            </a:pPr>
            <a:r>
              <a:t>Decoder widths 64 / 32 / 24 / 16</a:t>
            </a:r>
          </a:p>
          <a:p>
            <a:pPr algn="l">
              <a:lnSpc>
                <a:spcPts val="2142"/>
              </a:lnSpc>
              <a:spcBef>
                <a:spcPts val="0"/>
              </a:spcBef>
              <a:spcAft>
                <a:spcPts val="0"/>
              </a:spcAft>
              <a:defRPr sz="1800" b="0">
                <a:solidFill>
                  <a:srgbClr val="193447"/>
                </a:solidFill>
                <a:latin typeface="Noto Sans"/>
              </a:defRPr>
            </a:pPr>
            <a:r>
              <a:t>Bilinear upsampling; softplus + 0.1 m</a:t>
            </a:r>
          </a:p>
        </p:txBody>
      </p:sp>
      <p:sp>
        <p:nvSpPr>
          <p:cNvPr id="12" name="TextBox 11"/>
          <p:cNvSpPr txBox="1"/>
          <p:nvPr/>
        </p:nvSpPr>
        <p:spPr>
          <a:xfrm>
            <a:off x="594360" y="5596128"/>
            <a:ext cx="6400800" cy="859536"/>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Why selected: compact ImageNet-initialized encoder with a</a:t>
            </a:r>
          </a:p>
          <a:p>
            <a:pPr algn="l">
              <a:lnSpc>
                <a:spcPts val="2023"/>
              </a:lnSpc>
              <a:spcBef>
                <a:spcPts val="0"/>
              </a:spcBef>
              <a:spcAft>
                <a:spcPts val="0"/>
              </a:spcAft>
              <a:defRPr sz="1700" b="0">
                <a:solidFill>
                  <a:srgbClr val="526575"/>
                </a:solidFill>
                <a:latin typeface="Noto Sans"/>
              </a:defRPr>
            </a:pPr>
            <a:r>
              <a:t>custom dense decoder. Teacher: ResNet-50 V1.5.</a:t>
            </a:r>
          </a:p>
        </p:txBody>
      </p:sp>
      <p:sp>
        <p:nvSpPr>
          <p:cNvPr id="13" name="TextBox 12"/>
          <p:cNvSpPr txBox="1"/>
          <p:nvPr/>
        </p:nvSpPr>
        <p:spPr>
          <a:xfrm>
            <a:off x="594360" y="6455664"/>
            <a:ext cx="6400800" cy="274320"/>
          </a:xfrm>
          <a:prstGeom prst="rect">
            <a:avLst/>
          </a:prstGeom>
          <a:noFill/>
        </p:spPr>
        <p:txBody>
          <a:bodyPr wrap="none" lIns="0" rIns="0" tIns="0" bIns="0">
            <a:noAutofit/>
          </a:bodyPr>
          <a:lstStyle/>
          <a:p>
            <a:pPr algn="l">
              <a:lnSpc>
                <a:spcPts val="1428"/>
              </a:lnSpc>
              <a:spcBef>
                <a:spcPts val="0"/>
              </a:spcBef>
              <a:spcAft>
                <a:spcPts val="0"/>
              </a:spcAft>
              <a:defRPr sz="1200" b="0">
                <a:solidFill>
                  <a:srgbClr val="008C83"/>
                </a:solidFill>
                <a:latin typeface="Noto Sans"/>
              </a:defRPr>
            </a:pPr>
            <a:r>
              <a:t>Tools: Python · PyTorch / torchvision · NumPy · Streamlit</a:t>
            </a:r>
          </a:p>
        </p:txBody>
      </p:sp>
      <p:sp>
        <p:nvSpPr>
          <p:cNvPr id="14" name="TextBox 13"/>
          <p:cNvSpPr txBox="1"/>
          <p:nvPr/>
        </p:nvSpPr>
        <p:spPr>
          <a:xfrm>
            <a:off x="7360920" y="3383280"/>
            <a:ext cx="6675120" cy="365760"/>
          </a:xfrm>
          <a:prstGeom prst="rect">
            <a:avLst/>
          </a:prstGeom>
          <a:noFill/>
        </p:spPr>
        <p:txBody>
          <a:bodyPr wrap="none" lIns="0" rIns="0" tIns="0" bIns="0">
            <a:noAutofit/>
          </a:bodyPr>
          <a:lstStyle/>
          <a:p>
            <a:pPr algn="l">
              <a:lnSpc>
                <a:spcPts val="1547"/>
              </a:lnSpc>
              <a:spcBef>
                <a:spcPts val="0"/>
              </a:spcBef>
              <a:spcAft>
                <a:spcPts val="0"/>
              </a:spcAft>
              <a:defRPr sz="1300" b="1">
                <a:solidFill>
                  <a:srgbClr val="008C83"/>
                </a:solidFill>
                <a:latin typeface="Noto Sans"/>
              </a:defRPr>
            </a:pPr>
            <a:r>
              <a:t>TRAINING CONFIGURATION</a:t>
            </a:r>
          </a:p>
        </p:txBody>
      </p:sp>
      <p:sp>
        <p:nvSpPr>
          <p:cNvPr id="15" name="TextBox 14"/>
          <p:cNvSpPr txBox="1"/>
          <p:nvPr/>
        </p:nvSpPr>
        <p:spPr>
          <a:xfrm>
            <a:off x="7360920" y="3886200"/>
            <a:ext cx="6629400" cy="2468880"/>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A / KD: 10 epochs each; selected epoch 9</a:t>
            </a:r>
          </a:p>
          <a:p>
            <a:pPr algn="l">
              <a:lnSpc>
                <a:spcPts val="2023"/>
              </a:lnSpc>
              <a:spcBef>
                <a:spcPts val="0"/>
              </a:spcBef>
              <a:spcAft>
                <a:spcPts val="0"/>
              </a:spcAft>
              <a:defRPr sz="1700" b="0">
                <a:solidFill>
                  <a:srgbClr val="193447"/>
                </a:solidFill>
                <a:latin typeface="Noto Sans"/>
              </a:defRPr>
            </a:pPr>
            <a:r>
              <a:t>Teacher B: 20 epochs; selected epoch 3</a:t>
            </a:r>
          </a:p>
          <a:p>
            <a:pPr algn="l">
              <a:lnSpc>
                <a:spcPts val="2023"/>
              </a:lnSpc>
              <a:spcBef>
                <a:spcPts val="0"/>
              </a:spcBef>
              <a:spcAft>
                <a:spcPts val="0"/>
              </a:spcAft>
              <a:defRPr sz="1700" b="0">
                <a:solidFill>
                  <a:srgbClr val="193447"/>
                </a:solidFill>
                <a:latin typeface="Noto Sans"/>
              </a:defRPr>
            </a:pPr>
            <a:r>
              <a:t>AdamW · batch 2 · seed 42 · clip 1.0</a:t>
            </a:r>
          </a:p>
          <a:p>
            <a:pPr algn="l">
              <a:lnSpc>
                <a:spcPts val="2023"/>
              </a:lnSpc>
              <a:spcBef>
                <a:spcPts val="0"/>
              </a:spcBef>
              <a:spcAft>
                <a:spcPts val="0"/>
              </a:spcAft>
              <a:defRPr sz="1700" b="0">
                <a:solidFill>
                  <a:srgbClr val="193447"/>
                </a:solidFill>
                <a:latin typeface="Noto Sans"/>
              </a:defRPr>
            </a:pPr>
            <a:r>
              <a:t>Student LR 10⁻⁴ · weight decay 10⁻⁴</a:t>
            </a:r>
          </a:p>
          <a:p>
            <a:pPr algn="l">
              <a:lnSpc>
                <a:spcPts val="2023"/>
              </a:lnSpc>
              <a:spcBef>
                <a:spcPts val="0"/>
              </a:spcBef>
              <a:spcAft>
                <a:spcPts val="0"/>
              </a:spcAft>
              <a:defRPr sz="1700" b="0">
                <a:solidFill>
                  <a:srgbClr val="193447"/>
                </a:solidFill>
                <a:latin typeface="Noto Sans"/>
              </a:defRPr>
            </a:pPr>
            <a:r>
              <a:t>Cosine minimum: 10⁻⁶</a:t>
            </a:r>
          </a:p>
          <a:p>
            <a:pPr algn="l">
              <a:lnSpc>
                <a:spcPts val="2023"/>
              </a:lnSpc>
              <a:spcBef>
                <a:spcPts val="0"/>
              </a:spcBef>
              <a:spcAft>
                <a:spcPts val="0"/>
              </a:spcAft>
              <a:defRPr sz="1700" b="0">
                <a:solidFill>
                  <a:srgbClr val="193447"/>
                </a:solidFill>
                <a:latin typeface="Noto Sans"/>
              </a:defRPr>
            </a:pPr>
            <a:r>
              <a:t>Teacher encoder / decoder LR: 10⁻⁵ / 10⁻⁴</a:t>
            </a:r>
          </a:p>
        </p:txBody>
      </p:sp>
      <p:sp>
        <p:nvSpPr>
          <p:cNvPr id="16" name="Rectangle 15"/>
          <p:cNvSpPr/>
          <p:nvPr/>
        </p:nvSpPr>
        <p:spPr>
          <a:xfrm>
            <a:off x="594360" y="6830568"/>
            <a:ext cx="13441680" cy="512064"/>
          </a:xfrm>
          <a:prstGeom prst="rect">
            <a:avLst/>
          </a:prstGeom>
          <a:solidFill>
            <a:srgbClr val="DF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940296"/>
            <a:ext cx="12984480" cy="301752"/>
          </a:xfrm>
          <a:prstGeom prst="rect">
            <a:avLst/>
          </a:prstGeom>
          <a:noFill/>
        </p:spPr>
        <p:txBody>
          <a:bodyPr wrap="none" lIns="0" rIns="0" tIns="0" bIns="0">
            <a:noAutofit/>
          </a:bodyPr>
          <a:lstStyle/>
          <a:p>
            <a:pPr algn="l">
              <a:lnSpc>
                <a:spcPts val="1666"/>
              </a:lnSpc>
              <a:spcBef>
                <a:spcPts val="0"/>
              </a:spcBef>
              <a:spcAft>
                <a:spcPts val="0"/>
              </a:spcAft>
              <a:defRPr sz="1400" b="1">
                <a:solidFill>
                  <a:srgbClr val="008C83"/>
                </a:solidFill>
                <a:latin typeface="Noto Sans"/>
              </a:defRPr>
            </a:pPr>
            <a:r>
              <a:t>Loss = L1 range + 0.2 L1 log-range + 0.1 gradient L1 | KD adds 0.2 log-range consistency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292608"/>
            <a:ext cx="11887200" cy="228600"/>
          </a:xfrm>
          <a:prstGeom prst="rect">
            <a:avLst/>
          </a:prstGeom>
          <a:noFill/>
        </p:spPr>
        <p:txBody>
          <a:bodyPr wrap="none" lIns="0" rIns="0" tIns="0" bIns="0">
            <a:noAutofit/>
          </a:bodyPr>
          <a:lstStyle/>
          <a:p>
            <a:pPr algn="l">
              <a:lnSpc>
                <a:spcPts val="1189"/>
              </a:lnSpc>
              <a:spcBef>
                <a:spcPts val="0"/>
              </a:spcBef>
              <a:spcAft>
                <a:spcPts val="0"/>
              </a:spcAft>
              <a:defRPr sz="1000" b="1">
                <a:solidFill>
                  <a:srgbClr val="008C83"/>
                </a:solidFill>
                <a:latin typeface="Noto Sans"/>
              </a:defRPr>
            </a:pPr>
            <a:r>
              <a:t>AERODEPTH-LITE / DEEP LEARNING PROJECT</a:t>
            </a:r>
          </a:p>
        </p:txBody>
      </p:sp>
      <p:sp>
        <p:nvSpPr>
          <p:cNvPr id="3" name="TextBox 2"/>
          <p:cNvSpPr txBox="1"/>
          <p:nvPr/>
        </p:nvSpPr>
        <p:spPr>
          <a:xfrm>
            <a:off x="594360" y="777240"/>
            <a:ext cx="13441680" cy="621792"/>
          </a:xfrm>
          <a:prstGeom prst="rect">
            <a:avLst/>
          </a:prstGeom>
          <a:noFill/>
        </p:spPr>
        <p:txBody>
          <a:bodyPr wrap="none" lIns="0" rIns="0" tIns="0" bIns="0">
            <a:noAutofit/>
          </a:bodyPr>
          <a:lstStyle/>
          <a:p>
            <a:pPr algn="l">
              <a:lnSpc>
                <a:spcPts val="3569"/>
              </a:lnSpc>
              <a:spcBef>
                <a:spcPts val="0"/>
              </a:spcBef>
              <a:spcAft>
                <a:spcPts val="0"/>
              </a:spcAft>
              <a:defRPr sz="3000" b="1">
                <a:solidFill>
                  <a:srgbClr val="193447"/>
                </a:solidFill>
                <a:latin typeface="Noto Sans"/>
              </a:defRPr>
            </a:pPr>
            <a:r>
              <a:t>Experimental results: training and validation</a:t>
            </a:r>
          </a:p>
        </p:txBody>
      </p:sp>
      <p:sp>
        <p:nvSpPr>
          <p:cNvPr id="4" name="TextBox 3"/>
          <p:cNvSpPr txBox="1"/>
          <p:nvPr/>
        </p:nvSpPr>
        <p:spPr>
          <a:xfrm>
            <a:off x="594360" y="1444752"/>
            <a:ext cx="13350240" cy="548640"/>
          </a:xfrm>
          <a:prstGeom prst="rect">
            <a:avLst/>
          </a:prstGeom>
          <a:noFill/>
        </p:spPr>
        <p:txBody>
          <a:bodyPr wrap="none" lIns="0" rIns="0" tIns="0" bIns="0">
            <a:noAutofit/>
          </a:bodyPr>
          <a:lstStyle/>
          <a:p>
            <a:pPr algn="l">
              <a:lnSpc>
                <a:spcPts val="1784"/>
              </a:lnSpc>
              <a:spcBef>
                <a:spcPts val="0"/>
              </a:spcBef>
              <a:spcAft>
                <a:spcPts val="0"/>
              </a:spcAft>
              <a:defRPr sz="1500" b="0">
                <a:solidFill>
                  <a:srgbClr val="526575"/>
                </a:solidFill>
                <a:latin typeface="Noto Sans"/>
              </a:defRPr>
            </a:pPr>
            <a:r>
              <a:t>Recorded curves from the completed expanded supervised and exploratory KD runs.</a:t>
            </a:r>
          </a:p>
        </p:txBody>
      </p:sp>
      <p:sp>
        <p:nvSpPr>
          <p:cNvPr id="5" name="Rectangle 4"/>
          <p:cNvSpPr/>
          <p:nvPr/>
        </p:nvSpPr>
        <p:spPr>
          <a:xfrm>
            <a:off x="594360" y="7571231"/>
            <a:ext cx="13441680" cy="11887"/>
          </a:xfrm>
          <a:prstGeom prst="rect">
            <a:avLst/>
          </a:prstGeom>
          <a:solidFill>
            <a:srgbClr val="DC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7708392"/>
            <a:ext cx="12618720" cy="283464"/>
          </a:xfrm>
          <a:prstGeom prst="rect">
            <a:avLst/>
          </a:prstGeom>
          <a:noFill/>
        </p:spPr>
        <p:txBody>
          <a:bodyPr wrap="none" lIns="0" rIns="0" tIns="0" bIns="0">
            <a:noAutofit/>
          </a:bodyPr>
          <a:lstStyle/>
          <a:p>
            <a:pPr algn="l">
              <a:lnSpc>
                <a:spcPts val="1071"/>
              </a:lnSpc>
              <a:spcBef>
                <a:spcPts val="0"/>
              </a:spcBef>
              <a:spcAft>
                <a:spcPts val="0"/>
              </a:spcAft>
              <a:defRPr sz="900" b="0">
                <a:solidFill>
                  <a:srgbClr val="526575"/>
                </a:solidFill>
                <a:latin typeface="Noto Sans"/>
              </a:defRPr>
            </a:pPr>
            <a:r>
              <a:t>Source: results/presentation_validation_20261029T155521Z/training_curves.json · plots regenerated from saved values</a:t>
            </a:r>
          </a:p>
        </p:txBody>
      </p:sp>
      <p:sp>
        <p:nvSpPr>
          <p:cNvPr id="7" name="TextBox 6"/>
          <p:cNvSpPr txBox="1"/>
          <p:nvPr/>
        </p:nvSpPr>
        <p:spPr>
          <a:xfrm>
            <a:off x="13258800" y="7662672"/>
            <a:ext cx="777240" cy="320040"/>
          </a:xfrm>
          <a:prstGeom prst="rect">
            <a:avLst/>
          </a:prstGeom>
          <a:noFill/>
        </p:spPr>
        <p:txBody>
          <a:bodyPr wrap="none" lIns="0" rIns="0" tIns="0" bIns="0">
            <a:noAutofit/>
          </a:bodyPr>
          <a:lstStyle/>
          <a:p>
            <a:pPr algn="r">
              <a:lnSpc>
                <a:spcPts val="1189"/>
              </a:lnSpc>
              <a:spcBef>
                <a:spcPts val="0"/>
              </a:spcBef>
              <a:spcAft>
                <a:spcPts val="0"/>
              </a:spcAft>
              <a:defRPr sz="1000" b="0">
                <a:solidFill>
                  <a:srgbClr val="526575"/>
                </a:solidFill>
                <a:latin typeface="Noto Sans"/>
              </a:defRPr>
            </a:pPr>
            <a:r>
              <a:t>10 / 13</a:t>
            </a:r>
          </a:p>
        </p:txBody>
      </p:sp>
      <p:pic>
        <p:nvPicPr>
          <p:cNvPr id="8" name="Picture 7" descr="training_curves.png"/>
          <p:cNvPicPr>
            <a:picLocks noChangeAspect="1"/>
          </p:cNvPicPr>
          <p:nvPr/>
        </p:nvPicPr>
        <p:blipFill>
          <a:blip r:embed="rId2"/>
          <a:stretch>
            <a:fillRect/>
          </a:stretch>
        </p:blipFill>
        <p:spPr>
          <a:xfrm>
            <a:off x="594360" y="2057400"/>
            <a:ext cx="13441680" cy="3895344"/>
          </a:xfrm>
          <a:prstGeom prst="rect">
            <a:avLst/>
          </a:prstGeom>
        </p:spPr>
      </p:pic>
      <p:sp>
        <p:nvSpPr>
          <p:cNvPr id="9" name="Rectangle 8"/>
          <p:cNvSpPr/>
          <p:nvPr/>
        </p:nvSpPr>
        <p:spPr>
          <a:xfrm>
            <a:off x="594360" y="6181344"/>
            <a:ext cx="6492240" cy="1078992"/>
          </a:xfrm>
          <a:prstGeom prst="rect">
            <a:avLst/>
          </a:prstGeom>
          <a:solidFill>
            <a:srgbClr val="DF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6327648"/>
            <a:ext cx="6035040" cy="301752"/>
          </a:xfrm>
          <a:prstGeom prst="rect">
            <a:avLst/>
          </a:prstGeom>
          <a:noFill/>
        </p:spPr>
        <p:txBody>
          <a:bodyPr wrap="none" lIns="0" rIns="0" tIns="0" bIns="0">
            <a:noAutofit/>
          </a:bodyPr>
          <a:lstStyle/>
          <a:p>
            <a:pPr algn="l">
              <a:lnSpc>
                <a:spcPts val="2142"/>
              </a:lnSpc>
              <a:spcBef>
                <a:spcPts val="0"/>
              </a:spcBef>
              <a:spcAft>
                <a:spcPts val="0"/>
              </a:spcAft>
              <a:defRPr sz="1800" b="1">
                <a:solidFill>
                  <a:srgbClr val="008C83"/>
                </a:solidFill>
                <a:latin typeface="Noto Sans"/>
              </a:defRPr>
            </a:pPr>
            <a:r>
              <a:t>Both students selected epoch 9</a:t>
            </a:r>
          </a:p>
        </p:txBody>
      </p:sp>
      <p:sp>
        <p:nvSpPr>
          <p:cNvPr id="11" name="TextBox 10"/>
          <p:cNvSpPr txBox="1"/>
          <p:nvPr/>
        </p:nvSpPr>
        <p:spPr>
          <a:xfrm>
            <a:off x="822960" y="6766560"/>
            <a:ext cx="6035040" cy="320040"/>
          </a:xfrm>
          <a:prstGeom prst="rect">
            <a:avLst/>
          </a:prstGeom>
          <a:noFill/>
        </p:spPr>
        <p:txBody>
          <a:bodyPr wrap="none" lIns="0" rIns="0" tIns="0" bIns="0">
            <a:noAutofit/>
          </a:bodyPr>
          <a:lstStyle/>
          <a:p>
            <a:pPr algn="l">
              <a:lnSpc>
                <a:spcPts val="1666"/>
              </a:lnSpc>
              <a:spcBef>
                <a:spcPts val="0"/>
              </a:spcBef>
              <a:spcAft>
                <a:spcPts val="0"/>
              </a:spcAft>
              <a:defRPr sz="1400" b="0">
                <a:solidFill>
                  <a:srgbClr val="193447"/>
                </a:solidFill>
                <a:latin typeface="Noto Sans"/>
              </a:defRPr>
            </a:pPr>
            <a:r>
              <a:t>Selection metric: pooled FP32 validation AbsRel.</a:t>
            </a:r>
          </a:p>
        </p:txBody>
      </p:sp>
      <p:sp>
        <p:nvSpPr>
          <p:cNvPr id="12" name="Rectangle 11"/>
          <p:cNvSpPr/>
          <p:nvPr/>
        </p:nvSpPr>
        <p:spPr>
          <a:xfrm>
            <a:off x="7360920" y="6181344"/>
            <a:ext cx="6675120" cy="1078992"/>
          </a:xfrm>
          <a:prstGeom prst="rect">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6327648"/>
            <a:ext cx="6217920" cy="301752"/>
          </a:xfrm>
          <a:prstGeom prst="rect">
            <a:avLst/>
          </a:prstGeom>
          <a:noFill/>
        </p:spPr>
        <p:txBody>
          <a:bodyPr wrap="none" lIns="0" rIns="0" tIns="0" bIns="0">
            <a:noAutofit/>
          </a:bodyPr>
          <a:lstStyle/>
          <a:p>
            <a:pPr algn="l">
              <a:lnSpc>
                <a:spcPts val="1904"/>
              </a:lnSpc>
              <a:spcBef>
                <a:spcPts val="0"/>
              </a:spcBef>
              <a:spcAft>
                <a:spcPts val="0"/>
              </a:spcAft>
              <a:defRPr sz="1600" b="1">
                <a:solidFill>
                  <a:srgbClr val="B35B15"/>
                </a:solidFill>
                <a:latin typeface="Noto Sans"/>
              </a:defRPr>
            </a:pPr>
            <a:r>
              <a:t>Lower training loss is not proof of generalization</a:t>
            </a:r>
          </a:p>
        </p:txBody>
      </p:sp>
      <p:sp>
        <p:nvSpPr>
          <p:cNvPr id="14" name="TextBox 13"/>
          <p:cNvSpPr txBox="1"/>
          <p:nvPr/>
        </p:nvSpPr>
        <p:spPr>
          <a:xfrm>
            <a:off x="7589520" y="6766560"/>
            <a:ext cx="6217920" cy="320040"/>
          </a:xfrm>
          <a:prstGeom prst="rect">
            <a:avLst/>
          </a:prstGeom>
          <a:noFill/>
        </p:spPr>
        <p:txBody>
          <a:bodyPr wrap="none" lIns="0" rIns="0" tIns="0" bIns="0">
            <a:noAutofit/>
          </a:bodyPr>
          <a:lstStyle/>
          <a:p>
            <a:pPr algn="l">
              <a:lnSpc>
                <a:spcPts val="1666"/>
              </a:lnSpc>
              <a:spcBef>
                <a:spcPts val="0"/>
              </a:spcBef>
              <a:spcAft>
                <a:spcPts val="0"/>
              </a:spcAft>
              <a:defRPr sz="1400" b="0">
                <a:solidFill>
                  <a:srgbClr val="193447"/>
                </a:solidFill>
                <a:latin typeface="Noto Sans"/>
              </a:defRPr>
            </a:pPr>
            <a:r>
              <a:t>A and KD objectives differ; compare validation error.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292608"/>
            <a:ext cx="11887200" cy="228600"/>
          </a:xfrm>
          <a:prstGeom prst="rect">
            <a:avLst/>
          </a:prstGeom>
          <a:noFill/>
        </p:spPr>
        <p:txBody>
          <a:bodyPr wrap="none" lIns="0" rIns="0" tIns="0" bIns="0">
            <a:noAutofit/>
          </a:bodyPr>
          <a:lstStyle/>
          <a:p>
            <a:pPr algn="l">
              <a:lnSpc>
                <a:spcPts val="1189"/>
              </a:lnSpc>
              <a:spcBef>
                <a:spcPts val="0"/>
              </a:spcBef>
              <a:spcAft>
                <a:spcPts val="0"/>
              </a:spcAft>
              <a:defRPr sz="1000" b="1">
                <a:solidFill>
                  <a:srgbClr val="008C83"/>
                </a:solidFill>
                <a:latin typeface="Noto Sans"/>
              </a:defRPr>
            </a:pPr>
            <a:r>
              <a:t>AERODEPTH-LITE / DEEP LEARNING PROJECT</a:t>
            </a:r>
          </a:p>
        </p:txBody>
      </p:sp>
      <p:sp>
        <p:nvSpPr>
          <p:cNvPr id="3" name="TextBox 2"/>
          <p:cNvSpPr txBox="1"/>
          <p:nvPr/>
        </p:nvSpPr>
        <p:spPr>
          <a:xfrm>
            <a:off x="594360" y="777240"/>
            <a:ext cx="13441680" cy="621792"/>
          </a:xfrm>
          <a:prstGeom prst="rect">
            <a:avLst/>
          </a:prstGeom>
          <a:noFill/>
        </p:spPr>
        <p:txBody>
          <a:bodyPr wrap="none" lIns="0" rIns="0" tIns="0" bIns="0">
            <a:noAutofit/>
          </a:bodyPr>
          <a:lstStyle/>
          <a:p>
            <a:pPr algn="l">
              <a:lnSpc>
                <a:spcPts val="3569"/>
              </a:lnSpc>
              <a:spcBef>
                <a:spcPts val="0"/>
              </a:spcBef>
              <a:spcAft>
                <a:spcPts val="0"/>
              </a:spcAft>
              <a:defRPr sz="3000" b="1">
                <a:solidFill>
                  <a:srgbClr val="193447"/>
                </a:solidFill>
                <a:latin typeface="Noto Sans"/>
              </a:defRPr>
            </a:pPr>
            <a:r>
              <a:t>Experimental results: model comparison</a:t>
            </a:r>
          </a:p>
        </p:txBody>
      </p:sp>
      <p:sp>
        <p:nvSpPr>
          <p:cNvPr id="4" name="TextBox 3"/>
          <p:cNvSpPr txBox="1"/>
          <p:nvPr/>
        </p:nvSpPr>
        <p:spPr>
          <a:xfrm>
            <a:off x="594360" y="1444752"/>
            <a:ext cx="13350240" cy="548640"/>
          </a:xfrm>
          <a:prstGeom prst="rect">
            <a:avLst/>
          </a:prstGeom>
          <a:noFill/>
        </p:spPr>
        <p:txBody>
          <a:bodyPr wrap="none" lIns="0" rIns="0" tIns="0" bIns="0">
            <a:noAutofit/>
          </a:bodyPr>
          <a:lstStyle/>
          <a:p>
            <a:pPr algn="l">
              <a:lnSpc>
                <a:spcPts val="1784"/>
              </a:lnSpc>
              <a:spcBef>
                <a:spcPts val="0"/>
              </a:spcBef>
              <a:spcAft>
                <a:spcPts val="0"/>
              </a:spcAft>
              <a:defRPr sz="1500" b="0">
                <a:solidFill>
                  <a:srgbClr val="526575"/>
                </a:solidFill>
                <a:latin typeface="Noto Sans"/>
              </a:defRPr>
            </a:pPr>
            <a:r>
              <a:t>4,410 validation frames · lower error is better · identical evaluation masks</a:t>
            </a:r>
          </a:p>
        </p:txBody>
      </p:sp>
      <p:sp>
        <p:nvSpPr>
          <p:cNvPr id="5" name="Rectangle 4"/>
          <p:cNvSpPr/>
          <p:nvPr/>
        </p:nvSpPr>
        <p:spPr>
          <a:xfrm>
            <a:off x="594360" y="7571231"/>
            <a:ext cx="13441680" cy="11887"/>
          </a:xfrm>
          <a:prstGeom prst="rect">
            <a:avLst/>
          </a:prstGeom>
          <a:solidFill>
            <a:srgbClr val="DC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7708392"/>
            <a:ext cx="12618720" cy="283464"/>
          </a:xfrm>
          <a:prstGeom prst="rect">
            <a:avLst/>
          </a:prstGeom>
          <a:noFill/>
        </p:spPr>
        <p:txBody>
          <a:bodyPr wrap="none" lIns="0" rIns="0" tIns="0" bIns="0">
            <a:noAutofit/>
          </a:bodyPr>
          <a:lstStyle/>
          <a:p>
            <a:pPr algn="l">
              <a:lnSpc>
                <a:spcPts val="1071"/>
              </a:lnSpc>
              <a:spcBef>
                <a:spcPts val="0"/>
              </a:spcBef>
              <a:spcAft>
                <a:spcPts val="0"/>
              </a:spcAft>
              <a:defRPr sz="900" b="0">
                <a:solidFill>
                  <a:srgbClr val="526575"/>
                </a:solidFill>
                <a:latin typeface="Noto Sans"/>
              </a:defRPr>
            </a:pPr>
            <a:r>
              <a:t>Source: results/student_validation_comparison_20261029T152648Z/comparison.csv · docs/FINAL_REPORT.md</a:t>
            </a:r>
          </a:p>
        </p:txBody>
      </p:sp>
      <p:sp>
        <p:nvSpPr>
          <p:cNvPr id="7" name="TextBox 6"/>
          <p:cNvSpPr txBox="1"/>
          <p:nvPr/>
        </p:nvSpPr>
        <p:spPr>
          <a:xfrm>
            <a:off x="13258800" y="7662672"/>
            <a:ext cx="777240" cy="320040"/>
          </a:xfrm>
          <a:prstGeom prst="rect">
            <a:avLst/>
          </a:prstGeom>
          <a:noFill/>
        </p:spPr>
        <p:txBody>
          <a:bodyPr wrap="none" lIns="0" rIns="0" tIns="0" bIns="0">
            <a:noAutofit/>
          </a:bodyPr>
          <a:lstStyle/>
          <a:p>
            <a:pPr algn="r">
              <a:lnSpc>
                <a:spcPts val="1189"/>
              </a:lnSpc>
              <a:spcBef>
                <a:spcPts val="0"/>
              </a:spcBef>
              <a:spcAft>
                <a:spcPts val="0"/>
              </a:spcAft>
              <a:defRPr sz="1000" b="0">
                <a:solidFill>
                  <a:srgbClr val="526575"/>
                </a:solidFill>
                <a:latin typeface="Noto Sans"/>
              </a:defRPr>
            </a:pPr>
            <a:r>
              <a:t>11 / 13</a:t>
            </a:r>
          </a:p>
        </p:txBody>
      </p:sp>
      <p:sp>
        <p:nvSpPr>
          <p:cNvPr id="8" name="Rectangle 7"/>
          <p:cNvSpPr/>
          <p:nvPr/>
        </p:nvSpPr>
        <p:spPr>
          <a:xfrm>
            <a:off x="594360" y="2121408"/>
            <a:ext cx="4032503" cy="694944"/>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2249424"/>
            <a:ext cx="3776471" cy="512064"/>
          </a:xfrm>
          <a:prstGeom prst="rect">
            <a:avLst/>
          </a:prstGeom>
          <a:noFill/>
        </p:spPr>
        <p:txBody>
          <a:bodyPr wrap="none" lIns="0" rIns="0" tIns="0" bIns="0">
            <a:noAutofit/>
          </a:bodyPr>
          <a:lstStyle/>
          <a:p>
            <a:pPr algn="l">
              <a:lnSpc>
                <a:spcPts val="2023"/>
              </a:lnSpc>
              <a:spcBef>
                <a:spcPts val="0"/>
              </a:spcBef>
              <a:spcAft>
                <a:spcPts val="0"/>
              </a:spcAft>
              <a:defRPr sz="1700" b="1">
                <a:solidFill>
                  <a:srgbClr val="FFFFFF"/>
                </a:solidFill>
                <a:latin typeface="Noto Sans"/>
              </a:defRPr>
            </a:pPr>
            <a:r>
              <a:t>Model</a:t>
            </a:r>
          </a:p>
        </p:txBody>
      </p:sp>
      <p:sp>
        <p:nvSpPr>
          <p:cNvPr id="10" name="Rectangle 9"/>
          <p:cNvSpPr/>
          <p:nvPr/>
        </p:nvSpPr>
        <p:spPr>
          <a:xfrm>
            <a:off x="4626864" y="2121408"/>
            <a:ext cx="2419502" cy="694944"/>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2249424"/>
            <a:ext cx="2163470" cy="512064"/>
          </a:xfrm>
          <a:prstGeom prst="rect">
            <a:avLst/>
          </a:prstGeom>
          <a:noFill/>
        </p:spPr>
        <p:txBody>
          <a:bodyPr wrap="none" lIns="0" rIns="0" tIns="0" bIns="0">
            <a:noAutofit/>
          </a:bodyPr>
          <a:lstStyle/>
          <a:p>
            <a:pPr algn="l">
              <a:lnSpc>
                <a:spcPts val="2023"/>
              </a:lnSpc>
              <a:spcBef>
                <a:spcPts val="0"/>
              </a:spcBef>
              <a:spcAft>
                <a:spcPts val="0"/>
              </a:spcAft>
              <a:defRPr sz="1700" b="1">
                <a:solidFill>
                  <a:srgbClr val="FFFFFF"/>
                </a:solidFill>
                <a:latin typeface="Arial"/>
              </a:defRPr>
            </a:pPr>
            <a:r>
              <a:t>AbsRel ↓</a:t>
            </a:r>
          </a:p>
        </p:txBody>
      </p:sp>
      <p:sp>
        <p:nvSpPr>
          <p:cNvPr id="12" name="Rectangle 11"/>
          <p:cNvSpPr/>
          <p:nvPr/>
        </p:nvSpPr>
        <p:spPr>
          <a:xfrm>
            <a:off x="7046366" y="2121408"/>
            <a:ext cx="2419502" cy="694944"/>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74382" y="2249424"/>
            <a:ext cx="2163470" cy="512064"/>
          </a:xfrm>
          <a:prstGeom prst="rect">
            <a:avLst/>
          </a:prstGeom>
          <a:noFill/>
        </p:spPr>
        <p:txBody>
          <a:bodyPr wrap="none" lIns="0" rIns="0" tIns="0" bIns="0">
            <a:noAutofit/>
          </a:bodyPr>
          <a:lstStyle/>
          <a:p>
            <a:pPr algn="l">
              <a:lnSpc>
                <a:spcPts val="2023"/>
              </a:lnSpc>
              <a:spcBef>
                <a:spcPts val="0"/>
              </a:spcBef>
              <a:spcAft>
                <a:spcPts val="0"/>
              </a:spcAft>
              <a:defRPr sz="1700" b="1">
                <a:solidFill>
                  <a:srgbClr val="FFFFFF"/>
                </a:solidFill>
                <a:latin typeface="Arial"/>
              </a:defRPr>
            </a:pPr>
            <a:r>
              <a:t>RMSE (m) ↓</a:t>
            </a:r>
          </a:p>
        </p:txBody>
      </p:sp>
      <p:sp>
        <p:nvSpPr>
          <p:cNvPr id="14" name="Rectangle 13"/>
          <p:cNvSpPr/>
          <p:nvPr/>
        </p:nvSpPr>
        <p:spPr>
          <a:xfrm>
            <a:off x="9465868" y="2121408"/>
            <a:ext cx="2150668" cy="694944"/>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93884" y="2249424"/>
            <a:ext cx="1894636" cy="512064"/>
          </a:xfrm>
          <a:prstGeom prst="rect">
            <a:avLst/>
          </a:prstGeom>
          <a:noFill/>
        </p:spPr>
        <p:txBody>
          <a:bodyPr wrap="none" lIns="0" rIns="0" tIns="0" bIns="0">
            <a:noAutofit/>
          </a:bodyPr>
          <a:lstStyle/>
          <a:p>
            <a:pPr algn="l">
              <a:lnSpc>
                <a:spcPts val="2023"/>
              </a:lnSpc>
              <a:spcBef>
                <a:spcPts val="0"/>
              </a:spcBef>
              <a:spcAft>
                <a:spcPts val="0"/>
              </a:spcAft>
              <a:defRPr sz="1700" b="1">
                <a:solidFill>
                  <a:srgbClr val="FFFFFF"/>
                </a:solidFill>
                <a:latin typeface="Arial"/>
              </a:defRPr>
            </a:pPr>
            <a:r>
              <a:t>δ1 ↑</a:t>
            </a:r>
          </a:p>
        </p:txBody>
      </p:sp>
      <p:sp>
        <p:nvSpPr>
          <p:cNvPr id="16" name="Rectangle 15"/>
          <p:cNvSpPr/>
          <p:nvPr/>
        </p:nvSpPr>
        <p:spPr>
          <a:xfrm>
            <a:off x="11616537" y="2121408"/>
            <a:ext cx="2419502" cy="694944"/>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44553" y="2249424"/>
            <a:ext cx="2163470" cy="512064"/>
          </a:xfrm>
          <a:prstGeom prst="rect">
            <a:avLst/>
          </a:prstGeom>
          <a:noFill/>
        </p:spPr>
        <p:txBody>
          <a:bodyPr wrap="none" lIns="0" rIns="0" tIns="0" bIns="0">
            <a:noAutofit/>
          </a:bodyPr>
          <a:lstStyle/>
          <a:p>
            <a:pPr algn="l">
              <a:lnSpc>
                <a:spcPts val="2023"/>
              </a:lnSpc>
              <a:spcBef>
                <a:spcPts val="0"/>
              </a:spcBef>
              <a:spcAft>
                <a:spcPts val="0"/>
              </a:spcAft>
              <a:defRPr sz="1700" b="1">
                <a:solidFill>
                  <a:srgbClr val="FFFFFF"/>
                </a:solidFill>
                <a:latin typeface="Arial"/>
              </a:defRPr>
            </a:pPr>
            <a:r>
              <a:t>Near RMSE ↓</a:t>
            </a:r>
          </a:p>
        </p:txBody>
      </p:sp>
      <p:sp>
        <p:nvSpPr>
          <p:cNvPr id="18" name="Rectangle 17"/>
          <p:cNvSpPr/>
          <p:nvPr/>
        </p:nvSpPr>
        <p:spPr>
          <a:xfrm>
            <a:off x="594360" y="2816352"/>
            <a:ext cx="4032503"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2944368"/>
            <a:ext cx="3776471"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Original · epoch 4</a:t>
            </a:r>
          </a:p>
        </p:txBody>
      </p:sp>
      <p:sp>
        <p:nvSpPr>
          <p:cNvPr id="20" name="Rectangle 19"/>
          <p:cNvSpPr/>
          <p:nvPr/>
        </p:nvSpPr>
        <p:spPr>
          <a:xfrm>
            <a:off x="4626864" y="2816352"/>
            <a:ext cx="2419502"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79" y="2944368"/>
            <a:ext cx="2163470"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0.301540</a:t>
            </a:r>
          </a:p>
        </p:txBody>
      </p:sp>
      <p:sp>
        <p:nvSpPr>
          <p:cNvPr id="22" name="Rectangle 21"/>
          <p:cNvSpPr/>
          <p:nvPr/>
        </p:nvSpPr>
        <p:spPr>
          <a:xfrm>
            <a:off x="7046366" y="2816352"/>
            <a:ext cx="2419502"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4382" y="2944368"/>
            <a:ext cx="2163470"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127.335</a:t>
            </a:r>
          </a:p>
        </p:txBody>
      </p:sp>
      <p:sp>
        <p:nvSpPr>
          <p:cNvPr id="24" name="Rectangle 23"/>
          <p:cNvSpPr/>
          <p:nvPr/>
        </p:nvSpPr>
        <p:spPr>
          <a:xfrm>
            <a:off x="9465868" y="2816352"/>
            <a:ext cx="2150668"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93884" y="2944368"/>
            <a:ext cx="1894636"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49.80%</a:t>
            </a:r>
          </a:p>
        </p:txBody>
      </p:sp>
      <p:sp>
        <p:nvSpPr>
          <p:cNvPr id="26" name="Rectangle 25"/>
          <p:cNvSpPr/>
          <p:nvPr/>
        </p:nvSpPr>
        <p:spPr>
          <a:xfrm>
            <a:off x="11616537" y="2816352"/>
            <a:ext cx="2419502"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744553" y="2944368"/>
            <a:ext cx="2163470"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3.362</a:t>
            </a:r>
          </a:p>
        </p:txBody>
      </p:sp>
      <p:sp>
        <p:nvSpPr>
          <p:cNvPr id="28" name="Rectangle 27"/>
          <p:cNvSpPr/>
          <p:nvPr/>
        </p:nvSpPr>
        <p:spPr>
          <a:xfrm>
            <a:off x="594360" y="3511296"/>
            <a:ext cx="4032503" cy="694944"/>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6" y="3639312"/>
            <a:ext cx="3776471"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Supervised A · epoch 9</a:t>
            </a:r>
          </a:p>
        </p:txBody>
      </p:sp>
      <p:sp>
        <p:nvSpPr>
          <p:cNvPr id="30" name="Rectangle 29"/>
          <p:cNvSpPr/>
          <p:nvPr/>
        </p:nvSpPr>
        <p:spPr>
          <a:xfrm>
            <a:off x="4626864" y="3511296"/>
            <a:ext cx="2419502" cy="694944"/>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79" y="3639312"/>
            <a:ext cx="2163470"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0.265831</a:t>
            </a:r>
          </a:p>
        </p:txBody>
      </p:sp>
      <p:sp>
        <p:nvSpPr>
          <p:cNvPr id="32" name="Rectangle 31"/>
          <p:cNvSpPr/>
          <p:nvPr/>
        </p:nvSpPr>
        <p:spPr>
          <a:xfrm>
            <a:off x="7046366" y="3511296"/>
            <a:ext cx="2419502" cy="694944"/>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74382" y="3639312"/>
            <a:ext cx="2163470"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119.944</a:t>
            </a:r>
          </a:p>
        </p:txBody>
      </p:sp>
      <p:sp>
        <p:nvSpPr>
          <p:cNvPr id="34" name="Rectangle 33"/>
          <p:cNvSpPr/>
          <p:nvPr/>
        </p:nvSpPr>
        <p:spPr>
          <a:xfrm>
            <a:off x="9465868" y="3511296"/>
            <a:ext cx="2150668" cy="694944"/>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93884" y="3639312"/>
            <a:ext cx="1894636"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62.62%</a:t>
            </a:r>
          </a:p>
        </p:txBody>
      </p:sp>
      <p:sp>
        <p:nvSpPr>
          <p:cNvPr id="36" name="Rectangle 35"/>
          <p:cNvSpPr/>
          <p:nvPr/>
        </p:nvSpPr>
        <p:spPr>
          <a:xfrm>
            <a:off x="11616537" y="3511296"/>
            <a:ext cx="2419502" cy="694944"/>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744553" y="3639312"/>
            <a:ext cx="2163470"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3.906</a:t>
            </a:r>
          </a:p>
        </p:txBody>
      </p:sp>
      <p:sp>
        <p:nvSpPr>
          <p:cNvPr id="38" name="Rectangle 37"/>
          <p:cNvSpPr/>
          <p:nvPr/>
        </p:nvSpPr>
        <p:spPr>
          <a:xfrm>
            <a:off x="594360" y="4206240"/>
            <a:ext cx="4032503"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2376" y="4334255"/>
            <a:ext cx="3776471"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Exploratory KD · epoch 9</a:t>
            </a:r>
          </a:p>
        </p:txBody>
      </p:sp>
      <p:sp>
        <p:nvSpPr>
          <p:cNvPr id="40" name="Rectangle 39"/>
          <p:cNvSpPr/>
          <p:nvPr/>
        </p:nvSpPr>
        <p:spPr>
          <a:xfrm>
            <a:off x="4626864" y="4206240"/>
            <a:ext cx="2419502"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4879" y="4334255"/>
            <a:ext cx="2163470"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0.270049</a:t>
            </a:r>
          </a:p>
        </p:txBody>
      </p:sp>
      <p:sp>
        <p:nvSpPr>
          <p:cNvPr id="42" name="Rectangle 41"/>
          <p:cNvSpPr/>
          <p:nvPr/>
        </p:nvSpPr>
        <p:spPr>
          <a:xfrm>
            <a:off x="7046366" y="4206240"/>
            <a:ext cx="2419502"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74382" y="4334255"/>
            <a:ext cx="2163470"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121.207</a:t>
            </a:r>
          </a:p>
        </p:txBody>
      </p:sp>
      <p:sp>
        <p:nvSpPr>
          <p:cNvPr id="44" name="Rectangle 43"/>
          <p:cNvSpPr/>
          <p:nvPr/>
        </p:nvSpPr>
        <p:spPr>
          <a:xfrm>
            <a:off x="9465868" y="4206240"/>
            <a:ext cx="2150668"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93884" y="4334255"/>
            <a:ext cx="1894636"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61.81%</a:t>
            </a:r>
          </a:p>
        </p:txBody>
      </p:sp>
      <p:sp>
        <p:nvSpPr>
          <p:cNvPr id="46" name="Rectangle 45"/>
          <p:cNvSpPr/>
          <p:nvPr/>
        </p:nvSpPr>
        <p:spPr>
          <a:xfrm>
            <a:off x="11616537" y="4206240"/>
            <a:ext cx="2419502"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744553" y="4334255"/>
            <a:ext cx="2163470" cy="512064"/>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3.961</a:t>
            </a:r>
          </a:p>
        </p:txBody>
      </p:sp>
      <p:sp>
        <p:nvSpPr>
          <p:cNvPr id="48" name="TextBox 47"/>
          <p:cNvSpPr txBox="1"/>
          <p:nvPr/>
        </p:nvSpPr>
        <p:spPr>
          <a:xfrm>
            <a:off x="594360" y="4937760"/>
            <a:ext cx="13441680" cy="274320"/>
          </a:xfrm>
          <a:prstGeom prst="rect">
            <a:avLst/>
          </a:prstGeom>
          <a:noFill/>
        </p:spPr>
        <p:txBody>
          <a:bodyPr wrap="none" lIns="0" rIns="0" tIns="0" bIns="0">
            <a:noAutofit/>
          </a:bodyPr>
          <a:lstStyle/>
          <a:p>
            <a:pPr algn="l">
              <a:lnSpc>
                <a:spcPts val="1547"/>
              </a:lnSpc>
              <a:spcBef>
                <a:spcPts val="0"/>
              </a:spcBef>
              <a:spcAft>
                <a:spcPts val="0"/>
              </a:spcAft>
              <a:defRPr sz="1300" b="1">
                <a:solidFill>
                  <a:srgbClr val="B35B15"/>
                </a:solidFill>
                <a:latin typeface="Noto Sans"/>
              </a:defRPr>
            </a:pPr>
            <a:r>
              <a:t>Teacher B failed its acceptance gate: Kite near RMSE 6.636 m vs A 4.695 m.</a:t>
            </a:r>
          </a:p>
        </p:txBody>
      </p:sp>
      <p:sp>
        <p:nvSpPr>
          <p:cNvPr id="49" name="Rectangle 48"/>
          <p:cNvSpPr/>
          <p:nvPr/>
        </p:nvSpPr>
        <p:spPr>
          <a:xfrm>
            <a:off x="594360" y="5257800"/>
            <a:ext cx="4297680" cy="1152144"/>
          </a:xfrm>
          <a:prstGeom prst="rect">
            <a:avLst/>
          </a:prstGeom>
          <a:solidFill>
            <a:srgbClr val="DF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672" y="5358384"/>
            <a:ext cx="3877056" cy="548640"/>
          </a:xfrm>
          <a:prstGeom prst="rect">
            <a:avLst/>
          </a:prstGeom>
          <a:noFill/>
        </p:spPr>
        <p:txBody>
          <a:bodyPr wrap="none" lIns="0" rIns="0" tIns="0" bIns="0">
            <a:noAutofit/>
          </a:bodyPr>
          <a:lstStyle/>
          <a:p>
            <a:pPr algn="l">
              <a:lnSpc>
                <a:spcPts val="3451"/>
              </a:lnSpc>
              <a:spcBef>
                <a:spcPts val="0"/>
              </a:spcBef>
              <a:spcAft>
                <a:spcPts val="0"/>
              </a:spcAft>
              <a:defRPr sz="2900" b="1">
                <a:solidFill>
                  <a:srgbClr val="008C83"/>
                </a:solidFill>
                <a:latin typeface="Noto Sans"/>
              </a:defRPr>
            </a:pPr>
            <a:r>
              <a:t>11.84%</a:t>
            </a:r>
          </a:p>
        </p:txBody>
      </p:sp>
      <p:sp>
        <p:nvSpPr>
          <p:cNvPr id="51" name="TextBox 50"/>
          <p:cNvSpPr txBox="1"/>
          <p:nvPr/>
        </p:nvSpPr>
        <p:spPr>
          <a:xfrm>
            <a:off x="804672" y="6007608"/>
            <a:ext cx="3877056" cy="274320"/>
          </a:xfrm>
          <a:prstGeom prst="rect">
            <a:avLst/>
          </a:prstGeom>
          <a:noFill/>
        </p:spPr>
        <p:txBody>
          <a:bodyPr wrap="none" lIns="0" rIns="0" tIns="0" bIns="0">
            <a:noAutofit/>
          </a:bodyPr>
          <a:lstStyle/>
          <a:p>
            <a:pPr algn="l">
              <a:lnSpc>
                <a:spcPts val="1428"/>
              </a:lnSpc>
              <a:spcBef>
                <a:spcPts val="0"/>
              </a:spcBef>
              <a:spcAft>
                <a:spcPts val="0"/>
              </a:spcAft>
              <a:defRPr sz="1200" b="0">
                <a:solidFill>
                  <a:srgbClr val="193447"/>
                </a:solidFill>
                <a:latin typeface="Noto Sans"/>
              </a:defRPr>
            </a:pPr>
            <a:r>
              <a:t>Lower AbsRel · A vs original</a:t>
            </a:r>
          </a:p>
        </p:txBody>
      </p:sp>
      <p:sp>
        <p:nvSpPr>
          <p:cNvPr id="52" name="Rectangle 51"/>
          <p:cNvSpPr/>
          <p:nvPr/>
        </p:nvSpPr>
        <p:spPr>
          <a:xfrm>
            <a:off x="5166360" y="5257800"/>
            <a:ext cx="4297680" cy="1152144"/>
          </a:xfrm>
          <a:prstGeom prst="rect">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376672" y="5358384"/>
            <a:ext cx="3877056" cy="548640"/>
          </a:xfrm>
          <a:prstGeom prst="rect">
            <a:avLst/>
          </a:prstGeom>
          <a:noFill/>
        </p:spPr>
        <p:txBody>
          <a:bodyPr wrap="none" lIns="0" rIns="0" tIns="0" bIns="0">
            <a:noAutofit/>
          </a:bodyPr>
          <a:lstStyle/>
          <a:p>
            <a:pPr algn="l">
              <a:lnSpc>
                <a:spcPts val="3451"/>
              </a:lnSpc>
              <a:spcBef>
                <a:spcPts val="0"/>
              </a:spcBef>
              <a:spcAft>
                <a:spcPts val="0"/>
              </a:spcAft>
              <a:defRPr sz="2900" b="1">
                <a:solidFill>
                  <a:srgbClr val="B35B15"/>
                </a:solidFill>
                <a:latin typeface="Noto Sans"/>
              </a:defRPr>
            </a:pPr>
            <a:r>
              <a:t>16.18%</a:t>
            </a:r>
          </a:p>
        </p:txBody>
      </p:sp>
      <p:sp>
        <p:nvSpPr>
          <p:cNvPr id="54" name="TextBox 53"/>
          <p:cNvSpPr txBox="1"/>
          <p:nvPr/>
        </p:nvSpPr>
        <p:spPr>
          <a:xfrm>
            <a:off x="5376672" y="6007608"/>
            <a:ext cx="3877056" cy="274320"/>
          </a:xfrm>
          <a:prstGeom prst="rect">
            <a:avLst/>
          </a:prstGeom>
          <a:noFill/>
        </p:spPr>
        <p:txBody>
          <a:bodyPr wrap="none" lIns="0" rIns="0" tIns="0" bIns="0">
            <a:noAutofit/>
          </a:bodyPr>
          <a:lstStyle/>
          <a:p>
            <a:pPr algn="l">
              <a:lnSpc>
                <a:spcPts val="1428"/>
              </a:lnSpc>
              <a:spcBef>
                <a:spcPts val="0"/>
              </a:spcBef>
              <a:spcAft>
                <a:spcPts val="0"/>
              </a:spcAft>
              <a:defRPr sz="1200" b="0">
                <a:solidFill>
                  <a:srgbClr val="193447"/>
                </a:solidFill>
                <a:latin typeface="Noto Sans"/>
              </a:defRPr>
            </a:pPr>
            <a:r>
              <a:t>Higher near RMSE · A vs original</a:t>
            </a:r>
          </a:p>
        </p:txBody>
      </p:sp>
      <p:sp>
        <p:nvSpPr>
          <p:cNvPr id="55" name="Rectangle 54"/>
          <p:cNvSpPr/>
          <p:nvPr/>
        </p:nvSpPr>
        <p:spPr>
          <a:xfrm>
            <a:off x="9738360" y="5257800"/>
            <a:ext cx="4297680" cy="1152144"/>
          </a:xfrm>
          <a:prstGeom prst="rect">
            <a:avLst/>
          </a:prstGeom>
          <a:solidFill>
            <a:srgbClr val="FF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48672" y="5358384"/>
            <a:ext cx="3877056" cy="548640"/>
          </a:xfrm>
          <a:prstGeom prst="rect">
            <a:avLst/>
          </a:prstGeom>
          <a:noFill/>
        </p:spPr>
        <p:txBody>
          <a:bodyPr wrap="none" lIns="0" rIns="0" tIns="0" bIns="0">
            <a:noAutofit/>
          </a:bodyPr>
          <a:lstStyle/>
          <a:p>
            <a:pPr algn="l">
              <a:lnSpc>
                <a:spcPts val="3451"/>
              </a:lnSpc>
              <a:spcBef>
                <a:spcPts val="0"/>
              </a:spcBef>
              <a:spcAft>
                <a:spcPts val="0"/>
              </a:spcAft>
              <a:defRPr sz="2900" b="1">
                <a:solidFill>
                  <a:srgbClr val="B35B15"/>
                </a:solidFill>
                <a:latin typeface="Noto Sans"/>
              </a:defRPr>
            </a:pPr>
            <a:r>
              <a:t>1.59%</a:t>
            </a:r>
          </a:p>
        </p:txBody>
      </p:sp>
      <p:sp>
        <p:nvSpPr>
          <p:cNvPr id="57" name="TextBox 56"/>
          <p:cNvSpPr txBox="1"/>
          <p:nvPr/>
        </p:nvSpPr>
        <p:spPr>
          <a:xfrm>
            <a:off x="9948672" y="6007608"/>
            <a:ext cx="3877056" cy="274320"/>
          </a:xfrm>
          <a:prstGeom prst="rect">
            <a:avLst/>
          </a:prstGeom>
          <a:noFill/>
        </p:spPr>
        <p:txBody>
          <a:bodyPr wrap="none" lIns="0" rIns="0" tIns="0" bIns="0">
            <a:noAutofit/>
          </a:bodyPr>
          <a:lstStyle/>
          <a:p>
            <a:pPr algn="l">
              <a:lnSpc>
                <a:spcPts val="1428"/>
              </a:lnSpc>
              <a:spcBef>
                <a:spcPts val="0"/>
              </a:spcBef>
              <a:spcAft>
                <a:spcPts val="0"/>
              </a:spcAft>
              <a:defRPr sz="1200" b="0">
                <a:solidFill>
                  <a:srgbClr val="193447"/>
                </a:solidFill>
                <a:latin typeface="Noto Sans"/>
              </a:defRPr>
            </a:pPr>
            <a:r>
              <a:t>Higher AbsRel · KD vs A</a:t>
            </a:r>
          </a:p>
        </p:txBody>
      </p:sp>
      <p:sp>
        <p:nvSpPr>
          <p:cNvPr id="58" name="TextBox 57"/>
          <p:cNvSpPr txBox="1"/>
          <p:nvPr/>
        </p:nvSpPr>
        <p:spPr>
          <a:xfrm>
            <a:off x="594360" y="6720840"/>
            <a:ext cx="13441680" cy="594360"/>
          </a:xfrm>
          <a:prstGeom prst="rect">
            <a:avLst/>
          </a:prstGeom>
          <a:noFill/>
        </p:spPr>
        <p:txBody>
          <a:bodyPr wrap="none" lIns="0" rIns="0" tIns="0" bIns="0">
            <a:noAutofit/>
          </a:bodyPr>
          <a:lstStyle/>
          <a:p>
            <a:pPr algn="l">
              <a:lnSpc>
                <a:spcPts val="1666"/>
              </a:lnSpc>
              <a:spcBef>
                <a:spcPts val="0"/>
              </a:spcBef>
              <a:spcAft>
                <a:spcPts val="0"/>
              </a:spcAft>
              <a:defRPr sz="1400" b="0">
                <a:solidFill>
                  <a:srgbClr val="526575"/>
                </a:solidFill>
                <a:latin typeface="Noto Sans"/>
              </a:defRPr>
            </a:pPr>
            <a:r>
              <a:t>δ1 = fraction with max(prediction / GT, GT / prediction) &lt; 1.25. Classification precision, recall, F1 and confusion matrix do not apply.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292608"/>
            <a:ext cx="11887200" cy="228600"/>
          </a:xfrm>
          <a:prstGeom prst="rect">
            <a:avLst/>
          </a:prstGeom>
          <a:noFill/>
        </p:spPr>
        <p:txBody>
          <a:bodyPr wrap="none" lIns="0" rIns="0" tIns="0" bIns="0">
            <a:noAutofit/>
          </a:bodyPr>
          <a:lstStyle/>
          <a:p>
            <a:pPr algn="l">
              <a:lnSpc>
                <a:spcPts val="1189"/>
              </a:lnSpc>
              <a:spcBef>
                <a:spcPts val="0"/>
              </a:spcBef>
              <a:spcAft>
                <a:spcPts val="0"/>
              </a:spcAft>
              <a:defRPr sz="1000" b="1">
                <a:solidFill>
                  <a:srgbClr val="008C83"/>
                </a:solidFill>
                <a:latin typeface="Noto Sans"/>
              </a:defRPr>
            </a:pPr>
            <a:r>
              <a:t>AERODEPTH-LITE / DEEP LEARNING PROJECT</a:t>
            </a:r>
          </a:p>
        </p:txBody>
      </p:sp>
      <p:sp>
        <p:nvSpPr>
          <p:cNvPr id="3" name="TextBox 2"/>
          <p:cNvSpPr txBox="1"/>
          <p:nvPr/>
        </p:nvSpPr>
        <p:spPr>
          <a:xfrm>
            <a:off x="594360" y="777240"/>
            <a:ext cx="13441680" cy="621792"/>
          </a:xfrm>
          <a:prstGeom prst="rect">
            <a:avLst/>
          </a:prstGeom>
          <a:noFill/>
        </p:spPr>
        <p:txBody>
          <a:bodyPr wrap="none" lIns="0" rIns="0" tIns="0" bIns="0">
            <a:noAutofit/>
          </a:bodyPr>
          <a:lstStyle/>
          <a:p>
            <a:pPr algn="l">
              <a:lnSpc>
                <a:spcPts val="3569"/>
              </a:lnSpc>
              <a:spcBef>
                <a:spcPts val="0"/>
              </a:spcBef>
              <a:spcAft>
                <a:spcPts val="0"/>
              </a:spcAft>
              <a:defRPr sz="3000" b="1">
                <a:solidFill>
                  <a:srgbClr val="193447"/>
                </a:solidFill>
                <a:latin typeface="Noto Sans"/>
              </a:defRPr>
            </a:pPr>
            <a:r>
              <a:t>Experimental results: scheduling and measured cost</a:t>
            </a:r>
          </a:p>
        </p:txBody>
      </p:sp>
      <p:sp>
        <p:nvSpPr>
          <p:cNvPr id="4" name="TextBox 3"/>
          <p:cNvSpPr txBox="1"/>
          <p:nvPr/>
        </p:nvSpPr>
        <p:spPr>
          <a:xfrm>
            <a:off x="594360" y="1444752"/>
            <a:ext cx="13350240" cy="548640"/>
          </a:xfrm>
          <a:prstGeom prst="rect">
            <a:avLst/>
          </a:prstGeom>
          <a:noFill/>
        </p:spPr>
        <p:txBody>
          <a:bodyPr wrap="none" lIns="0" rIns="0" tIns="0" bIns="0">
            <a:noAutofit/>
          </a:bodyPr>
          <a:lstStyle/>
          <a:p>
            <a:pPr algn="l">
              <a:lnSpc>
                <a:spcPts val="1784"/>
              </a:lnSpc>
              <a:spcBef>
                <a:spcPts val="0"/>
              </a:spcBef>
              <a:spcAft>
                <a:spcPts val="0"/>
              </a:spcAft>
              <a:defRPr sz="1500" b="0">
                <a:solidFill>
                  <a:srgbClr val="526575"/>
                </a:solidFill>
                <a:latin typeface="Noto Sans"/>
              </a:defRPr>
            </a:pPr>
            <a:r>
              <a:t>Supervised A on validation · policy parameters frozen before this comparison</a:t>
            </a:r>
          </a:p>
        </p:txBody>
      </p:sp>
      <p:sp>
        <p:nvSpPr>
          <p:cNvPr id="5" name="Rectangle 4"/>
          <p:cNvSpPr/>
          <p:nvPr/>
        </p:nvSpPr>
        <p:spPr>
          <a:xfrm>
            <a:off x="594360" y="7571231"/>
            <a:ext cx="13441680" cy="11887"/>
          </a:xfrm>
          <a:prstGeom prst="rect">
            <a:avLst/>
          </a:prstGeom>
          <a:solidFill>
            <a:srgbClr val="DC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7708392"/>
            <a:ext cx="12618720" cy="283464"/>
          </a:xfrm>
          <a:prstGeom prst="rect">
            <a:avLst/>
          </a:prstGeom>
          <a:noFill/>
        </p:spPr>
        <p:txBody>
          <a:bodyPr wrap="none" lIns="0" rIns="0" tIns="0" bIns="0">
            <a:noAutofit/>
          </a:bodyPr>
          <a:lstStyle/>
          <a:p>
            <a:pPr algn="l">
              <a:lnSpc>
                <a:spcPts val="1071"/>
              </a:lnSpc>
              <a:spcBef>
                <a:spcPts val="0"/>
              </a:spcBef>
              <a:spcAft>
                <a:spcPts val="0"/>
              </a:spcAft>
              <a:defRPr sz="900" b="0">
                <a:solidFill>
                  <a:srgbClr val="526575"/>
                </a:solidFill>
                <a:latin typeface="Noto Sans"/>
              </a:defRPr>
            </a:pPr>
            <a:r>
              <a:t>Source: presentation_validation_20261029T155521Z/{scheduler_comparison.csv,timing_individual.csv} · docs/FINAL_REPORT.md</a:t>
            </a:r>
          </a:p>
        </p:txBody>
      </p:sp>
      <p:sp>
        <p:nvSpPr>
          <p:cNvPr id="7" name="TextBox 6"/>
          <p:cNvSpPr txBox="1"/>
          <p:nvPr/>
        </p:nvSpPr>
        <p:spPr>
          <a:xfrm>
            <a:off x="13258800" y="7662672"/>
            <a:ext cx="777240" cy="320040"/>
          </a:xfrm>
          <a:prstGeom prst="rect">
            <a:avLst/>
          </a:prstGeom>
          <a:noFill/>
        </p:spPr>
        <p:txBody>
          <a:bodyPr wrap="none" lIns="0" rIns="0" tIns="0" bIns="0">
            <a:noAutofit/>
          </a:bodyPr>
          <a:lstStyle/>
          <a:p>
            <a:pPr algn="r">
              <a:lnSpc>
                <a:spcPts val="1189"/>
              </a:lnSpc>
              <a:spcBef>
                <a:spcPts val="0"/>
              </a:spcBef>
              <a:spcAft>
                <a:spcPts val="0"/>
              </a:spcAft>
              <a:defRPr sz="1000" b="0">
                <a:solidFill>
                  <a:srgbClr val="526575"/>
                </a:solidFill>
                <a:latin typeface="Noto Sans"/>
              </a:defRPr>
            </a:pPr>
            <a:r>
              <a:t>12 / 13</a:t>
            </a:r>
          </a:p>
        </p:txBody>
      </p:sp>
      <p:sp>
        <p:nvSpPr>
          <p:cNvPr id="8" name="Rectangle 7"/>
          <p:cNvSpPr/>
          <p:nvPr/>
        </p:nvSpPr>
        <p:spPr>
          <a:xfrm>
            <a:off x="594360" y="2103120"/>
            <a:ext cx="2510028" cy="585216"/>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2231136"/>
            <a:ext cx="2253996" cy="402336"/>
          </a:xfrm>
          <a:prstGeom prst="rect">
            <a:avLst/>
          </a:prstGeom>
          <a:noFill/>
        </p:spPr>
        <p:txBody>
          <a:bodyPr wrap="none" lIns="0" rIns="0" tIns="0" bIns="0">
            <a:noAutofit/>
          </a:bodyPr>
          <a:lstStyle/>
          <a:p>
            <a:pPr algn="l">
              <a:lnSpc>
                <a:spcPts val="1784"/>
              </a:lnSpc>
              <a:spcBef>
                <a:spcPts val="0"/>
              </a:spcBef>
              <a:spcAft>
                <a:spcPts val="0"/>
              </a:spcAft>
              <a:defRPr sz="1500" b="1">
                <a:solidFill>
                  <a:srgbClr val="FFFFFF"/>
                </a:solidFill>
                <a:latin typeface="Noto Sans"/>
              </a:defRPr>
            </a:pPr>
            <a:r>
              <a:t>Policy</a:t>
            </a:r>
          </a:p>
        </p:txBody>
      </p:sp>
      <p:sp>
        <p:nvSpPr>
          <p:cNvPr id="10" name="Rectangle 9"/>
          <p:cNvSpPr/>
          <p:nvPr/>
        </p:nvSpPr>
        <p:spPr>
          <a:xfrm>
            <a:off x="3104388" y="2103120"/>
            <a:ext cx="1589684" cy="585216"/>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32404" y="2231136"/>
            <a:ext cx="1333652" cy="402336"/>
          </a:xfrm>
          <a:prstGeom prst="rect">
            <a:avLst/>
          </a:prstGeom>
          <a:noFill/>
        </p:spPr>
        <p:txBody>
          <a:bodyPr wrap="none" lIns="0" rIns="0" tIns="0" bIns="0">
            <a:noAutofit/>
          </a:bodyPr>
          <a:lstStyle/>
          <a:p>
            <a:pPr algn="l">
              <a:lnSpc>
                <a:spcPts val="1784"/>
              </a:lnSpc>
              <a:spcBef>
                <a:spcPts val="0"/>
              </a:spcBef>
              <a:spcAft>
                <a:spcPts val="0"/>
              </a:spcAft>
              <a:defRPr sz="1500" b="1">
                <a:solidFill>
                  <a:srgbClr val="FFFFFF"/>
                </a:solidFill>
                <a:latin typeface="Noto Sans"/>
              </a:defRPr>
            </a:pPr>
            <a:r>
              <a:t>Calls</a:t>
            </a:r>
          </a:p>
        </p:txBody>
      </p:sp>
      <p:sp>
        <p:nvSpPr>
          <p:cNvPr id="12" name="Rectangle 11"/>
          <p:cNvSpPr/>
          <p:nvPr/>
        </p:nvSpPr>
        <p:spPr>
          <a:xfrm>
            <a:off x="4694072" y="2103120"/>
            <a:ext cx="2342692" cy="585216"/>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2088" y="2231136"/>
            <a:ext cx="2086660" cy="402336"/>
          </a:xfrm>
          <a:prstGeom prst="rect">
            <a:avLst/>
          </a:prstGeom>
          <a:noFill/>
        </p:spPr>
        <p:txBody>
          <a:bodyPr wrap="none" lIns="0" rIns="0" tIns="0" bIns="0">
            <a:noAutofit/>
          </a:bodyPr>
          <a:lstStyle/>
          <a:p>
            <a:pPr algn="l">
              <a:lnSpc>
                <a:spcPts val="1784"/>
              </a:lnSpc>
              <a:spcBef>
                <a:spcPts val="0"/>
              </a:spcBef>
              <a:spcAft>
                <a:spcPts val="0"/>
              </a:spcAft>
              <a:defRPr sz="1500" b="1">
                <a:solidFill>
                  <a:srgbClr val="FFFFFF"/>
                </a:solidFill>
                <a:latin typeface="Noto Sans"/>
              </a:defRPr>
            </a:pPr>
            <a:r>
              <a:t>Near RMSE (m)</a:t>
            </a:r>
          </a:p>
        </p:txBody>
      </p:sp>
      <p:sp>
        <p:nvSpPr>
          <p:cNvPr id="14" name="Rectangle 13"/>
          <p:cNvSpPr/>
          <p:nvPr/>
        </p:nvSpPr>
        <p:spPr>
          <a:xfrm>
            <a:off x="7036765" y="2103120"/>
            <a:ext cx="1924354" cy="585216"/>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4781" y="2231136"/>
            <a:ext cx="1668322" cy="402336"/>
          </a:xfrm>
          <a:prstGeom prst="rect">
            <a:avLst/>
          </a:prstGeom>
          <a:noFill/>
        </p:spPr>
        <p:txBody>
          <a:bodyPr wrap="none" lIns="0" rIns="0" tIns="0" bIns="0">
            <a:noAutofit/>
          </a:bodyPr>
          <a:lstStyle/>
          <a:p>
            <a:pPr algn="l">
              <a:lnSpc>
                <a:spcPts val="1784"/>
              </a:lnSpc>
              <a:spcBef>
                <a:spcPts val="0"/>
              </a:spcBef>
              <a:spcAft>
                <a:spcPts val="0"/>
              </a:spcAft>
              <a:defRPr sz="1500" b="1">
                <a:solidFill>
                  <a:srgbClr val="FFFFFF"/>
                </a:solidFill>
                <a:latin typeface="Noto Sans"/>
              </a:defRPr>
            </a:pPr>
            <a:r>
              <a:t>Max delay¹</a:t>
            </a:r>
          </a:p>
        </p:txBody>
      </p:sp>
      <p:sp>
        <p:nvSpPr>
          <p:cNvPr id="16" name="Rectangle 15"/>
          <p:cNvSpPr/>
          <p:nvPr/>
        </p:nvSpPr>
        <p:spPr>
          <a:xfrm>
            <a:off x="594360" y="2688336"/>
            <a:ext cx="2510028"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2816352"/>
            <a:ext cx="2253996"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Every frame</a:t>
            </a:r>
          </a:p>
        </p:txBody>
      </p:sp>
      <p:sp>
        <p:nvSpPr>
          <p:cNvPr id="18" name="Rectangle 17"/>
          <p:cNvSpPr/>
          <p:nvPr/>
        </p:nvSpPr>
        <p:spPr>
          <a:xfrm>
            <a:off x="3104388" y="2688336"/>
            <a:ext cx="1589684"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32404" y="2816352"/>
            <a:ext cx="1333652"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4,410</a:t>
            </a:r>
          </a:p>
        </p:txBody>
      </p:sp>
      <p:sp>
        <p:nvSpPr>
          <p:cNvPr id="20" name="Rectangle 19"/>
          <p:cNvSpPr/>
          <p:nvPr/>
        </p:nvSpPr>
        <p:spPr>
          <a:xfrm>
            <a:off x="4694072" y="2688336"/>
            <a:ext cx="2342692"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22088" y="2816352"/>
            <a:ext cx="2086660"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3.906</a:t>
            </a:r>
          </a:p>
        </p:txBody>
      </p:sp>
      <p:sp>
        <p:nvSpPr>
          <p:cNvPr id="22" name="Rectangle 21"/>
          <p:cNvSpPr/>
          <p:nvPr/>
        </p:nvSpPr>
        <p:spPr>
          <a:xfrm>
            <a:off x="7036765" y="2688336"/>
            <a:ext cx="1924354"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64781" y="2816352"/>
            <a:ext cx="1668322"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0</a:t>
            </a:r>
          </a:p>
        </p:txBody>
      </p:sp>
      <p:sp>
        <p:nvSpPr>
          <p:cNvPr id="24" name="Rectangle 23"/>
          <p:cNvSpPr/>
          <p:nvPr/>
        </p:nvSpPr>
        <p:spPr>
          <a:xfrm>
            <a:off x="594360" y="3273552"/>
            <a:ext cx="2510028" cy="585216"/>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3401568"/>
            <a:ext cx="2253996"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Fixed budget</a:t>
            </a:r>
          </a:p>
        </p:txBody>
      </p:sp>
      <p:sp>
        <p:nvSpPr>
          <p:cNvPr id="26" name="Rectangle 25"/>
          <p:cNvSpPr/>
          <p:nvPr/>
        </p:nvSpPr>
        <p:spPr>
          <a:xfrm>
            <a:off x="3104388" y="3273552"/>
            <a:ext cx="1589684" cy="585216"/>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32404" y="3401568"/>
            <a:ext cx="1333652"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2,456</a:t>
            </a:r>
          </a:p>
        </p:txBody>
      </p:sp>
      <p:sp>
        <p:nvSpPr>
          <p:cNvPr id="28" name="Rectangle 27"/>
          <p:cNvSpPr/>
          <p:nvPr/>
        </p:nvSpPr>
        <p:spPr>
          <a:xfrm>
            <a:off x="4694072" y="3273552"/>
            <a:ext cx="2342692" cy="585216"/>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22088" y="3401568"/>
            <a:ext cx="2086660"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4.161</a:t>
            </a:r>
          </a:p>
        </p:txBody>
      </p:sp>
      <p:sp>
        <p:nvSpPr>
          <p:cNvPr id="30" name="Rectangle 29"/>
          <p:cNvSpPr/>
          <p:nvPr/>
        </p:nvSpPr>
        <p:spPr>
          <a:xfrm>
            <a:off x="7036765" y="3273552"/>
            <a:ext cx="1924354" cy="585216"/>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64781" y="3401568"/>
            <a:ext cx="1668322"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1</a:t>
            </a:r>
          </a:p>
        </p:txBody>
      </p:sp>
      <p:sp>
        <p:nvSpPr>
          <p:cNvPr id="32" name="Rectangle 31"/>
          <p:cNvSpPr/>
          <p:nvPr/>
        </p:nvSpPr>
        <p:spPr>
          <a:xfrm>
            <a:off x="594360" y="3858768"/>
            <a:ext cx="2510028"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 y="3986783"/>
            <a:ext cx="2253996"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V2 adaptive</a:t>
            </a:r>
          </a:p>
        </p:txBody>
      </p:sp>
      <p:sp>
        <p:nvSpPr>
          <p:cNvPr id="34" name="Rectangle 33"/>
          <p:cNvSpPr/>
          <p:nvPr/>
        </p:nvSpPr>
        <p:spPr>
          <a:xfrm>
            <a:off x="3104388" y="3858768"/>
            <a:ext cx="1589684"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32404" y="3986783"/>
            <a:ext cx="1333652"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2,456</a:t>
            </a:r>
          </a:p>
        </p:txBody>
      </p:sp>
      <p:sp>
        <p:nvSpPr>
          <p:cNvPr id="36" name="Rectangle 35"/>
          <p:cNvSpPr/>
          <p:nvPr/>
        </p:nvSpPr>
        <p:spPr>
          <a:xfrm>
            <a:off x="4694072" y="3858768"/>
            <a:ext cx="2342692"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22088" y="3986783"/>
            <a:ext cx="2086660"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3.780</a:t>
            </a:r>
          </a:p>
        </p:txBody>
      </p:sp>
      <p:sp>
        <p:nvSpPr>
          <p:cNvPr id="38" name="Rectangle 37"/>
          <p:cNvSpPr/>
          <p:nvPr/>
        </p:nvSpPr>
        <p:spPr>
          <a:xfrm>
            <a:off x="7036765" y="3858768"/>
            <a:ext cx="1924354"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64781" y="3986783"/>
            <a:ext cx="1668322"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2</a:t>
            </a:r>
          </a:p>
        </p:txBody>
      </p:sp>
      <p:sp>
        <p:nvSpPr>
          <p:cNvPr id="40" name="Rectangle 39"/>
          <p:cNvSpPr/>
          <p:nvPr/>
        </p:nvSpPr>
        <p:spPr>
          <a:xfrm>
            <a:off x="594360" y="4443983"/>
            <a:ext cx="2510028" cy="585216"/>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2376" y="4571999"/>
            <a:ext cx="2253996"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V2: no visual</a:t>
            </a:r>
          </a:p>
        </p:txBody>
      </p:sp>
      <p:sp>
        <p:nvSpPr>
          <p:cNvPr id="42" name="Rectangle 41"/>
          <p:cNvSpPr/>
          <p:nvPr/>
        </p:nvSpPr>
        <p:spPr>
          <a:xfrm>
            <a:off x="3104388" y="4443983"/>
            <a:ext cx="1589684" cy="585216"/>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32404" y="4571999"/>
            <a:ext cx="1333652"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1,789</a:t>
            </a:r>
          </a:p>
        </p:txBody>
      </p:sp>
      <p:sp>
        <p:nvSpPr>
          <p:cNvPr id="44" name="Rectangle 43"/>
          <p:cNvSpPr/>
          <p:nvPr/>
        </p:nvSpPr>
        <p:spPr>
          <a:xfrm>
            <a:off x="4694072" y="4443983"/>
            <a:ext cx="2342692" cy="585216"/>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22088" y="4571999"/>
            <a:ext cx="2086660"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5.529</a:t>
            </a:r>
          </a:p>
        </p:txBody>
      </p:sp>
      <p:sp>
        <p:nvSpPr>
          <p:cNvPr id="46" name="Rectangle 45"/>
          <p:cNvSpPr/>
          <p:nvPr/>
        </p:nvSpPr>
        <p:spPr>
          <a:xfrm>
            <a:off x="7036765" y="4443983"/>
            <a:ext cx="1924354" cy="585216"/>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164781" y="4571999"/>
            <a:ext cx="1668322" cy="402336"/>
          </a:xfrm>
          <a:prstGeom prst="rect">
            <a:avLst/>
          </a:prstGeom>
          <a:noFill/>
        </p:spPr>
        <p:txBody>
          <a:bodyPr wrap="none" lIns="0" rIns="0" tIns="0" bIns="0">
            <a:noAutofit/>
          </a:bodyPr>
          <a:lstStyle/>
          <a:p>
            <a:pPr algn="l">
              <a:lnSpc>
                <a:spcPts val="1784"/>
              </a:lnSpc>
              <a:spcBef>
                <a:spcPts val="0"/>
              </a:spcBef>
              <a:spcAft>
                <a:spcPts val="0"/>
              </a:spcAft>
              <a:defRPr sz="1500" b="0">
                <a:solidFill>
                  <a:srgbClr val="193447"/>
                </a:solidFill>
                <a:latin typeface="Noto Sans"/>
              </a:defRPr>
            </a:pPr>
            <a:r>
              <a:t>4</a:t>
            </a:r>
          </a:p>
        </p:txBody>
      </p:sp>
      <p:sp>
        <p:nvSpPr>
          <p:cNvPr id="48" name="Rectangle 47"/>
          <p:cNvSpPr/>
          <p:nvPr/>
        </p:nvSpPr>
        <p:spPr>
          <a:xfrm>
            <a:off x="9235440" y="2103120"/>
            <a:ext cx="4800600" cy="2926080"/>
          </a:xfrm>
          <a:prstGeom prst="rect">
            <a:avLst/>
          </a:prstGeom>
          <a:solidFill>
            <a:srgbClr val="DF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64040" y="2322576"/>
            <a:ext cx="4343400" cy="594360"/>
          </a:xfrm>
          <a:prstGeom prst="rect">
            <a:avLst/>
          </a:prstGeom>
          <a:noFill/>
        </p:spPr>
        <p:txBody>
          <a:bodyPr wrap="none" lIns="0" rIns="0" tIns="0" bIns="0">
            <a:noAutofit/>
          </a:bodyPr>
          <a:lstStyle/>
          <a:p>
            <a:pPr algn="l">
              <a:lnSpc>
                <a:spcPts val="3926"/>
              </a:lnSpc>
              <a:spcBef>
                <a:spcPts val="0"/>
              </a:spcBef>
              <a:spcAft>
                <a:spcPts val="0"/>
              </a:spcAft>
              <a:defRPr sz="3300" b="1">
                <a:solidFill>
                  <a:srgbClr val="008C83"/>
                </a:solidFill>
                <a:latin typeface="Noto Sans"/>
              </a:defRPr>
            </a:pPr>
            <a:r>
              <a:t>9.14%</a:t>
            </a:r>
          </a:p>
        </p:txBody>
      </p:sp>
      <p:sp>
        <p:nvSpPr>
          <p:cNvPr id="50" name="TextBox 49"/>
          <p:cNvSpPr txBox="1"/>
          <p:nvPr/>
        </p:nvSpPr>
        <p:spPr>
          <a:xfrm>
            <a:off x="9464040" y="3035808"/>
            <a:ext cx="4343400" cy="1691640"/>
          </a:xfrm>
          <a:prstGeom prst="rect">
            <a:avLst/>
          </a:prstGeom>
          <a:noFill/>
        </p:spPr>
        <p:txBody>
          <a:bodyPr wrap="none" lIns="0" rIns="0" tIns="0" bIns="0">
            <a:noAutofit/>
          </a:bodyPr>
          <a:lstStyle/>
          <a:p>
            <a:pPr algn="l">
              <a:lnSpc>
                <a:spcPts val="2023"/>
              </a:lnSpc>
              <a:spcBef>
                <a:spcPts val="0"/>
              </a:spcBef>
              <a:spcAft>
                <a:spcPts val="0"/>
              </a:spcAft>
              <a:defRPr sz="1700" b="0">
                <a:solidFill>
                  <a:srgbClr val="193447"/>
                </a:solidFill>
                <a:latin typeface="Noto Sans"/>
              </a:defRPr>
            </a:pPr>
            <a:r>
              <a:t>Lower pooled near RMSE than fixed</a:t>
            </a:r>
          </a:p>
          <a:p>
            <a:pPr algn="l">
              <a:lnSpc>
                <a:spcPts val="2023"/>
              </a:lnSpc>
              <a:spcBef>
                <a:spcPts val="0"/>
              </a:spcBef>
              <a:spcAft>
                <a:spcPts val="0"/>
              </a:spcAft>
              <a:defRPr sz="1700" b="0">
                <a:solidFill>
                  <a:srgbClr val="193447"/>
                </a:solidFill>
                <a:latin typeface="Noto Sans"/>
              </a:defRPr>
            </a:pPr>
            <a:r>
              <a:t>budget at equal total calls.</a:t>
            </a:r>
          </a:p>
          <a:p>
            <a:pPr algn="l">
              <a:lnSpc>
                <a:spcPts val="2023"/>
              </a:lnSpc>
              <a:spcBef>
                <a:spcPts val="0"/>
              </a:spcBef>
              <a:spcAft>
                <a:spcPts val="0"/>
              </a:spcAft>
              <a:defRPr sz="1700" b="0">
                <a:solidFill>
                  <a:srgbClr val="193447"/>
                </a:solidFill>
                <a:latin typeface="Noto Sans"/>
              </a:defRPr>
            </a:pPr>
          </a:p>
          <a:p>
            <a:pPr algn="l">
              <a:lnSpc>
                <a:spcPts val="2023"/>
              </a:lnSpc>
              <a:spcBef>
                <a:spcPts val="0"/>
              </a:spcBef>
              <a:spcAft>
                <a:spcPts val="0"/>
              </a:spcAft>
              <a:defRPr sz="1700" b="0">
                <a:solidFill>
                  <a:srgbClr val="193447"/>
                </a:solidFill>
                <a:latin typeface="Noto Sans"/>
              </a:defRPr>
            </a:pPr>
            <a:r>
              <a:t>Overall error slightly worsens; max</a:t>
            </a:r>
          </a:p>
          <a:p>
            <a:pPr algn="l">
              <a:lnSpc>
                <a:spcPts val="2023"/>
              </a:lnSpc>
              <a:spcBef>
                <a:spcPts val="0"/>
              </a:spcBef>
              <a:spcAft>
                <a:spcPts val="0"/>
              </a:spcAft>
              <a:defRPr sz="1700" b="0">
                <a:solidFill>
                  <a:srgbClr val="193447"/>
                </a:solidFill>
                <a:latin typeface="Noto Sans"/>
              </a:defRPr>
            </a:pPr>
            <a:r>
              <a:t>event-update delay rises.</a:t>
            </a:r>
          </a:p>
        </p:txBody>
      </p:sp>
      <p:sp>
        <p:nvSpPr>
          <p:cNvPr id="51" name="TextBox 50"/>
          <p:cNvSpPr txBox="1"/>
          <p:nvPr/>
        </p:nvSpPr>
        <p:spPr>
          <a:xfrm>
            <a:off x="594360" y="5340096"/>
            <a:ext cx="13441680" cy="457200"/>
          </a:xfrm>
          <a:prstGeom prst="rect">
            <a:avLst/>
          </a:prstGeom>
          <a:noFill/>
        </p:spPr>
        <p:txBody>
          <a:bodyPr wrap="none" lIns="0" rIns="0" tIns="0" bIns="0">
            <a:noAutofit/>
          </a:bodyPr>
          <a:lstStyle/>
          <a:p>
            <a:pPr algn="l">
              <a:lnSpc>
                <a:spcPts val="2261"/>
              </a:lnSpc>
              <a:spcBef>
                <a:spcPts val="0"/>
              </a:spcBef>
              <a:spcAft>
                <a:spcPts val="0"/>
              </a:spcAft>
              <a:defRPr sz="1900" b="1">
                <a:solidFill>
                  <a:srgbClr val="193447"/>
                </a:solidFill>
                <a:latin typeface="Noto Sans"/>
              </a:defRPr>
            </a:pPr>
            <a:r>
              <a:t>Actual timing · 256-frame stress windows · median end-to-end seconds</a:t>
            </a:r>
          </a:p>
        </p:txBody>
      </p:sp>
      <p:sp>
        <p:nvSpPr>
          <p:cNvPr id="52" name="Rectangle 51"/>
          <p:cNvSpPr/>
          <p:nvPr/>
        </p:nvSpPr>
        <p:spPr>
          <a:xfrm>
            <a:off x="594360" y="5925312"/>
            <a:ext cx="2510028" cy="438912"/>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2376" y="6053328"/>
            <a:ext cx="2253996" cy="256031"/>
          </a:xfrm>
          <a:prstGeom prst="rect">
            <a:avLst/>
          </a:prstGeom>
          <a:noFill/>
        </p:spPr>
        <p:txBody>
          <a:bodyPr wrap="none" lIns="0" rIns="0" tIns="0" bIns="0">
            <a:noAutofit/>
          </a:bodyPr>
          <a:lstStyle/>
          <a:p>
            <a:pPr algn="l">
              <a:lnSpc>
                <a:spcPts val="1547"/>
              </a:lnSpc>
              <a:spcBef>
                <a:spcPts val="0"/>
              </a:spcBef>
              <a:spcAft>
                <a:spcPts val="0"/>
              </a:spcAft>
              <a:defRPr sz="1300" b="1">
                <a:solidFill>
                  <a:srgbClr val="FFFFFF"/>
                </a:solidFill>
                <a:latin typeface="Noto Sans"/>
              </a:defRPr>
            </a:pPr>
            <a:r>
              <a:t>Device</a:t>
            </a:r>
          </a:p>
        </p:txBody>
      </p:sp>
      <p:sp>
        <p:nvSpPr>
          <p:cNvPr id="54" name="Rectangle 53"/>
          <p:cNvSpPr/>
          <p:nvPr/>
        </p:nvSpPr>
        <p:spPr>
          <a:xfrm>
            <a:off x="3104388" y="5925312"/>
            <a:ext cx="1924354" cy="438912"/>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2404" y="6053328"/>
            <a:ext cx="1668322" cy="256031"/>
          </a:xfrm>
          <a:prstGeom prst="rect">
            <a:avLst/>
          </a:prstGeom>
          <a:noFill/>
        </p:spPr>
        <p:txBody>
          <a:bodyPr wrap="none" lIns="0" rIns="0" tIns="0" bIns="0">
            <a:noAutofit/>
          </a:bodyPr>
          <a:lstStyle/>
          <a:p>
            <a:pPr algn="l">
              <a:lnSpc>
                <a:spcPts val="1547"/>
              </a:lnSpc>
              <a:spcBef>
                <a:spcPts val="0"/>
              </a:spcBef>
              <a:spcAft>
                <a:spcPts val="0"/>
              </a:spcAft>
              <a:defRPr sz="1300" b="1">
                <a:solidFill>
                  <a:srgbClr val="FFFFFF"/>
                </a:solidFill>
                <a:latin typeface="Noto Sans"/>
              </a:defRPr>
            </a:pPr>
            <a:r>
              <a:t>Every frame</a:t>
            </a:r>
          </a:p>
        </p:txBody>
      </p:sp>
      <p:sp>
        <p:nvSpPr>
          <p:cNvPr id="56" name="Rectangle 55"/>
          <p:cNvSpPr/>
          <p:nvPr/>
        </p:nvSpPr>
        <p:spPr>
          <a:xfrm>
            <a:off x="5028742" y="5925312"/>
            <a:ext cx="1924354" cy="438912"/>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156758" y="6053328"/>
            <a:ext cx="1668322" cy="256031"/>
          </a:xfrm>
          <a:prstGeom prst="rect">
            <a:avLst/>
          </a:prstGeom>
          <a:noFill/>
        </p:spPr>
        <p:txBody>
          <a:bodyPr wrap="none" lIns="0" rIns="0" tIns="0" bIns="0">
            <a:noAutofit/>
          </a:bodyPr>
          <a:lstStyle/>
          <a:p>
            <a:pPr algn="l">
              <a:lnSpc>
                <a:spcPts val="1547"/>
              </a:lnSpc>
              <a:spcBef>
                <a:spcPts val="0"/>
              </a:spcBef>
              <a:spcAft>
                <a:spcPts val="0"/>
              </a:spcAft>
              <a:defRPr sz="1300" b="1">
                <a:solidFill>
                  <a:srgbClr val="FFFFFF"/>
                </a:solidFill>
                <a:latin typeface="Noto Sans"/>
              </a:defRPr>
            </a:pPr>
            <a:r>
              <a:t>Fixed budget</a:t>
            </a:r>
          </a:p>
        </p:txBody>
      </p:sp>
      <p:sp>
        <p:nvSpPr>
          <p:cNvPr id="58" name="Rectangle 57"/>
          <p:cNvSpPr/>
          <p:nvPr/>
        </p:nvSpPr>
        <p:spPr>
          <a:xfrm>
            <a:off x="6953097" y="5925312"/>
            <a:ext cx="2008022" cy="438912"/>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081113" y="6053328"/>
            <a:ext cx="1751990" cy="256031"/>
          </a:xfrm>
          <a:prstGeom prst="rect">
            <a:avLst/>
          </a:prstGeom>
          <a:noFill/>
        </p:spPr>
        <p:txBody>
          <a:bodyPr wrap="none" lIns="0" rIns="0" tIns="0" bIns="0">
            <a:noAutofit/>
          </a:bodyPr>
          <a:lstStyle/>
          <a:p>
            <a:pPr algn="l">
              <a:lnSpc>
                <a:spcPts val="1547"/>
              </a:lnSpc>
              <a:spcBef>
                <a:spcPts val="0"/>
              </a:spcBef>
              <a:spcAft>
                <a:spcPts val="0"/>
              </a:spcAft>
              <a:defRPr sz="1300" b="1">
                <a:solidFill>
                  <a:srgbClr val="FFFFFF"/>
                </a:solidFill>
                <a:latin typeface="Noto Sans"/>
              </a:defRPr>
            </a:pPr>
            <a:r>
              <a:t>V2 cached</a:t>
            </a:r>
          </a:p>
        </p:txBody>
      </p:sp>
      <p:sp>
        <p:nvSpPr>
          <p:cNvPr id="60" name="Rectangle 59"/>
          <p:cNvSpPr/>
          <p:nvPr/>
        </p:nvSpPr>
        <p:spPr>
          <a:xfrm>
            <a:off x="594360" y="6364224"/>
            <a:ext cx="2510028"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2376" y="6492240"/>
            <a:ext cx="2253996" cy="256031"/>
          </a:xfrm>
          <a:prstGeom prst="rect">
            <a:avLst/>
          </a:prstGeom>
          <a:noFill/>
        </p:spPr>
        <p:txBody>
          <a:bodyPr wrap="none" lIns="0" rIns="0" tIns="0" bIns="0">
            <a:noAutofit/>
          </a:bodyPr>
          <a:lstStyle/>
          <a:p>
            <a:pPr algn="l">
              <a:lnSpc>
                <a:spcPts val="1547"/>
              </a:lnSpc>
              <a:spcBef>
                <a:spcPts val="0"/>
              </a:spcBef>
              <a:spcAft>
                <a:spcPts val="0"/>
              </a:spcAft>
              <a:defRPr sz="1300" b="0">
                <a:solidFill>
                  <a:srgbClr val="193447"/>
                </a:solidFill>
                <a:latin typeface="Noto Sans"/>
              </a:defRPr>
            </a:pPr>
            <a:r>
              <a:t>CPU</a:t>
            </a:r>
          </a:p>
        </p:txBody>
      </p:sp>
      <p:sp>
        <p:nvSpPr>
          <p:cNvPr id="62" name="Rectangle 61"/>
          <p:cNvSpPr/>
          <p:nvPr/>
        </p:nvSpPr>
        <p:spPr>
          <a:xfrm>
            <a:off x="3104388" y="6364224"/>
            <a:ext cx="1924354"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2404" y="6492240"/>
            <a:ext cx="1668322" cy="256031"/>
          </a:xfrm>
          <a:prstGeom prst="rect">
            <a:avLst/>
          </a:prstGeom>
          <a:noFill/>
        </p:spPr>
        <p:txBody>
          <a:bodyPr wrap="none" lIns="0" rIns="0" tIns="0" bIns="0">
            <a:noAutofit/>
          </a:bodyPr>
          <a:lstStyle/>
          <a:p>
            <a:pPr algn="l">
              <a:lnSpc>
                <a:spcPts val="1547"/>
              </a:lnSpc>
              <a:spcBef>
                <a:spcPts val="0"/>
              </a:spcBef>
              <a:spcAft>
                <a:spcPts val="0"/>
              </a:spcAft>
              <a:defRPr sz="1300" b="0">
                <a:solidFill>
                  <a:srgbClr val="193447"/>
                </a:solidFill>
                <a:latin typeface="Noto Sans"/>
              </a:defRPr>
            </a:pPr>
            <a:r>
              <a:t>10.420</a:t>
            </a:r>
          </a:p>
        </p:txBody>
      </p:sp>
      <p:sp>
        <p:nvSpPr>
          <p:cNvPr id="64" name="Rectangle 63"/>
          <p:cNvSpPr/>
          <p:nvPr/>
        </p:nvSpPr>
        <p:spPr>
          <a:xfrm>
            <a:off x="5028742" y="6364224"/>
            <a:ext cx="1924354"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156758" y="6492240"/>
            <a:ext cx="1668322" cy="256031"/>
          </a:xfrm>
          <a:prstGeom prst="rect">
            <a:avLst/>
          </a:prstGeom>
          <a:noFill/>
        </p:spPr>
        <p:txBody>
          <a:bodyPr wrap="none" lIns="0" rIns="0" tIns="0" bIns="0">
            <a:noAutofit/>
          </a:bodyPr>
          <a:lstStyle/>
          <a:p>
            <a:pPr algn="l">
              <a:lnSpc>
                <a:spcPts val="1547"/>
              </a:lnSpc>
              <a:spcBef>
                <a:spcPts val="0"/>
              </a:spcBef>
              <a:spcAft>
                <a:spcPts val="0"/>
              </a:spcAft>
              <a:defRPr sz="1300" b="0">
                <a:solidFill>
                  <a:srgbClr val="193447"/>
                </a:solidFill>
                <a:latin typeface="Noto Sans"/>
              </a:defRPr>
            </a:pPr>
            <a:r>
              <a:t>8.673</a:t>
            </a:r>
          </a:p>
        </p:txBody>
      </p:sp>
      <p:sp>
        <p:nvSpPr>
          <p:cNvPr id="66" name="Rectangle 65"/>
          <p:cNvSpPr/>
          <p:nvPr/>
        </p:nvSpPr>
        <p:spPr>
          <a:xfrm>
            <a:off x="6953097" y="6364224"/>
            <a:ext cx="200802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81113" y="6492240"/>
            <a:ext cx="1751990" cy="256031"/>
          </a:xfrm>
          <a:prstGeom prst="rect">
            <a:avLst/>
          </a:prstGeom>
          <a:noFill/>
        </p:spPr>
        <p:txBody>
          <a:bodyPr wrap="none" lIns="0" rIns="0" tIns="0" bIns="0">
            <a:noAutofit/>
          </a:bodyPr>
          <a:lstStyle/>
          <a:p>
            <a:pPr algn="l">
              <a:lnSpc>
                <a:spcPts val="1547"/>
              </a:lnSpc>
              <a:spcBef>
                <a:spcPts val="0"/>
              </a:spcBef>
              <a:spcAft>
                <a:spcPts val="0"/>
              </a:spcAft>
              <a:defRPr sz="1300" b="0">
                <a:solidFill>
                  <a:srgbClr val="193447"/>
                </a:solidFill>
                <a:latin typeface="Noto Sans"/>
              </a:defRPr>
            </a:pPr>
            <a:r>
              <a:t>10.429</a:t>
            </a:r>
          </a:p>
        </p:txBody>
      </p:sp>
      <p:sp>
        <p:nvSpPr>
          <p:cNvPr id="68" name="Rectangle 67"/>
          <p:cNvSpPr/>
          <p:nvPr/>
        </p:nvSpPr>
        <p:spPr>
          <a:xfrm>
            <a:off x="594360" y="6803136"/>
            <a:ext cx="2510028" cy="43891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22376" y="6931152"/>
            <a:ext cx="2253996" cy="256031"/>
          </a:xfrm>
          <a:prstGeom prst="rect">
            <a:avLst/>
          </a:prstGeom>
          <a:noFill/>
        </p:spPr>
        <p:txBody>
          <a:bodyPr wrap="none" lIns="0" rIns="0" tIns="0" bIns="0">
            <a:noAutofit/>
          </a:bodyPr>
          <a:lstStyle/>
          <a:p>
            <a:pPr algn="l">
              <a:lnSpc>
                <a:spcPts val="1547"/>
              </a:lnSpc>
              <a:spcBef>
                <a:spcPts val="0"/>
              </a:spcBef>
              <a:spcAft>
                <a:spcPts val="0"/>
              </a:spcAft>
              <a:defRPr sz="1300" b="0">
                <a:solidFill>
                  <a:srgbClr val="193447"/>
                </a:solidFill>
                <a:latin typeface="Noto Sans"/>
              </a:defRPr>
            </a:pPr>
            <a:r>
              <a:t>GTX 1650</a:t>
            </a:r>
          </a:p>
        </p:txBody>
      </p:sp>
      <p:sp>
        <p:nvSpPr>
          <p:cNvPr id="70" name="Rectangle 69"/>
          <p:cNvSpPr/>
          <p:nvPr/>
        </p:nvSpPr>
        <p:spPr>
          <a:xfrm>
            <a:off x="3104388" y="6803136"/>
            <a:ext cx="1924354" cy="43891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2404" y="6931152"/>
            <a:ext cx="1668322" cy="256031"/>
          </a:xfrm>
          <a:prstGeom prst="rect">
            <a:avLst/>
          </a:prstGeom>
          <a:noFill/>
        </p:spPr>
        <p:txBody>
          <a:bodyPr wrap="none" lIns="0" rIns="0" tIns="0" bIns="0">
            <a:noAutofit/>
          </a:bodyPr>
          <a:lstStyle/>
          <a:p>
            <a:pPr algn="l">
              <a:lnSpc>
                <a:spcPts val="1547"/>
              </a:lnSpc>
              <a:spcBef>
                <a:spcPts val="0"/>
              </a:spcBef>
              <a:spcAft>
                <a:spcPts val="0"/>
              </a:spcAft>
              <a:defRPr sz="1300" b="0">
                <a:solidFill>
                  <a:srgbClr val="193447"/>
                </a:solidFill>
                <a:latin typeface="Noto Sans"/>
              </a:defRPr>
            </a:pPr>
            <a:r>
              <a:t>9.018</a:t>
            </a:r>
          </a:p>
        </p:txBody>
      </p:sp>
      <p:sp>
        <p:nvSpPr>
          <p:cNvPr id="72" name="Rectangle 71"/>
          <p:cNvSpPr/>
          <p:nvPr/>
        </p:nvSpPr>
        <p:spPr>
          <a:xfrm>
            <a:off x="5028742" y="6803136"/>
            <a:ext cx="1924354" cy="43891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56758" y="6931152"/>
            <a:ext cx="1668322" cy="256031"/>
          </a:xfrm>
          <a:prstGeom prst="rect">
            <a:avLst/>
          </a:prstGeom>
          <a:noFill/>
        </p:spPr>
        <p:txBody>
          <a:bodyPr wrap="none" lIns="0" rIns="0" tIns="0" bIns="0">
            <a:noAutofit/>
          </a:bodyPr>
          <a:lstStyle/>
          <a:p>
            <a:pPr algn="l">
              <a:lnSpc>
                <a:spcPts val="1547"/>
              </a:lnSpc>
              <a:spcBef>
                <a:spcPts val="0"/>
              </a:spcBef>
              <a:spcAft>
                <a:spcPts val="0"/>
              </a:spcAft>
              <a:defRPr sz="1300" b="0">
                <a:solidFill>
                  <a:srgbClr val="193447"/>
                </a:solidFill>
                <a:latin typeface="Noto Sans"/>
              </a:defRPr>
            </a:pPr>
            <a:r>
              <a:t>7.863</a:t>
            </a:r>
          </a:p>
        </p:txBody>
      </p:sp>
      <p:sp>
        <p:nvSpPr>
          <p:cNvPr id="74" name="Rectangle 73"/>
          <p:cNvSpPr/>
          <p:nvPr/>
        </p:nvSpPr>
        <p:spPr>
          <a:xfrm>
            <a:off x="6953097" y="6803136"/>
            <a:ext cx="2008022" cy="438912"/>
          </a:xfrm>
          <a:prstGeom prst="rect">
            <a:avLst/>
          </a:prstGeom>
          <a:solidFill>
            <a:srgbClr val="EA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081113" y="6931152"/>
            <a:ext cx="1751990" cy="256031"/>
          </a:xfrm>
          <a:prstGeom prst="rect">
            <a:avLst/>
          </a:prstGeom>
          <a:noFill/>
        </p:spPr>
        <p:txBody>
          <a:bodyPr wrap="none" lIns="0" rIns="0" tIns="0" bIns="0">
            <a:noAutofit/>
          </a:bodyPr>
          <a:lstStyle/>
          <a:p>
            <a:pPr algn="l">
              <a:lnSpc>
                <a:spcPts val="1547"/>
              </a:lnSpc>
              <a:spcBef>
                <a:spcPts val="0"/>
              </a:spcBef>
              <a:spcAft>
                <a:spcPts val="0"/>
              </a:spcAft>
              <a:defRPr sz="1300" b="0">
                <a:solidFill>
                  <a:srgbClr val="193447"/>
                </a:solidFill>
                <a:latin typeface="Noto Sans"/>
              </a:defRPr>
            </a:pPr>
            <a:r>
              <a:t>8.765</a:t>
            </a:r>
          </a:p>
        </p:txBody>
      </p:sp>
      <p:sp>
        <p:nvSpPr>
          <p:cNvPr id="76" name="TextBox 75"/>
          <p:cNvSpPr txBox="1"/>
          <p:nvPr/>
        </p:nvSpPr>
        <p:spPr>
          <a:xfrm>
            <a:off x="9235440" y="5349240"/>
            <a:ext cx="4800600" cy="1783080"/>
          </a:xfrm>
          <a:prstGeom prst="rect">
            <a:avLst/>
          </a:prstGeom>
          <a:noFill/>
        </p:spPr>
        <p:txBody>
          <a:bodyPr wrap="none" lIns="0" rIns="0" tIns="0" bIns="0">
            <a:noAutofit/>
          </a:bodyPr>
          <a:lstStyle/>
          <a:p>
            <a:pPr algn="l">
              <a:lnSpc>
                <a:spcPts val="1904"/>
              </a:lnSpc>
              <a:spcBef>
                <a:spcPts val="0"/>
              </a:spcBef>
              <a:spcAft>
                <a:spcPts val="0"/>
              </a:spcAft>
              <a:defRPr sz="1600" b="1">
                <a:solidFill>
                  <a:srgbClr val="B35B15"/>
                </a:solidFill>
                <a:latin typeface="Noto Sans"/>
              </a:defRPr>
            </a:pPr>
            <a:r>
              <a:t>Risk caching reduced scheduler time by 13.43%</a:t>
            </a:r>
          </a:p>
          <a:p>
            <a:pPr algn="l">
              <a:lnSpc>
                <a:spcPts val="1904"/>
              </a:lnSpc>
              <a:spcBef>
                <a:spcPts val="0"/>
              </a:spcBef>
              <a:spcAft>
                <a:spcPts val="0"/>
              </a:spcAft>
              <a:defRPr sz="1600" b="1">
                <a:solidFill>
                  <a:srgbClr val="B35B15"/>
                </a:solidFill>
                <a:latin typeface="Noto Sans"/>
              </a:defRPr>
            </a:pPr>
            <a:r>
              <a:t>on CPU and 15.81% on GPU.</a:t>
            </a:r>
          </a:p>
          <a:p>
            <a:pPr algn="l">
              <a:lnSpc>
                <a:spcPts val="1904"/>
              </a:lnSpc>
              <a:spcBef>
                <a:spcPts val="0"/>
              </a:spcBef>
              <a:spcAft>
                <a:spcPts val="0"/>
              </a:spcAft>
              <a:defRPr sz="1600" b="1">
                <a:solidFill>
                  <a:srgbClr val="B35B15"/>
                </a:solidFill>
                <a:latin typeface="Noto Sans"/>
              </a:defRPr>
            </a:pPr>
            <a:r>
              <a:t>No robust end-to-end speedup was measured.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94360" y="292608"/>
            <a:ext cx="11887200" cy="228600"/>
          </a:xfrm>
          <a:prstGeom prst="rect">
            <a:avLst/>
          </a:prstGeom>
          <a:noFill/>
        </p:spPr>
        <p:txBody>
          <a:bodyPr wrap="none" lIns="0" rIns="0" tIns="0" bIns="0">
            <a:noAutofit/>
          </a:bodyPr>
          <a:lstStyle/>
          <a:p>
            <a:pPr algn="l">
              <a:lnSpc>
                <a:spcPts val="1189"/>
              </a:lnSpc>
              <a:spcBef>
                <a:spcPts val="0"/>
              </a:spcBef>
              <a:spcAft>
                <a:spcPts val="0"/>
              </a:spcAft>
              <a:defRPr sz="1000" b="1">
                <a:solidFill>
                  <a:srgbClr val="008C83"/>
                </a:solidFill>
                <a:latin typeface="Noto Sans"/>
              </a:defRPr>
            </a:pPr>
            <a:r>
              <a:t>AERODEPTH-LITE / DEEP LEARNING PROJECT</a:t>
            </a:r>
          </a:p>
        </p:txBody>
      </p:sp>
      <p:sp>
        <p:nvSpPr>
          <p:cNvPr id="3" name="TextBox 2"/>
          <p:cNvSpPr txBox="1"/>
          <p:nvPr/>
        </p:nvSpPr>
        <p:spPr>
          <a:xfrm>
            <a:off x="594360" y="777240"/>
            <a:ext cx="13441680" cy="621792"/>
          </a:xfrm>
          <a:prstGeom prst="rect">
            <a:avLst/>
          </a:prstGeom>
          <a:noFill/>
        </p:spPr>
        <p:txBody>
          <a:bodyPr wrap="none" lIns="0" rIns="0" tIns="0" bIns="0">
            <a:noAutofit/>
          </a:bodyPr>
          <a:lstStyle/>
          <a:p>
            <a:pPr algn="l">
              <a:lnSpc>
                <a:spcPts val="3569"/>
              </a:lnSpc>
              <a:spcBef>
                <a:spcPts val="0"/>
              </a:spcBef>
              <a:spcAft>
                <a:spcPts val="0"/>
              </a:spcAft>
              <a:defRPr sz="3000" b="1">
                <a:solidFill>
                  <a:srgbClr val="193447"/>
                </a:solidFill>
                <a:latin typeface="Noto Sans"/>
              </a:defRPr>
            </a:pPr>
            <a:r>
              <a:t>Limitations, future scope and conclusion</a:t>
            </a:r>
          </a:p>
        </p:txBody>
      </p:sp>
      <p:sp>
        <p:nvSpPr>
          <p:cNvPr id="4" name="TextBox 3"/>
          <p:cNvSpPr txBox="1"/>
          <p:nvPr/>
        </p:nvSpPr>
        <p:spPr>
          <a:xfrm>
            <a:off x="594360" y="1444752"/>
            <a:ext cx="13350240" cy="548640"/>
          </a:xfrm>
          <a:prstGeom prst="rect">
            <a:avLst/>
          </a:prstGeom>
          <a:noFill/>
        </p:spPr>
        <p:txBody>
          <a:bodyPr wrap="none" lIns="0" rIns="0" tIns="0" bIns="0">
            <a:noAutofit/>
          </a:bodyPr>
          <a:lstStyle/>
          <a:p>
            <a:pPr algn="l">
              <a:lnSpc>
                <a:spcPts val="1784"/>
              </a:lnSpc>
              <a:spcBef>
                <a:spcPts val="0"/>
              </a:spcBef>
              <a:spcAft>
                <a:spcPts val="0"/>
              </a:spcAft>
              <a:defRPr sz="1500" b="0">
                <a:solidFill>
                  <a:srgbClr val="526575"/>
                </a:solidFill>
                <a:latin typeface="Noto Sans"/>
              </a:defRPr>
            </a:pPr>
            <a:r>
              <a:t>Overall validation gains are useful only when the near-field and compute trade-offs stay visible.</a:t>
            </a:r>
          </a:p>
        </p:txBody>
      </p:sp>
      <p:sp>
        <p:nvSpPr>
          <p:cNvPr id="5" name="Rectangle 4"/>
          <p:cNvSpPr/>
          <p:nvPr/>
        </p:nvSpPr>
        <p:spPr>
          <a:xfrm>
            <a:off x="594360" y="7571231"/>
            <a:ext cx="13441680" cy="11887"/>
          </a:xfrm>
          <a:prstGeom prst="rect">
            <a:avLst/>
          </a:prstGeom>
          <a:solidFill>
            <a:srgbClr val="DCE5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7708392"/>
            <a:ext cx="12618720" cy="283464"/>
          </a:xfrm>
          <a:prstGeom prst="rect">
            <a:avLst/>
          </a:prstGeom>
          <a:noFill/>
        </p:spPr>
        <p:txBody>
          <a:bodyPr wrap="none" lIns="0" rIns="0" tIns="0" bIns="0">
            <a:noAutofit/>
          </a:bodyPr>
          <a:lstStyle/>
          <a:p>
            <a:pPr algn="l">
              <a:lnSpc>
                <a:spcPts val="1071"/>
              </a:lnSpc>
              <a:spcBef>
                <a:spcPts val="0"/>
              </a:spcBef>
              <a:spcAft>
                <a:spcPts val="0"/>
              </a:spcAft>
              <a:defRPr sz="900" b="0">
                <a:solidFill>
                  <a:srgbClr val="526575"/>
                </a:solidFill>
                <a:latin typeface="Noto Sans"/>
              </a:defRPr>
            </a:pPr>
            <a:r>
              <a:t>Source: docs/FINAL_REPORT.md · results/acquisition_publication_20261029T180214Z/REPORT.md</a:t>
            </a:r>
          </a:p>
        </p:txBody>
      </p:sp>
      <p:sp>
        <p:nvSpPr>
          <p:cNvPr id="7" name="TextBox 6"/>
          <p:cNvSpPr txBox="1"/>
          <p:nvPr/>
        </p:nvSpPr>
        <p:spPr>
          <a:xfrm>
            <a:off x="13258800" y="7662672"/>
            <a:ext cx="777240" cy="320040"/>
          </a:xfrm>
          <a:prstGeom prst="rect">
            <a:avLst/>
          </a:prstGeom>
          <a:noFill/>
        </p:spPr>
        <p:txBody>
          <a:bodyPr wrap="none" lIns="0" rIns="0" tIns="0" bIns="0">
            <a:noAutofit/>
          </a:bodyPr>
          <a:lstStyle/>
          <a:p>
            <a:pPr algn="r">
              <a:lnSpc>
                <a:spcPts val="1189"/>
              </a:lnSpc>
              <a:spcBef>
                <a:spcPts val="0"/>
              </a:spcBef>
              <a:spcAft>
                <a:spcPts val="0"/>
              </a:spcAft>
              <a:defRPr sz="1000" b="0">
                <a:solidFill>
                  <a:srgbClr val="526575"/>
                </a:solidFill>
                <a:latin typeface="Noto Sans"/>
              </a:defRPr>
            </a:pPr>
            <a:r>
              <a:t>13 / 13</a:t>
            </a:r>
          </a:p>
        </p:txBody>
      </p:sp>
      <p:sp>
        <p:nvSpPr>
          <p:cNvPr id="8" name="Rectangle 7"/>
          <p:cNvSpPr/>
          <p:nvPr/>
        </p:nvSpPr>
        <p:spPr>
          <a:xfrm>
            <a:off x="594360" y="2194560"/>
            <a:ext cx="6492240" cy="315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194560"/>
            <a:ext cx="50292" cy="3154680"/>
          </a:xfrm>
          <a:prstGeom prst="rect">
            <a:avLst/>
          </a:prstGeom>
          <a:solidFill>
            <a:srgbClr val="B35B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77440"/>
            <a:ext cx="6035040" cy="256032"/>
          </a:xfrm>
          <a:prstGeom prst="rect">
            <a:avLst/>
          </a:prstGeom>
          <a:noFill/>
        </p:spPr>
        <p:txBody>
          <a:bodyPr wrap="none" lIns="0" rIns="0" tIns="0" bIns="0">
            <a:noAutofit/>
          </a:bodyPr>
          <a:lstStyle/>
          <a:p>
            <a:pPr algn="l">
              <a:lnSpc>
                <a:spcPts val="1309"/>
              </a:lnSpc>
              <a:spcBef>
                <a:spcPts val="0"/>
              </a:spcBef>
              <a:spcAft>
                <a:spcPts val="0"/>
              </a:spcAft>
              <a:defRPr sz="1100" b="1">
                <a:solidFill>
                  <a:srgbClr val="B35B15"/>
                </a:solidFill>
                <a:latin typeface="Noto Sans"/>
              </a:defRPr>
            </a:pPr>
            <a:r>
              <a:t>CURRENT LIMITATIONS</a:t>
            </a:r>
          </a:p>
        </p:txBody>
      </p:sp>
      <p:sp>
        <p:nvSpPr>
          <p:cNvPr id="11" name="TextBox 10"/>
          <p:cNvSpPr txBox="1"/>
          <p:nvPr/>
        </p:nvSpPr>
        <p:spPr>
          <a:xfrm>
            <a:off x="822960" y="2816352"/>
            <a:ext cx="6035040" cy="777240"/>
          </a:xfrm>
          <a:prstGeom prst="rect">
            <a:avLst/>
          </a:prstGeom>
          <a:noFill/>
        </p:spPr>
        <p:txBody>
          <a:bodyPr wrap="none" lIns="0" rIns="0" tIns="0" bIns="0">
            <a:noAutofit/>
          </a:bodyPr>
          <a:lstStyle/>
          <a:p>
            <a:pPr algn="l">
              <a:lnSpc>
                <a:spcPts val="2618"/>
              </a:lnSpc>
              <a:spcBef>
                <a:spcPts val="0"/>
              </a:spcBef>
              <a:spcAft>
                <a:spcPts val="0"/>
              </a:spcAft>
              <a:defRPr sz="2200" b="1">
                <a:solidFill>
                  <a:srgbClr val="193447"/>
                </a:solidFill>
                <a:latin typeface="Noto Sans"/>
              </a:defRPr>
            </a:pPr>
            <a:r>
              <a:t>Evidence remains bounded</a:t>
            </a:r>
          </a:p>
        </p:txBody>
      </p:sp>
      <p:sp>
        <p:nvSpPr>
          <p:cNvPr id="12" name="TextBox 11"/>
          <p:cNvSpPr txBox="1"/>
          <p:nvPr/>
        </p:nvSpPr>
        <p:spPr>
          <a:xfrm>
            <a:off x="822960" y="3703320"/>
            <a:ext cx="6035040" cy="1508760"/>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Two familiar validation paths; correlated frames; synthetic</a:t>
            </a:r>
          </a:p>
          <a:p>
            <a:pPr algn="l">
              <a:lnSpc>
                <a:spcPts val="2023"/>
              </a:lnSpc>
              <a:spcBef>
                <a:spcPts val="0"/>
              </a:spcBef>
              <a:spcAft>
                <a:spcPts val="0"/>
              </a:spcAft>
              <a:defRPr sz="1700" b="0">
                <a:solidFill>
                  <a:srgbClr val="526575"/>
                </a:solidFill>
                <a:latin typeface="Noto Sans"/>
              </a:defRPr>
            </a:pPr>
            <a:r>
              <a:t>scenes; one seed; substantial depth error; near-field</a:t>
            </a:r>
          </a:p>
          <a:p>
            <a:pPr algn="l">
              <a:lnSpc>
                <a:spcPts val="2023"/>
              </a:lnSpc>
              <a:spcBef>
                <a:spcPts val="0"/>
              </a:spcBef>
              <a:spcAft>
                <a:spcPts val="0"/>
              </a:spcAft>
              <a:defRPr sz="1700" b="0">
                <a:solidFill>
                  <a:srgbClr val="526575"/>
                </a:solidFill>
                <a:latin typeface="Noto Sans"/>
              </a:defRPr>
            </a:pPr>
            <a:r>
              <a:t>regression.</a:t>
            </a:r>
          </a:p>
        </p:txBody>
      </p:sp>
      <p:sp>
        <p:nvSpPr>
          <p:cNvPr id="13" name="Rectangle 12"/>
          <p:cNvSpPr/>
          <p:nvPr/>
        </p:nvSpPr>
        <p:spPr>
          <a:xfrm>
            <a:off x="7360920" y="2194560"/>
            <a:ext cx="6675120" cy="315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60920" y="2194560"/>
            <a:ext cx="50292" cy="3154680"/>
          </a:xfrm>
          <a:prstGeom prst="rect">
            <a:avLst/>
          </a:prstGeom>
          <a:solidFill>
            <a:srgbClr val="008C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2377440"/>
            <a:ext cx="6217920" cy="256032"/>
          </a:xfrm>
          <a:prstGeom prst="rect">
            <a:avLst/>
          </a:prstGeom>
          <a:noFill/>
        </p:spPr>
        <p:txBody>
          <a:bodyPr wrap="none" lIns="0" rIns="0" tIns="0" bIns="0">
            <a:noAutofit/>
          </a:bodyPr>
          <a:lstStyle/>
          <a:p>
            <a:pPr algn="l">
              <a:lnSpc>
                <a:spcPts val="1309"/>
              </a:lnSpc>
              <a:spcBef>
                <a:spcPts val="0"/>
              </a:spcBef>
              <a:spcAft>
                <a:spcPts val="0"/>
              </a:spcAft>
              <a:defRPr sz="1100" b="1">
                <a:solidFill>
                  <a:srgbClr val="008C83"/>
                </a:solidFill>
                <a:latin typeface="Noto Sans"/>
              </a:defRPr>
            </a:pPr>
            <a:r>
              <a:t>FUTURE SCOPE</a:t>
            </a:r>
          </a:p>
        </p:txBody>
      </p:sp>
      <p:sp>
        <p:nvSpPr>
          <p:cNvPr id="16" name="TextBox 15"/>
          <p:cNvSpPr txBox="1"/>
          <p:nvPr/>
        </p:nvSpPr>
        <p:spPr>
          <a:xfrm>
            <a:off x="7589520" y="2816352"/>
            <a:ext cx="6217920" cy="777240"/>
          </a:xfrm>
          <a:prstGeom prst="rect">
            <a:avLst/>
          </a:prstGeom>
          <a:noFill/>
        </p:spPr>
        <p:txBody>
          <a:bodyPr wrap="none" lIns="0" rIns="0" tIns="0" bIns="0">
            <a:noAutofit/>
          </a:bodyPr>
          <a:lstStyle/>
          <a:p>
            <a:pPr algn="l">
              <a:lnSpc>
                <a:spcPts val="2618"/>
              </a:lnSpc>
              <a:spcBef>
                <a:spcPts val="0"/>
              </a:spcBef>
              <a:spcAft>
                <a:spcPts val="0"/>
              </a:spcAft>
              <a:defRPr sz="2200" b="1">
                <a:solidFill>
                  <a:srgbClr val="193447"/>
                </a:solidFill>
                <a:latin typeface="Noto Sans"/>
              </a:defRPr>
            </a:pPr>
            <a:r>
              <a:t>Complete independent evaluation</a:t>
            </a:r>
          </a:p>
        </p:txBody>
      </p:sp>
      <p:sp>
        <p:nvSpPr>
          <p:cNvPr id="17" name="TextBox 16"/>
          <p:cNvSpPr txBox="1"/>
          <p:nvPr/>
        </p:nvSpPr>
        <p:spPr>
          <a:xfrm>
            <a:off x="7589520" y="3703320"/>
            <a:ext cx="6217920" cy="1508760"/>
          </a:xfrm>
          <a:prstGeom prst="rect">
            <a:avLst/>
          </a:prstGeom>
          <a:noFill/>
        </p:spPr>
        <p:txBody>
          <a:bodyPr wrap="none" lIns="0" rIns="0" tIns="0" bIns="0">
            <a:noAutofit/>
          </a:bodyPr>
          <a:lstStyle/>
          <a:p>
            <a:pPr algn="l">
              <a:lnSpc>
                <a:spcPts val="2023"/>
              </a:lnSpc>
              <a:spcBef>
                <a:spcPts val="0"/>
              </a:spcBef>
              <a:spcAft>
                <a:spcPts val="0"/>
              </a:spcAft>
              <a:defRPr sz="1700" b="0">
                <a:solidFill>
                  <a:srgbClr val="526575"/>
                </a:solidFill>
                <a:latin typeface="Noto Sans"/>
              </a:defRPr>
            </a:pPr>
            <a:r>
              <a:t>Acquire the 8 missing reserved streams, freeze the test</a:t>
            </a:r>
          </a:p>
          <a:p>
            <a:pPr algn="l">
              <a:lnSpc>
                <a:spcPts val="2023"/>
              </a:lnSpc>
              <a:spcBef>
                <a:spcPts val="0"/>
              </a:spcBef>
              <a:spcAft>
                <a:spcPts val="0"/>
              </a:spcAft>
              <a:defRPr sz="1700" b="0">
                <a:solidFill>
                  <a:srgbClr val="526575"/>
                </a:solidFill>
                <a:latin typeface="Noto Sans"/>
              </a:defRPr>
            </a:pPr>
            <a:r>
              <a:t>protocol, evaluate new paths, then study near-field losses</a:t>
            </a:r>
          </a:p>
          <a:p>
            <a:pPr algn="l">
              <a:lnSpc>
                <a:spcPts val="2023"/>
              </a:lnSpc>
              <a:spcBef>
                <a:spcPts val="0"/>
              </a:spcBef>
              <a:spcAft>
                <a:spcPts val="0"/>
              </a:spcAft>
              <a:defRPr sz="1700" b="0">
                <a:solidFill>
                  <a:srgbClr val="526575"/>
                </a:solidFill>
                <a:latin typeface="Noto Sans"/>
              </a:defRPr>
            </a:pPr>
            <a:r>
              <a:t>and real-flight transfer.</a:t>
            </a:r>
          </a:p>
        </p:txBody>
      </p:sp>
      <p:sp>
        <p:nvSpPr>
          <p:cNvPr id="18" name="Rectangle 17"/>
          <p:cNvSpPr/>
          <p:nvPr/>
        </p:nvSpPr>
        <p:spPr>
          <a:xfrm>
            <a:off x="594360" y="5669280"/>
            <a:ext cx="13441680" cy="1572768"/>
          </a:xfrm>
          <a:prstGeom prst="rect">
            <a:avLst/>
          </a:prstGeom>
          <a:solidFill>
            <a:srgbClr val="10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870448"/>
            <a:ext cx="12893040" cy="347472"/>
          </a:xfrm>
          <a:prstGeom prst="rect">
            <a:avLst/>
          </a:prstGeom>
          <a:noFill/>
        </p:spPr>
        <p:txBody>
          <a:bodyPr wrap="none" lIns="0" rIns="0" tIns="0" bIns="0">
            <a:noAutofit/>
          </a:bodyPr>
          <a:lstStyle/>
          <a:p>
            <a:pPr algn="l">
              <a:lnSpc>
                <a:spcPts val="1547"/>
              </a:lnSpc>
              <a:spcBef>
                <a:spcPts val="0"/>
              </a:spcBef>
              <a:spcAft>
                <a:spcPts val="0"/>
              </a:spcAft>
              <a:defRPr sz="1300" b="1">
                <a:solidFill>
                  <a:srgbClr val="76DAC9"/>
                </a:solidFill>
                <a:latin typeface="Noto Sans"/>
              </a:defRPr>
            </a:pPr>
            <a:r>
              <a:t>CONCLUSION</a:t>
            </a:r>
          </a:p>
        </p:txBody>
      </p:sp>
      <p:sp>
        <p:nvSpPr>
          <p:cNvPr id="20" name="TextBox 19"/>
          <p:cNvSpPr txBox="1"/>
          <p:nvPr/>
        </p:nvSpPr>
        <p:spPr>
          <a:xfrm>
            <a:off x="868680" y="6345936"/>
            <a:ext cx="12801600" cy="685800"/>
          </a:xfrm>
          <a:prstGeom prst="rect">
            <a:avLst/>
          </a:prstGeom>
          <a:noFill/>
        </p:spPr>
        <p:txBody>
          <a:bodyPr wrap="none" lIns="0" rIns="0" tIns="0" bIns="0">
            <a:noAutofit/>
          </a:bodyPr>
          <a:lstStyle/>
          <a:p>
            <a:pPr algn="l">
              <a:lnSpc>
                <a:spcPts val="2379"/>
              </a:lnSpc>
              <a:spcBef>
                <a:spcPts val="0"/>
              </a:spcBef>
              <a:spcAft>
                <a:spcPts val="0"/>
              </a:spcAft>
              <a:defRPr sz="2000" b="1">
                <a:solidFill>
                  <a:srgbClr val="FFFFFF"/>
                </a:solidFill>
                <a:latin typeface="Noto Sans"/>
              </a:defRPr>
            </a:pPr>
            <a:r>
              <a:t>Supervised A improves overall range prediction, while near-field error worsens.</a:t>
            </a:r>
          </a:p>
          <a:p>
            <a:pPr algn="l">
              <a:lnSpc>
                <a:spcPts val="2379"/>
              </a:lnSpc>
              <a:spcBef>
                <a:spcPts val="0"/>
              </a:spcBef>
              <a:spcAft>
                <a:spcPts val="0"/>
              </a:spcAft>
              <a:defRPr sz="2000" b="1">
                <a:solidFill>
                  <a:srgbClr val="FFFFFF"/>
                </a:solidFill>
                <a:latin typeface="Noto Sans"/>
              </a:defRPr>
            </a:pPr>
            <a:r>
              <a:t>Exploratory KD underperforms A; adaptive scheduling offers a mixed quality / cost trade-off.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AeroDepth-Lite | Project Presentation</dc:title>
  <dc:subject>Monocular UAV range prediction and causal inference scheduling</dc:subject>
  <dc:creator>AeroDepth-Lite Project Team</dc:creator>
  <cp:keywords>MidAir, MobileNetV3, depth regression, scheduling, validation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